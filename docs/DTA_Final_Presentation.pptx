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2.png" ContentType="image/png"/>
  <Override PartName="/ppt/media/image3.png" ContentType="image/png"/>
  <Override PartName="/ppt/media/image8.png" ContentType="image/png"/>
  <Override PartName="/ppt/media/image17.png" ContentType="image/png"/>
  <Override PartName="/ppt/media/image21.png" ContentType="image/png"/>
  <Override PartName="/ppt/media/image19.png" ContentType="image/png"/>
  <Override PartName="/ppt/media/image11.png" ContentType="image/png"/>
  <Override PartName="/ppt/media/image2.png" ContentType="image/png"/>
  <Override PartName="/ppt/media/image20.jpeg" ContentType="image/jpeg"/>
  <Override PartName="/ppt/media/image18.jpeg" ContentType="image/jpeg"/>
  <Override PartName="/ppt/media/image16.jpeg" ContentType="image/jpeg"/>
  <Override PartName="/ppt/media/image15.jpeg" ContentType="image/jpeg"/>
  <Override PartName="/ppt/media/image5.png" ContentType="image/png"/>
  <Override PartName="/ppt/media/image14.png" ContentType="image/png"/>
  <Override PartName="/ppt/media/image6.png" ContentType="image/png"/>
  <Override PartName="/ppt/media/image1.png" ContentType="image/png"/>
  <Override PartName="/ppt/media/image10.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Slide0">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Slide0">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2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 name="PlaceHolder 2"/>
          <p:cNvSpPr>
            <a:spLocks noGrp="1"/>
          </p:cNvSpPr>
          <p:nvPr>
            <p:ph type="subTitle"/>
          </p:nvPr>
        </p:nvSpPr>
        <p:spPr>
          <a:xfrm>
            <a:off x="457200" y="1203480"/>
            <a:ext cx="8229240" cy="298260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2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a:t>
            </a:r>
            <a:r>
              <a:rPr b="0" lang="en-US" sz="4400" strike="noStrike" u="none">
                <a:solidFill>
                  <a:srgbClr val="000000"/>
                </a:solidFill>
                <a:effectLst/>
                <a:uFillTx/>
                <a:latin typeface="Arial"/>
              </a:rPr>
              <a:t>the 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457200" y="1203480"/>
            <a:ext cx="822924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9.png"/><Relationship Id="rId3" Type="http://schemas.openxmlformats.org/officeDocument/2006/relationships/image" Target="../media/image9.png"/><Relationship Id="rId4" Type="http://schemas.openxmlformats.org/officeDocument/2006/relationships/image" Target="../media/image9.png"/><Relationship Id="rId5" Type="http://schemas.openxmlformats.org/officeDocument/2006/relationships/image" Target="../media/image9.png"/><Relationship Id="rId6"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
          <p:cNvSpPr/>
          <p:nvPr/>
        </p:nvSpPr>
        <p:spPr>
          <a:xfrm>
            <a:off x="7772400" y="0"/>
            <a:ext cx="1371960" cy="55080"/>
          </a:xfrm>
          <a:custGeom>
            <a:avLst/>
            <a:gdLst/>
            <a:ahLst/>
            <a:rect l="0" t="0" r="r" b="b"/>
            <a:pathLst>
              <a:path w="3811" h="153">
                <a:moveTo>
                  <a:pt x="0" y="0"/>
                </a:moveTo>
                <a:lnTo>
                  <a:pt x="3811" y="0"/>
                </a:lnTo>
                <a:lnTo>
                  <a:pt x="3811" y="153"/>
                </a:lnTo>
                <a:lnTo>
                  <a:pt x="0" y="153"/>
                </a:lnTo>
                <a:lnTo>
                  <a:pt x="0" y="0"/>
                </a:lnTo>
                <a:close/>
              </a:path>
            </a:pathLst>
          </a:custGeom>
          <a:solidFill>
            <a:srgbClr val="00bcd4"/>
          </a:solidFill>
          <a:ln w="0">
            <a:noFill/>
          </a:ln>
        </p:spPr>
        <p:txBody>
          <a:bodyPr lIns="90000" rIns="90000" tIns="10080" bIns="10080" anchor="t">
            <a:noAutofit/>
          </a:bodyPr>
          <a:p>
            <a:endParaRPr b="0" lang="en-US" sz="1800" strike="noStrike" u="none">
              <a:solidFill>
                <a:srgbClr val="000000"/>
              </a:solidFill>
              <a:effectLst/>
              <a:uFillTx/>
              <a:latin typeface="Arial"/>
            </a:endParaRPr>
          </a:p>
        </p:txBody>
      </p:sp>
      <p:pic>
        <p:nvPicPr>
          <p:cNvPr id="5" name="" descr=""/>
          <p:cNvPicPr/>
          <p:nvPr/>
        </p:nvPicPr>
        <p:blipFill>
          <a:blip r:embed="rId1"/>
          <a:stretch/>
        </p:blipFill>
        <p:spPr>
          <a:xfrm>
            <a:off x="182880" y="457200"/>
            <a:ext cx="365760" cy="365760"/>
          </a:xfrm>
          <a:prstGeom prst="rect">
            <a:avLst/>
          </a:prstGeom>
          <a:noFill/>
          <a:ln w="0">
            <a:noFill/>
          </a:ln>
        </p:spPr>
      </p:pic>
      <p:pic>
        <p:nvPicPr>
          <p:cNvPr id="6" name="" descr=""/>
          <p:cNvPicPr/>
          <p:nvPr/>
        </p:nvPicPr>
        <p:blipFill>
          <a:blip r:embed="rId2"/>
          <a:stretch/>
        </p:blipFill>
        <p:spPr>
          <a:xfrm>
            <a:off x="182880" y="1097280"/>
            <a:ext cx="365760" cy="365760"/>
          </a:xfrm>
          <a:prstGeom prst="rect">
            <a:avLst/>
          </a:prstGeom>
          <a:noFill/>
          <a:ln w="0">
            <a:noFill/>
          </a:ln>
        </p:spPr>
      </p:pic>
      <p:pic>
        <p:nvPicPr>
          <p:cNvPr id="7" name="" descr=""/>
          <p:cNvPicPr/>
          <p:nvPr/>
        </p:nvPicPr>
        <p:blipFill>
          <a:blip r:embed="rId3"/>
          <a:stretch/>
        </p:blipFill>
        <p:spPr>
          <a:xfrm>
            <a:off x="182880" y="1737360"/>
            <a:ext cx="365760" cy="365760"/>
          </a:xfrm>
          <a:prstGeom prst="rect">
            <a:avLst/>
          </a:prstGeom>
          <a:noFill/>
          <a:ln w="0">
            <a:noFill/>
          </a:ln>
        </p:spPr>
      </p:pic>
      <p:pic>
        <p:nvPicPr>
          <p:cNvPr id="8" name="" descr=""/>
          <p:cNvPicPr/>
          <p:nvPr/>
        </p:nvPicPr>
        <p:blipFill>
          <a:blip r:embed="rId4"/>
          <a:stretch/>
        </p:blipFill>
        <p:spPr>
          <a:xfrm>
            <a:off x="182880" y="2377440"/>
            <a:ext cx="365760" cy="365760"/>
          </a:xfrm>
          <a:prstGeom prst="rect">
            <a:avLst/>
          </a:prstGeom>
          <a:noFill/>
          <a:ln w="0">
            <a:noFill/>
          </a:ln>
        </p:spPr>
      </p:pic>
      <p:pic>
        <p:nvPicPr>
          <p:cNvPr id="9" name="" descr=""/>
          <p:cNvPicPr/>
          <p:nvPr/>
        </p:nvPicPr>
        <p:blipFill>
          <a:blip r:embed="rId5"/>
          <a:stretch/>
        </p:blipFill>
        <p:spPr>
          <a:xfrm>
            <a:off x="182880" y="457200"/>
            <a:ext cx="365760" cy="365760"/>
          </a:xfrm>
          <a:prstGeom prst="rect">
            <a:avLst/>
          </a:prstGeom>
          <a:noFill/>
          <a:ln w="0">
            <a:noFill/>
          </a:ln>
        </p:spPr>
      </p:pic>
      <p:pic>
        <p:nvPicPr>
          <p:cNvPr id="10" name="" descr=""/>
          <p:cNvPicPr/>
          <p:nvPr/>
        </p:nvPicPr>
        <p:blipFill>
          <a:blip r:embed="rId6"/>
          <a:stretch/>
        </p:blipFill>
        <p:spPr>
          <a:xfrm>
            <a:off x="182880" y="1097280"/>
            <a:ext cx="365760" cy="365760"/>
          </a:xfrm>
          <a:prstGeom prst="rect">
            <a:avLst/>
          </a:prstGeom>
          <a:noFill/>
          <a:ln w="0">
            <a:noFill/>
          </a:ln>
        </p:spPr>
      </p:pic>
      <p:pic>
        <p:nvPicPr>
          <p:cNvPr id="11" name="" descr=""/>
          <p:cNvPicPr/>
          <p:nvPr/>
        </p:nvPicPr>
        <p:blipFill>
          <a:blip r:embed="rId7"/>
          <a:stretch/>
        </p:blipFill>
        <p:spPr>
          <a:xfrm>
            <a:off x="182880" y="1737360"/>
            <a:ext cx="365760" cy="365760"/>
          </a:xfrm>
          <a:prstGeom prst="rect">
            <a:avLst/>
          </a:prstGeom>
          <a:noFill/>
          <a:ln w="0">
            <a:noFill/>
          </a:ln>
        </p:spPr>
      </p:pic>
      <p:pic>
        <p:nvPicPr>
          <p:cNvPr id="12" name="" descr=""/>
          <p:cNvPicPr/>
          <p:nvPr/>
        </p:nvPicPr>
        <p:blipFill>
          <a:blip r:embed="rId8"/>
          <a:stretch/>
        </p:blipFill>
        <p:spPr>
          <a:xfrm>
            <a:off x="182880" y="2377440"/>
            <a:ext cx="365760" cy="365760"/>
          </a:xfrm>
          <a:prstGeom prst="rect">
            <a:avLst/>
          </a:prstGeom>
          <a:noFill/>
          <a:ln w="0">
            <a:noFill/>
          </a:ln>
        </p:spPr>
      </p:pic>
      <p:sp>
        <p:nvSpPr>
          <p:cNvPr id="13" name=""/>
          <p:cNvSpPr txBox="1"/>
          <p:nvPr/>
        </p:nvSpPr>
        <p:spPr>
          <a:xfrm>
            <a:off x="822960" y="822960"/>
            <a:ext cx="7315200" cy="782280"/>
          </a:xfrm>
          <a:prstGeom prst="rect">
            <a:avLst/>
          </a:prstGeom>
          <a:noFill/>
          <a:ln w="0">
            <a:noFill/>
          </a:ln>
        </p:spPr>
        <p:txBody>
          <a:bodyPr lIns="90000" rIns="90000" tIns="45000" bIns="45000" anchor="t">
            <a:spAutoFit/>
          </a:bodyPr>
          <a:p>
            <a:pPr algn="ctr"/>
            <a:r>
              <a:rPr b="1" lang="en-US" sz="4000" strike="noStrike" u="none">
                <a:solidFill>
                  <a:srgbClr val="000000"/>
                </a:solidFill>
                <a:effectLst/>
                <a:uFillTx/>
                <a:latin typeface="Arial-BoldMT"/>
                <a:ea typeface="Arial-BoldMT"/>
              </a:rPr>
              <a:t>Drug-</a:t>
            </a:r>
            <a:r>
              <a:rPr b="1" lang="en-US" sz="4000" strike="noStrike" u="none">
                <a:solidFill>
                  <a:srgbClr val="000000"/>
                </a:solidFill>
                <a:effectLst/>
                <a:uFillTx/>
                <a:latin typeface="Arial-BoldMT"/>
                <a:ea typeface="Arial-BoldMT"/>
              </a:rPr>
              <a:t>Target </a:t>
            </a:r>
            <a:r>
              <a:rPr b="1" lang="en-US" sz="4000" strike="noStrike" u="none">
                <a:solidFill>
                  <a:srgbClr val="000000"/>
                </a:solidFill>
                <a:effectLst/>
                <a:uFillTx/>
                <a:latin typeface="Arial-BoldMT"/>
                <a:ea typeface="Arial-BoldMT"/>
              </a:rPr>
              <a:t>Affinit</a:t>
            </a:r>
            <a:r>
              <a:rPr b="1" lang="en-US" sz="4000" strike="noStrike" u="none">
                <a:solidFill>
                  <a:srgbClr val="000000"/>
                </a:solidFill>
                <a:effectLst/>
                <a:uFillTx/>
                <a:latin typeface="Arial-BoldMT"/>
                <a:ea typeface="Arial-BoldMT"/>
              </a:rPr>
              <a:t>y</a:t>
            </a:r>
            <a:endParaRPr b="0" lang="en-US" sz="4000" strike="noStrike" u="none">
              <a:solidFill>
                <a:srgbClr val="000000"/>
              </a:solidFill>
              <a:effectLst/>
              <a:uFillTx/>
              <a:latin typeface="Arial"/>
            </a:endParaRPr>
          </a:p>
        </p:txBody>
      </p:sp>
      <p:sp>
        <p:nvSpPr>
          <p:cNvPr id="14" name=""/>
          <p:cNvSpPr txBox="1"/>
          <p:nvPr/>
        </p:nvSpPr>
        <p:spPr>
          <a:xfrm>
            <a:off x="822960" y="1463040"/>
            <a:ext cx="7315200" cy="713880"/>
          </a:xfrm>
          <a:prstGeom prst="rect">
            <a:avLst/>
          </a:prstGeom>
          <a:noFill/>
          <a:ln w="0">
            <a:noFill/>
          </a:ln>
        </p:spPr>
        <p:txBody>
          <a:bodyPr lIns="90000" rIns="90000" tIns="45000" bIns="45000" anchor="t">
            <a:spAutoFit/>
          </a:bodyPr>
          <a:p>
            <a:pPr algn="ctr"/>
            <a:r>
              <a:rPr b="1" lang="en-US" sz="3600" strike="noStrike" u="none">
                <a:solidFill>
                  <a:srgbClr val="4371c4"/>
                </a:solidFill>
                <a:effectLst/>
                <a:uFillTx/>
                <a:latin typeface="Arial-BoldMT"/>
                <a:ea typeface="Arial-BoldMT"/>
              </a:rPr>
              <a:t>Predic</a:t>
            </a:r>
            <a:r>
              <a:rPr b="1" lang="en-US" sz="3600" strike="noStrike" u="none">
                <a:solidFill>
                  <a:srgbClr val="4371c4"/>
                </a:solidFill>
                <a:effectLst/>
                <a:uFillTx/>
                <a:latin typeface="Arial-BoldMT"/>
                <a:ea typeface="Arial-BoldMT"/>
              </a:rPr>
              <a:t>tion</a:t>
            </a:r>
            <a:endParaRPr b="0" lang="en-US" sz="3600" strike="noStrike" u="none">
              <a:solidFill>
                <a:srgbClr val="000000"/>
              </a:solidFill>
              <a:effectLst/>
              <a:uFillTx/>
              <a:latin typeface="Arial"/>
            </a:endParaRPr>
          </a:p>
        </p:txBody>
      </p:sp>
      <p:sp>
        <p:nvSpPr>
          <p:cNvPr id="15" name=""/>
          <p:cNvSpPr txBox="1"/>
          <p:nvPr/>
        </p:nvSpPr>
        <p:spPr>
          <a:xfrm>
            <a:off x="2194560" y="2383920"/>
            <a:ext cx="4572000" cy="538200"/>
          </a:xfrm>
          <a:prstGeom prst="rect">
            <a:avLst/>
          </a:prstGeom>
          <a:noFill/>
          <a:ln w="0">
            <a:noFill/>
          </a:ln>
        </p:spPr>
        <p:txBody>
          <a:bodyPr lIns="90000" rIns="90000" tIns="45000" bIns="45000" anchor="t">
            <a:spAutoFit/>
          </a:bodyPr>
          <a:p>
            <a:pPr algn="ctr"/>
            <a:r>
              <a:rPr b="1" i="1" lang="en-US" sz="1300" strike="noStrike" u="none">
                <a:solidFill>
                  <a:srgbClr val="000000"/>
                </a:solidFill>
                <a:effectLst/>
                <a:uFillTx/>
                <a:latin typeface="Arial-BoldItalicMT"/>
                <a:ea typeface="Arial-BoldItalicMT"/>
              </a:rPr>
              <a:t>Team: Perceptron</a:t>
            </a:r>
            <a:endParaRPr b="0" lang="en-US" sz="1300" strike="noStrike" u="none">
              <a:solidFill>
                <a:srgbClr val="000000"/>
              </a:solidFill>
              <a:effectLst/>
              <a:uFillTx/>
              <a:latin typeface="Arial"/>
            </a:endParaRPr>
          </a:p>
          <a:p>
            <a:pPr algn="ctr"/>
            <a:r>
              <a:rPr b="0" i="1" lang="en-US" sz="1300" strike="noStrike" u="none">
                <a:solidFill>
                  <a:srgbClr val="000000"/>
                </a:solidFill>
                <a:effectLst/>
                <a:uFillTx/>
                <a:latin typeface="Arial-ItalicMT"/>
                <a:ea typeface="Arial-ItalicMT"/>
              </a:rPr>
              <a:t>2105022  ·  2105023  · </a:t>
            </a:r>
            <a:r>
              <a:rPr b="0" i="1" lang="en-US" sz="1300" strike="noStrike" u="none">
                <a:solidFill>
                  <a:srgbClr val="000000"/>
                </a:solidFill>
                <a:effectLst/>
                <a:uFillTx/>
                <a:latin typeface="Arial-ItalicMT"/>
                <a:ea typeface="Arial-ItalicMT"/>
              </a:rPr>
              <a:t> 2105024</a:t>
            </a:r>
            <a:endParaRPr b="0" lang="en-US" sz="1300" strike="noStrike" u="none">
              <a:solidFill>
                <a:srgbClr val="000000"/>
              </a:solidFill>
              <a:effectLst/>
              <a:uFillTx/>
              <a:latin typeface="Arial"/>
            </a:endParaRPr>
          </a:p>
        </p:txBody>
      </p:sp>
      <p:sp>
        <p:nvSpPr>
          <p:cNvPr id="16" name=""/>
          <p:cNvSpPr/>
          <p:nvPr/>
        </p:nvSpPr>
        <p:spPr>
          <a:xfrm>
            <a:off x="0" y="4800600"/>
            <a:ext cx="9144360" cy="347760"/>
          </a:xfrm>
          <a:custGeom>
            <a:avLst/>
            <a:gdLst/>
            <a:ahLst/>
            <a:rect l="0" t="0" r="r" b="b"/>
            <a:pathLst>
              <a:path w="25401" h="966">
                <a:moveTo>
                  <a:pt x="0" y="0"/>
                </a:moveTo>
                <a:lnTo>
                  <a:pt x="25401" y="0"/>
                </a:lnTo>
                <a:lnTo>
                  <a:pt x="25401" y="966"/>
                </a:lnTo>
                <a:lnTo>
                  <a:pt x="0" y="966"/>
                </a:lnTo>
                <a:lnTo>
                  <a:pt x="0" y="0"/>
                </a:lnTo>
                <a:close/>
              </a:path>
            </a:pathLst>
          </a:custGeom>
          <a:solidFill>
            <a:srgbClr val="0c1016"/>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17" name=""/>
          <p:cNvSpPr txBox="1"/>
          <p:nvPr/>
        </p:nvSpPr>
        <p:spPr>
          <a:xfrm>
            <a:off x="2109240" y="4860720"/>
            <a:ext cx="7955280" cy="262800"/>
          </a:xfrm>
          <a:prstGeom prst="rect">
            <a:avLst/>
          </a:prstGeom>
          <a:noFill/>
          <a:ln w="0">
            <a:noFill/>
          </a:ln>
        </p:spPr>
        <p:txBody>
          <a:bodyPr lIns="90000" rIns="90000" tIns="45000" bIns="45000" anchor="t">
            <a:spAutoFit/>
          </a:bodyPr>
          <a:p>
            <a:r>
              <a:rPr b="0" lang="en-US" sz="1000" strike="noStrike" u="none">
                <a:solidFill>
                  <a:srgbClr val="ffffff"/>
                </a:solidFill>
                <a:effectLst/>
                <a:uFillTx/>
                <a:latin typeface="ArialMT"/>
                <a:ea typeface="ArialMT"/>
              </a:rPr>
              <a:t>X-CLR Pretraining  ·  Graph Transformers  ·  MDGTDTInet  ·  Cold-Start  ·  Davis</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18"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Presentation Outline</a:t>
            </a:r>
            <a:endParaRPr b="0" lang="en-US" sz="2800" strike="noStrike" u="none">
              <a:solidFill>
                <a:srgbClr val="000000"/>
              </a:solidFill>
              <a:effectLst/>
              <a:uFillTx/>
              <a:latin typeface="Arial"/>
            </a:endParaRPr>
          </a:p>
        </p:txBody>
      </p:sp>
      <p:sp>
        <p:nvSpPr>
          <p:cNvPr id="19"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0" name=""/>
          <p:cNvSpPr/>
          <p:nvPr/>
        </p:nvSpPr>
        <p:spPr>
          <a:xfrm>
            <a:off x="548640" y="121608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1" name=""/>
          <p:cNvSpPr txBox="1"/>
          <p:nvPr/>
        </p:nvSpPr>
        <p:spPr>
          <a:xfrm>
            <a:off x="594360" y="121608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1</a:t>
            </a:r>
            <a:endParaRPr b="0" lang="en-US" sz="1200" strike="noStrike" u="none">
              <a:solidFill>
                <a:srgbClr val="000000"/>
              </a:solidFill>
              <a:effectLst/>
              <a:uFillTx/>
              <a:latin typeface="Arial"/>
            </a:endParaRPr>
          </a:p>
        </p:txBody>
      </p:sp>
      <p:sp>
        <p:nvSpPr>
          <p:cNvPr id="22" name=""/>
          <p:cNvSpPr txBox="1"/>
          <p:nvPr/>
        </p:nvSpPr>
        <p:spPr>
          <a:xfrm>
            <a:off x="1005840" y="1188720"/>
            <a:ext cx="4572000" cy="332640"/>
          </a:xfrm>
          <a:prstGeom prst="rect">
            <a:avLst/>
          </a:prstGeom>
          <a:noFill/>
          <a:ln w="0">
            <a:noFill/>
          </a:ln>
        </p:spPr>
        <p:txBody>
          <a:bodyPr lIns="90000" rIns="90000" tIns="45000" bIns="45000" anchor="t">
            <a:spAutoFit/>
          </a:bodyPr>
          <a:p>
            <a:r>
              <a:rPr b="1" lang="en-US" sz="1400" strike="noStrike" u="none">
                <a:solidFill>
                  <a:srgbClr val="0097a7"/>
                </a:solidFill>
                <a:effectLst/>
                <a:uFillTx/>
                <a:latin typeface="Arial-BoldMT"/>
                <a:ea typeface="Arial-BoldMT"/>
              </a:rPr>
              <a:t>Introduction &amp; Background</a:t>
            </a:r>
            <a:endParaRPr b="0" lang="en-US" sz="1400" strike="noStrike" u="none">
              <a:solidFill>
                <a:srgbClr val="000000"/>
              </a:solidFill>
              <a:effectLst/>
              <a:uFillTx/>
              <a:latin typeface="Arial"/>
            </a:endParaRPr>
          </a:p>
        </p:txBody>
      </p:sp>
      <p:sp>
        <p:nvSpPr>
          <p:cNvPr id="23" name=""/>
          <p:cNvSpPr/>
          <p:nvPr/>
        </p:nvSpPr>
        <p:spPr>
          <a:xfrm>
            <a:off x="548640" y="165492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4" name=""/>
          <p:cNvSpPr txBox="1"/>
          <p:nvPr/>
        </p:nvSpPr>
        <p:spPr>
          <a:xfrm>
            <a:off x="594360" y="165492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2</a:t>
            </a:r>
            <a:endParaRPr b="0" lang="en-US" sz="1200" strike="noStrike" u="none">
              <a:solidFill>
                <a:srgbClr val="000000"/>
              </a:solidFill>
              <a:effectLst/>
              <a:uFillTx/>
              <a:latin typeface="Arial"/>
            </a:endParaRPr>
          </a:p>
        </p:txBody>
      </p:sp>
      <p:sp>
        <p:nvSpPr>
          <p:cNvPr id="25" name=""/>
          <p:cNvSpPr txBox="1"/>
          <p:nvPr/>
        </p:nvSpPr>
        <p:spPr>
          <a:xfrm>
            <a:off x="1005840" y="1627560"/>
            <a:ext cx="4572000" cy="332640"/>
          </a:xfrm>
          <a:prstGeom prst="rect">
            <a:avLst/>
          </a:prstGeom>
          <a:noFill/>
          <a:ln w="0">
            <a:noFill/>
          </a:ln>
        </p:spPr>
        <p:txBody>
          <a:bodyPr lIns="90000" rIns="90000" tIns="45000" bIns="45000" anchor="t">
            <a:spAutoFit/>
          </a:bodyPr>
          <a:p>
            <a:r>
              <a:rPr b="1" lang="en-US" sz="1400" strike="noStrike" u="none">
                <a:solidFill>
                  <a:srgbClr val="e65000"/>
                </a:solidFill>
                <a:effectLst/>
                <a:uFillTx/>
                <a:latin typeface="Arial-BoldMT"/>
                <a:ea typeface="Arial-BoldMT"/>
              </a:rPr>
              <a:t>Motivation &amp; Challenges</a:t>
            </a:r>
            <a:endParaRPr b="0" lang="en-US" sz="1400" strike="noStrike" u="none">
              <a:solidFill>
                <a:srgbClr val="000000"/>
              </a:solidFill>
              <a:effectLst/>
              <a:uFillTx/>
              <a:latin typeface="Arial"/>
            </a:endParaRPr>
          </a:p>
        </p:txBody>
      </p:sp>
      <p:sp>
        <p:nvSpPr>
          <p:cNvPr id="26" name=""/>
          <p:cNvSpPr/>
          <p:nvPr/>
        </p:nvSpPr>
        <p:spPr>
          <a:xfrm>
            <a:off x="548640" y="209412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691a9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7" name=""/>
          <p:cNvSpPr txBox="1"/>
          <p:nvPr/>
        </p:nvSpPr>
        <p:spPr>
          <a:xfrm>
            <a:off x="594360" y="209412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3</a:t>
            </a:r>
            <a:endParaRPr b="0" lang="en-US" sz="1200" strike="noStrike" u="none">
              <a:solidFill>
                <a:srgbClr val="000000"/>
              </a:solidFill>
              <a:effectLst/>
              <a:uFillTx/>
              <a:latin typeface="Arial"/>
            </a:endParaRPr>
          </a:p>
        </p:txBody>
      </p:sp>
      <p:sp>
        <p:nvSpPr>
          <p:cNvPr id="28" name=""/>
          <p:cNvSpPr txBox="1"/>
          <p:nvPr/>
        </p:nvSpPr>
        <p:spPr>
          <a:xfrm>
            <a:off x="1005840" y="2066400"/>
            <a:ext cx="4572000" cy="332640"/>
          </a:xfrm>
          <a:prstGeom prst="rect">
            <a:avLst/>
          </a:prstGeom>
          <a:noFill/>
          <a:ln w="0">
            <a:noFill/>
          </a:ln>
        </p:spPr>
        <p:txBody>
          <a:bodyPr lIns="90000" rIns="90000" tIns="45000" bIns="45000" anchor="t">
            <a:spAutoFit/>
          </a:bodyPr>
          <a:p>
            <a:r>
              <a:rPr b="1" lang="en-US" sz="1400" strike="noStrike" u="none">
                <a:solidFill>
                  <a:srgbClr val="691a9a"/>
                </a:solidFill>
                <a:effectLst/>
                <a:uFillTx/>
                <a:latin typeface="Arial-BoldMT"/>
                <a:ea typeface="Arial-BoldMT"/>
              </a:rPr>
              <a:t>Existing Work &amp; Comparison</a:t>
            </a:r>
            <a:endParaRPr b="0" lang="en-US" sz="1400" strike="noStrike" u="none">
              <a:solidFill>
                <a:srgbClr val="000000"/>
              </a:solidFill>
              <a:effectLst/>
              <a:uFillTx/>
              <a:latin typeface="Arial"/>
            </a:endParaRPr>
          </a:p>
        </p:txBody>
      </p:sp>
      <p:sp>
        <p:nvSpPr>
          <p:cNvPr id="29" name=""/>
          <p:cNvSpPr/>
          <p:nvPr/>
        </p:nvSpPr>
        <p:spPr>
          <a:xfrm>
            <a:off x="548640" y="253296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0" name=""/>
          <p:cNvSpPr txBox="1"/>
          <p:nvPr/>
        </p:nvSpPr>
        <p:spPr>
          <a:xfrm>
            <a:off x="594360" y="253296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4</a:t>
            </a:r>
            <a:endParaRPr b="0" lang="en-US" sz="1200" strike="noStrike" u="none">
              <a:solidFill>
                <a:srgbClr val="000000"/>
              </a:solidFill>
              <a:effectLst/>
              <a:uFillTx/>
              <a:latin typeface="Arial"/>
            </a:endParaRPr>
          </a:p>
        </p:txBody>
      </p:sp>
      <p:sp>
        <p:nvSpPr>
          <p:cNvPr id="31" name=""/>
          <p:cNvSpPr txBox="1"/>
          <p:nvPr/>
        </p:nvSpPr>
        <p:spPr>
          <a:xfrm>
            <a:off x="1005840" y="2505600"/>
            <a:ext cx="4572000" cy="332640"/>
          </a:xfrm>
          <a:prstGeom prst="rect">
            <a:avLst/>
          </a:prstGeom>
          <a:noFill/>
          <a:ln w="0">
            <a:noFill/>
          </a:ln>
        </p:spPr>
        <p:txBody>
          <a:bodyPr lIns="90000" rIns="90000" tIns="45000" bIns="45000" anchor="t">
            <a:spAutoFit/>
          </a:bodyPr>
          <a:p>
            <a:r>
              <a:rPr b="1" lang="en-US" sz="1400" strike="noStrike" u="none">
                <a:solidFill>
                  <a:srgbClr val="c62727"/>
                </a:solidFill>
                <a:effectLst/>
                <a:uFillTx/>
                <a:latin typeface="Arial-BoldMT"/>
                <a:ea typeface="Arial-BoldMT"/>
              </a:rPr>
              <a:t>Problem Definition</a:t>
            </a:r>
            <a:endParaRPr b="0" lang="en-US" sz="1400" strike="noStrike" u="none">
              <a:solidFill>
                <a:srgbClr val="000000"/>
              </a:solidFill>
              <a:effectLst/>
              <a:uFillTx/>
              <a:latin typeface="Arial"/>
            </a:endParaRPr>
          </a:p>
        </p:txBody>
      </p:sp>
      <p:sp>
        <p:nvSpPr>
          <p:cNvPr id="32" name=""/>
          <p:cNvSpPr/>
          <p:nvPr/>
        </p:nvSpPr>
        <p:spPr>
          <a:xfrm>
            <a:off x="548640" y="297180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3" name=""/>
          <p:cNvSpPr txBox="1"/>
          <p:nvPr/>
        </p:nvSpPr>
        <p:spPr>
          <a:xfrm>
            <a:off x="594360" y="297180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5</a:t>
            </a:r>
            <a:endParaRPr b="0" lang="en-US" sz="1200" strike="noStrike" u="none">
              <a:solidFill>
                <a:srgbClr val="000000"/>
              </a:solidFill>
              <a:effectLst/>
              <a:uFillTx/>
              <a:latin typeface="Arial"/>
            </a:endParaRPr>
          </a:p>
        </p:txBody>
      </p:sp>
      <p:sp>
        <p:nvSpPr>
          <p:cNvPr id="34" name=""/>
          <p:cNvSpPr txBox="1"/>
          <p:nvPr/>
        </p:nvSpPr>
        <p:spPr>
          <a:xfrm>
            <a:off x="1005840" y="2944440"/>
            <a:ext cx="4572000" cy="332640"/>
          </a:xfrm>
          <a:prstGeom prst="rect">
            <a:avLst/>
          </a:prstGeom>
          <a:noFill/>
          <a:ln w="0">
            <a:noFill/>
          </a:ln>
        </p:spPr>
        <p:txBody>
          <a:bodyPr lIns="90000" rIns="90000" tIns="45000" bIns="45000" anchor="t">
            <a:spAutoFit/>
          </a:bodyPr>
          <a:p>
            <a:r>
              <a:rPr b="1" lang="en-US" sz="1400" strike="noStrike" u="none">
                <a:solidFill>
                  <a:srgbClr val="00897a"/>
                </a:solidFill>
                <a:effectLst/>
                <a:uFillTx/>
                <a:latin typeface="Arial-BoldMT"/>
                <a:ea typeface="Arial-BoldMT"/>
              </a:rPr>
              <a:t>Davis Dataset &amp; Splits</a:t>
            </a:r>
            <a:endParaRPr b="0" lang="en-US" sz="1400" strike="noStrike" u="none">
              <a:solidFill>
                <a:srgbClr val="000000"/>
              </a:solidFill>
              <a:effectLst/>
              <a:uFillTx/>
              <a:latin typeface="Arial"/>
            </a:endParaRPr>
          </a:p>
        </p:txBody>
      </p:sp>
      <p:sp>
        <p:nvSpPr>
          <p:cNvPr id="35" name=""/>
          <p:cNvSpPr/>
          <p:nvPr/>
        </p:nvSpPr>
        <p:spPr>
          <a:xfrm>
            <a:off x="548640" y="341064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6" name=""/>
          <p:cNvSpPr txBox="1"/>
          <p:nvPr/>
        </p:nvSpPr>
        <p:spPr>
          <a:xfrm>
            <a:off x="594360" y="341064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6</a:t>
            </a:r>
            <a:endParaRPr b="0" lang="en-US" sz="1200" strike="noStrike" u="none">
              <a:solidFill>
                <a:srgbClr val="000000"/>
              </a:solidFill>
              <a:effectLst/>
              <a:uFillTx/>
              <a:latin typeface="Arial"/>
            </a:endParaRPr>
          </a:p>
        </p:txBody>
      </p:sp>
      <p:sp>
        <p:nvSpPr>
          <p:cNvPr id="37" name=""/>
          <p:cNvSpPr txBox="1"/>
          <p:nvPr/>
        </p:nvSpPr>
        <p:spPr>
          <a:xfrm>
            <a:off x="1005840" y="3383280"/>
            <a:ext cx="4572000" cy="332640"/>
          </a:xfrm>
          <a:prstGeom prst="rect">
            <a:avLst/>
          </a:prstGeom>
          <a:noFill/>
          <a:ln w="0">
            <a:noFill/>
          </a:ln>
        </p:spPr>
        <p:txBody>
          <a:bodyPr lIns="90000" rIns="90000" tIns="45000" bIns="45000" anchor="t">
            <a:spAutoFit/>
          </a:bodyPr>
          <a:p>
            <a:r>
              <a:rPr b="1" lang="en-US" sz="1400" strike="noStrike" u="none">
                <a:solidFill>
                  <a:srgbClr val="f9a824"/>
                </a:solidFill>
                <a:effectLst/>
                <a:uFillTx/>
                <a:latin typeface="Arial-BoldMT"/>
                <a:ea typeface="Arial-BoldMT"/>
              </a:rPr>
              <a:t>Architecture Deep Dive</a:t>
            </a:r>
            <a:endParaRPr b="0" lang="en-US" sz="1400" strike="noStrike" u="none">
              <a:solidFill>
                <a:srgbClr val="000000"/>
              </a:solidFill>
              <a:effectLst/>
              <a:uFillTx/>
              <a:latin typeface="Arial"/>
            </a:endParaRPr>
          </a:p>
        </p:txBody>
      </p:sp>
      <p:sp>
        <p:nvSpPr>
          <p:cNvPr id="38" name=""/>
          <p:cNvSpPr/>
          <p:nvPr/>
        </p:nvSpPr>
        <p:spPr>
          <a:xfrm>
            <a:off x="548640" y="384948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9" name=""/>
          <p:cNvSpPr txBox="1"/>
          <p:nvPr/>
        </p:nvSpPr>
        <p:spPr>
          <a:xfrm>
            <a:off x="594360" y="384948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7</a:t>
            </a:r>
            <a:endParaRPr b="0" lang="en-US" sz="1200" strike="noStrike" u="none">
              <a:solidFill>
                <a:srgbClr val="000000"/>
              </a:solidFill>
              <a:effectLst/>
              <a:uFillTx/>
              <a:latin typeface="Arial"/>
            </a:endParaRPr>
          </a:p>
        </p:txBody>
      </p:sp>
      <p:sp>
        <p:nvSpPr>
          <p:cNvPr id="40" name=""/>
          <p:cNvSpPr txBox="1"/>
          <p:nvPr/>
        </p:nvSpPr>
        <p:spPr>
          <a:xfrm>
            <a:off x="1005840" y="3822120"/>
            <a:ext cx="4572000" cy="332640"/>
          </a:xfrm>
          <a:prstGeom prst="rect">
            <a:avLst/>
          </a:prstGeom>
          <a:noFill/>
          <a:ln w="0">
            <a:noFill/>
          </a:ln>
        </p:spPr>
        <p:txBody>
          <a:bodyPr lIns="90000" rIns="90000" tIns="45000" bIns="45000" anchor="t">
            <a:spAutoFit/>
          </a:bodyPr>
          <a:p>
            <a:r>
              <a:rPr b="1" lang="en-US" sz="1400" strike="noStrike" u="none">
                <a:solidFill>
                  <a:srgbClr val="2d7c31"/>
                </a:solidFill>
                <a:effectLst/>
                <a:uFillTx/>
                <a:latin typeface="Arial-BoldMT"/>
                <a:ea typeface="Arial-BoldMT"/>
              </a:rPr>
              <a:t>Results &amp; Analysis</a:t>
            </a:r>
            <a:endParaRPr b="0" lang="en-US" sz="1400" strike="noStrike" u="none">
              <a:solidFill>
                <a:srgbClr val="000000"/>
              </a:solidFill>
              <a:effectLst/>
              <a:uFillTx/>
              <a:latin typeface="Arial"/>
            </a:endParaRPr>
          </a:p>
        </p:txBody>
      </p:sp>
      <p:sp>
        <p:nvSpPr>
          <p:cNvPr id="41" name=""/>
          <p:cNvSpPr/>
          <p:nvPr/>
        </p:nvSpPr>
        <p:spPr>
          <a:xfrm>
            <a:off x="548640" y="4288680"/>
            <a:ext cx="293400" cy="293400"/>
          </a:xfrm>
          <a:custGeom>
            <a:avLst/>
            <a:gdLst/>
            <a:ahLst/>
            <a:rect l="0" t="0" r="r" b="b"/>
            <a:pathLst>
              <a:path w="815" h="815">
                <a:moveTo>
                  <a:pt x="695" y="119"/>
                </a:moveTo>
                <a:cubicBezTo>
                  <a:pt x="854" y="278"/>
                  <a:pt x="854" y="536"/>
                  <a:pt x="695" y="695"/>
                </a:cubicBezTo>
                <a:cubicBezTo>
                  <a:pt x="536" y="854"/>
                  <a:pt x="278" y="854"/>
                  <a:pt x="119" y="695"/>
                </a:cubicBezTo>
                <a:cubicBezTo>
                  <a:pt x="-40" y="536"/>
                  <a:pt x="-40" y="278"/>
                  <a:pt x="119" y="119"/>
                </a:cubicBezTo>
                <a:cubicBezTo>
                  <a:pt x="278" y="-40"/>
                  <a:pt x="536" y="-40"/>
                  <a:pt x="695" y="119"/>
                </a:cubicBez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42" name=""/>
          <p:cNvSpPr txBox="1"/>
          <p:nvPr/>
        </p:nvSpPr>
        <p:spPr>
          <a:xfrm>
            <a:off x="594360" y="4288680"/>
            <a:ext cx="201240" cy="297720"/>
          </a:xfrm>
          <a:prstGeom prst="rect">
            <a:avLst/>
          </a:prstGeom>
          <a:noFill/>
          <a:ln w="0">
            <a:noFill/>
          </a:ln>
        </p:spPr>
        <p:txBody>
          <a:bodyPr lIns="90000" rIns="90000" tIns="45000" bIns="45000" anchor="t">
            <a:spAutoFit/>
          </a:bodyPr>
          <a:p>
            <a:pPr algn="ctr"/>
            <a:r>
              <a:rPr b="1" lang="en-US" sz="1200" strike="noStrike" u="none">
                <a:solidFill>
                  <a:srgbClr val="ffffff"/>
                </a:solidFill>
                <a:effectLst/>
                <a:uFillTx/>
                <a:latin typeface="Arial-BoldMT"/>
                <a:ea typeface="Arial-BoldMT"/>
              </a:rPr>
              <a:t>8</a:t>
            </a:r>
            <a:endParaRPr b="0" lang="en-US" sz="1200" strike="noStrike" u="none">
              <a:solidFill>
                <a:srgbClr val="000000"/>
              </a:solidFill>
              <a:effectLst/>
              <a:uFillTx/>
              <a:latin typeface="Arial"/>
            </a:endParaRPr>
          </a:p>
        </p:txBody>
      </p:sp>
      <p:sp>
        <p:nvSpPr>
          <p:cNvPr id="43" name=""/>
          <p:cNvSpPr txBox="1"/>
          <p:nvPr/>
        </p:nvSpPr>
        <p:spPr>
          <a:xfrm>
            <a:off x="1005840" y="4260960"/>
            <a:ext cx="4572000" cy="332640"/>
          </a:xfrm>
          <a:prstGeom prst="rect">
            <a:avLst/>
          </a:prstGeom>
          <a:noFill/>
          <a:ln w="0">
            <a:noFill/>
          </a:ln>
        </p:spPr>
        <p:txBody>
          <a:bodyPr lIns="90000" rIns="90000" tIns="45000" bIns="45000" anchor="t">
            <a:spAutoFit/>
          </a:bodyPr>
          <a:p>
            <a:r>
              <a:rPr b="1" lang="en-US" sz="1400" strike="noStrike" u="none">
                <a:solidFill>
                  <a:srgbClr val="0097a7"/>
                </a:solidFill>
                <a:effectLst/>
                <a:uFillTx/>
                <a:latin typeface="Arial-BoldMT"/>
                <a:ea typeface="Arial-BoldMT"/>
              </a:rPr>
              <a:t>Conclusions &amp; Future Work</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45"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1</a:t>
            </a:r>
            <a:endParaRPr b="0" lang="en-US" sz="2400" strike="noStrike" u="none">
              <a:solidFill>
                <a:srgbClr val="000000"/>
              </a:solidFill>
              <a:effectLst/>
              <a:uFillTx/>
              <a:latin typeface="Arial"/>
            </a:endParaRPr>
          </a:p>
        </p:txBody>
      </p:sp>
      <p:sp>
        <p:nvSpPr>
          <p:cNvPr id="46"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Introduction &amp; Background</a:t>
            </a:r>
            <a:endParaRPr b="0" lang="en-US" sz="3200" strike="noStrike" u="none">
              <a:solidFill>
                <a:srgbClr val="000000"/>
              </a:solidFill>
              <a:effectLst/>
              <a:uFillTx/>
              <a:latin typeface="Arial"/>
            </a:endParaRPr>
          </a:p>
        </p:txBody>
      </p:sp>
      <p:sp>
        <p:nvSpPr>
          <p:cNvPr id="47"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48"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Understanding Drug-Target Affinity and its role in drug discovery</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49"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What is Drug-Target Affinity?</a:t>
            </a:r>
            <a:endParaRPr b="0" lang="en-US" sz="2800" strike="noStrike" u="none">
              <a:solidFill>
                <a:srgbClr val="000000"/>
              </a:solidFill>
              <a:effectLst/>
              <a:uFillTx/>
              <a:latin typeface="Arial"/>
            </a:endParaRPr>
          </a:p>
        </p:txBody>
      </p:sp>
      <p:sp>
        <p:nvSpPr>
          <p:cNvPr id="50"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51"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The fundamental concept behind computational drug discovery</a:t>
            </a:r>
            <a:endParaRPr b="0" lang="en-US" sz="1100" strike="noStrike" u="none">
              <a:solidFill>
                <a:srgbClr val="000000"/>
              </a:solidFill>
              <a:effectLst/>
              <a:uFillTx/>
              <a:latin typeface="Arial"/>
            </a:endParaRPr>
          </a:p>
        </p:txBody>
      </p:sp>
      <p:sp>
        <p:nvSpPr>
          <p:cNvPr id="52" name=""/>
          <p:cNvSpPr/>
          <p:nvPr/>
        </p:nvSpPr>
        <p:spPr>
          <a:xfrm>
            <a:off x="457200" y="1188720"/>
            <a:ext cx="4572360" cy="3383640"/>
          </a:xfrm>
          <a:custGeom>
            <a:avLst/>
            <a:gdLst/>
            <a:ahLst/>
            <a:rect l="0" t="0" r="r" b="b"/>
            <a:pathLst>
              <a:path w="12701" h="9399">
                <a:moveTo>
                  <a:pt x="0" y="0"/>
                </a:moveTo>
                <a:lnTo>
                  <a:pt x="12701" y="0"/>
                </a:lnTo>
                <a:lnTo>
                  <a:pt x="12701" y="9399"/>
                </a:lnTo>
                <a:lnTo>
                  <a:pt x="0" y="9399"/>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3" name=""/>
          <p:cNvSpPr/>
          <p:nvPr/>
        </p:nvSpPr>
        <p:spPr>
          <a:xfrm>
            <a:off x="457200" y="1188720"/>
            <a:ext cx="46080" cy="3383640"/>
          </a:xfrm>
          <a:custGeom>
            <a:avLst/>
            <a:gdLst/>
            <a:ahLst/>
            <a:rect l="0" t="0" r="r" b="b"/>
            <a:pathLst>
              <a:path w="128" h="9399">
                <a:moveTo>
                  <a:pt x="0" y="0"/>
                </a:moveTo>
                <a:lnTo>
                  <a:pt x="128" y="0"/>
                </a:lnTo>
                <a:lnTo>
                  <a:pt x="128" y="9399"/>
                </a:lnTo>
                <a:lnTo>
                  <a:pt x="0" y="9399"/>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54" name="" descr=""/>
          <p:cNvPicPr/>
          <p:nvPr/>
        </p:nvPicPr>
        <p:blipFill>
          <a:blip r:embed="rId1"/>
          <a:stretch/>
        </p:blipFill>
        <p:spPr>
          <a:xfrm>
            <a:off x="640080" y="1280160"/>
            <a:ext cx="274320" cy="274320"/>
          </a:xfrm>
          <a:prstGeom prst="rect">
            <a:avLst/>
          </a:prstGeom>
          <a:noFill/>
          <a:ln w="0">
            <a:noFill/>
          </a:ln>
        </p:spPr>
      </p:pic>
      <p:sp>
        <p:nvSpPr>
          <p:cNvPr id="55" name=""/>
          <p:cNvSpPr txBox="1"/>
          <p:nvPr/>
        </p:nvSpPr>
        <p:spPr>
          <a:xfrm>
            <a:off x="1005840" y="1280160"/>
            <a:ext cx="2743200" cy="332640"/>
          </a:xfrm>
          <a:prstGeom prst="rect">
            <a:avLst/>
          </a:prstGeom>
          <a:noFill/>
          <a:ln w="0">
            <a:noFill/>
          </a:ln>
        </p:spPr>
        <p:txBody>
          <a:bodyPr lIns="90000" rIns="90000" tIns="45000" bIns="45000" anchor="t">
            <a:spAutoFit/>
          </a:bodyPr>
          <a:p>
            <a:r>
              <a:rPr b="1" lang="en-US" sz="1400" strike="noStrike" u="none">
                <a:solidFill>
                  <a:srgbClr val="0097a7"/>
                </a:solidFill>
                <a:effectLst/>
                <a:uFillTx/>
                <a:latin typeface="Arial-BoldMT"/>
                <a:ea typeface="Arial-BoldMT"/>
              </a:rPr>
              <a:t>Definition</a:t>
            </a:r>
            <a:endParaRPr b="0" lang="en-US" sz="1400" strike="noStrike" u="none">
              <a:solidFill>
                <a:srgbClr val="000000"/>
              </a:solidFill>
              <a:effectLst/>
              <a:uFillTx/>
              <a:latin typeface="Arial"/>
            </a:endParaRPr>
          </a:p>
        </p:txBody>
      </p:sp>
      <p:sp>
        <p:nvSpPr>
          <p:cNvPr id="56" name=""/>
          <p:cNvSpPr txBox="1"/>
          <p:nvPr/>
        </p:nvSpPr>
        <p:spPr>
          <a:xfrm>
            <a:off x="640080" y="1691640"/>
            <a:ext cx="4206240" cy="256032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Drug-Target Affinity (DTA) quantifies the binding strength between a drug molecule and a protein target.</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Measured as pKd = -log10(Kd). Higher pKd means stronger binding.</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Computational DTA prediction aims to replace expensive wet-lab binding assays with ML models trained on known affinity data.</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Deep learning can learn complex drug-protein interaction patterns directly from molecular structure.</a:t>
            </a:r>
            <a:endParaRPr b="0" lang="en-US" sz="1100" strike="noStrike" u="none">
              <a:solidFill>
                <a:srgbClr val="000000"/>
              </a:solidFill>
              <a:effectLst/>
              <a:uFillTx/>
              <a:latin typeface="Arial"/>
            </a:endParaRPr>
          </a:p>
        </p:txBody>
      </p:sp>
      <p:sp>
        <p:nvSpPr>
          <p:cNvPr id="57" name=""/>
          <p:cNvSpPr/>
          <p:nvPr/>
        </p:nvSpPr>
        <p:spPr>
          <a:xfrm>
            <a:off x="5303520" y="1188720"/>
            <a:ext cx="3475080" cy="1371960"/>
          </a:xfrm>
          <a:custGeom>
            <a:avLst/>
            <a:gdLst/>
            <a:ahLst/>
            <a:rect l="0" t="0" r="r" b="b"/>
            <a:pathLst>
              <a:path w="9653" h="3811">
                <a:moveTo>
                  <a:pt x="0" y="0"/>
                </a:moveTo>
                <a:lnTo>
                  <a:pt x="9653" y="0"/>
                </a:lnTo>
                <a:lnTo>
                  <a:pt x="9653" y="3811"/>
                </a:lnTo>
                <a:lnTo>
                  <a:pt x="0" y="381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8" name=""/>
          <p:cNvSpPr/>
          <p:nvPr/>
        </p:nvSpPr>
        <p:spPr>
          <a:xfrm>
            <a:off x="5303520" y="1188720"/>
            <a:ext cx="46080" cy="1371960"/>
          </a:xfrm>
          <a:custGeom>
            <a:avLst/>
            <a:gdLst/>
            <a:ahLst/>
            <a:rect l="0" t="0" r="r" b="b"/>
            <a:pathLst>
              <a:path w="128" h="3811">
                <a:moveTo>
                  <a:pt x="0" y="0"/>
                </a:moveTo>
                <a:lnTo>
                  <a:pt x="128" y="0"/>
                </a:lnTo>
                <a:lnTo>
                  <a:pt x="128" y="3811"/>
                </a:lnTo>
                <a:lnTo>
                  <a:pt x="0" y="3811"/>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9" name=""/>
          <p:cNvSpPr txBox="1"/>
          <p:nvPr/>
        </p:nvSpPr>
        <p:spPr>
          <a:xfrm>
            <a:off x="5486400" y="1280160"/>
            <a:ext cx="3108960" cy="314280"/>
          </a:xfrm>
          <a:prstGeom prst="rect">
            <a:avLst/>
          </a:prstGeom>
          <a:noFill/>
          <a:ln w="0">
            <a:noFill/>
          </a:ln>
        </p:spPr>
        <p:txBody>
          <a:bodyPr lIns="90000" rIns="90000" tIns="45000" bIns="45000" anchor="t">
            <a:spAutoFit/>
          </a:bodyPr>
          <a:p>
            <a:r>
              <a:rPr b="1" lang="en-US" sz="1300" strike="noStrike" u="none">
                <a:solidFill>
                  <a:srgbClr val="f9a824"/>
                </a:solidFill>
                <a:effectLst/>
                <a:uFillTx/>
                <a:latin typeface="Arial-BoldMT"/>
                <a:ea typeface="Arial-BoldMT"/>
              </a:rPr>
              <a:t>Binding Affinity Scale</a:t>
            </a:r>
            <a:endParaRPr b="0" lang="en-US" sz="1300" strike="noStrike" u="none">
              <a:solidFill>
                <a:srgbClr val="000000"/>
              </a:solidFill>
              <a:effectLst/>
              <a:uFillTx/>
              <a:latin typeface="Arial"/>
            </a:endParaRPr>
          </a:p>
        </p:txBody>
      </p:sp>
      <p:sp>
        <p:nvSpPr>
          <p:cNvPr id="60" name=""/>
          <p:cNvSpPr txBox="1"/>
          <p:nvPr/>
        </p:nvSpPr>
        <p:spPr>
          <a:xfrm>
            <a:off x="5486400" y="1600200"/>
            <a:ext cx="3108960" cy="852120"/>
          </a:xfrm>
          <a:prstGeom prst="rect">
            <a:avLst/>
          </a:prstGeom>
          <a:noFill/>
          <a:ln w="0">
            <a:noFill/>
          </a:ln>
        </p:spPr>
        <p:txBody>
          <a:bodyPr lIns="90000" rIns="90000" tIns="45000" bIns="45000" anchor="t">
            <a:spAutoFit/>
          </a:bodyPr>
          <a:p>
            <a:r>
              <a:rPr b="1" lang="en-US" sz="1100" strike="noStrike" u="none">
                <a:solidFill>
                  <a:srgbClr val="ef524f"/>
                </a:solidFill>
                <a:effectLst/>
                <a:uFillTx/>
                <a:latin typeface="Arial-BoldMT"/>
                <a:ea typeface="Arial-BoldMT"/>
              </a:rPr>
              <a:t>pKd 5-6: Weak</a:t>
            </a:r>
            <a:endParaRPr b="0" lang="en-US" sz="1100" strike="noStrike" u="none">
              <a:solidFill>
                <a:srgbClr val="000000"/>
              </a:solidFill>
              <a:effectLst/>
              <a:uFillTx/>
              <a:latin typeface="Arial"/>
            </a:endParaRPr>
          </a:p>
          <a:p>
            <a:r>
              <a:rPr b="1" lang="en-US" sz="1100" strike="noStrike" u="none">
                <a:solidFill>
                  <a:srgbClr val="ff9800"/>
                </a:solidFill>
                <a:effectLst/>
                <a:uFillTx/>
                <a:latin typeface="Arial-BoldMT"/>
                <a:ea typeface="Arial-BoldMT"/>
              </a:rPr>
              <a:t>pKd 6-7: Moderate</a:t>
            </a:r>
            <a:endParaRPr b="0" lang="en-US" sz="1100" strike="noStrike" u="none">
              <a:solidFill>
                <a:srgbClr val="000000"/>
              </a:solidFill>
              <a:effectLst/>
              <a:uFillTx/>
              <a:latin typeface="Arial"/>
            </a:endParaRPr>
          </a:p>
          <a:p>
            <a:r>
              <a:rPr b="1" lang="en-US" sz="1100" strike="noStrike" u="none">
                <a:solidFill>
                  <a:srgbClr val="4baf4f"/>
                </a:solidFill>
                <a:effectLst/>
                <a:uFillTx/>
                <a:latin typeface="Arial-BoldMT"/>
                <a:ea typeface="Arial-BoldMT"/>
              </a:rPr>
              <a:t>pKd 7-8: Strong</a:t>
            </a:r>
            <a:endParaRPr b="0" lang="en-US" sz="1100" strike="noStrike" u="none">
              <a:solidFill>
                <a:srgbClr val="000000"/>
              </a:solidFill>
              <a:effectLst/>
              <a:uFillTx/>
              <a:latin typeface="Arial"/>
            </a:endParaRPr>
          </a:p>
          <a:p>
            <a:r>
              <a:rPr b="1" lang="en-US" sz="1100" strike="noStrike" u="none">
                <a:solidFill>
                  <a:srgbClr val="2d7c31"/>
                </a:solidFill>
                <a:effectLst/>
                <a:uFillTx/>
                <a:latin typeface="Arial-BoldMT"/>
                <a:ea typeface="Arial-BoldMT"/>
              </a:rPr>
              <a:t>pKd 8+:  Very strong</a:t>
            </a:r>
            <a:endParaRPr b="0" lang="en-US" sz="1100" strike="noStrike" u="none">
              <a:solidFill>
                <a:srgbClr val="000000"/>
              </a:solidFill>
              <a:effectLst/>
              <a:uFillTx/>
              <a:latin typeface="Arial"/>
            </a:endParaRPr>
          </a:p>
        </p:txBody>
      </p:sp>
      <p:sp>
        <p:nvSpPr>
          <p:cNvPr id="61" name=""/>
          <p:cNvSpPr/>
          <p:nvPr/>
        </p:nvSpPr>
        <p:spPr>
          <a:xfrm>
            <a:off x="5303520" y="2743200"/>
            <a:ext cx="3475080" cy="1829160"/>
          </a:xfrm>
          <a:custGeom>
            <a:avLst/>
            <a:gdLst/>
            <a:ahLst/>
            <a:rect l="0" t="0" r="r" b="b"/>
            <a:pathLst>
              <a:path w="9653" h="5081">
                <a:moveTo>
                  <a:pt x="0" y="0"/>
                </a:moveTo>
                <a:lnTo>
                  <a:pt x="9653" y="0"/>
                </a:lnTo>
                <a:lnTo>
                  <a:pt x="9653" y="5081"/>
                </a:lnTo>
                <a:lnTo>
                  <a:pt x="0" y="508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62" name=""/>
          <p:cNvSpPr/>
          <p:nvPr/>
        </p:nvSpPr>
        <p:spPr>
          <a:xfrm>
            <a:off x="5303520" y="2743200"/>
            <a:ext cx="46080" cy="1829160"/>
          </a:xfrm>
          <a:custGeom>
            <a:avLst/>
            <a:gdLst/>
            <a:ahLst/>
            <a:rect l="0" t="0" r="r" b="b"/>
            <a:pathLst>
              <a:path w="128" h="5081">
                <a:moveTo>
                  <a:pt x="0" y="0"/>
                </a:moveTo>
                <a:lnTo>
                  <a:pt x="128" y="0"/>
                </a:lnTo>
                <a:lnTo>
                  <a:pt x="128" y="5081"/>
                </a:lnTo>
                <a:lnTo>
                  <a:pt x="0" y="5081"/>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63" name=""/>
          <p:cNvSpPr txBox="1"/>
          <p:nvPr/>
        </p:nvSpPr>
        <p:spPr>
          <a:xfrm>
            <a:off x="5486400" y="2834640"/>
            <a:ext cx="3108960" cy="314280"/>
          </a:xfrm>
          <a:prstGeom prst="rect">
            <a:avLst/>
          </a:prstGeom>
          <a:noFill/>
          <a:ln w="0">
            <a:noFill/>
          </a:ln>
        </p:spPr>
        <p:txBody>
          <a:bodyPr lIns="90000" rIns="90000" tIns="45000" bIns="45000" anchor="t">
            <a:spAutoFit/>
          </a:bodyPr>
          <a:p>
            <a:r>
              <a:rPr b="1" lang="en-US" sz="1300" strike="noStrike" u="none">
                <a:solidFill>
                  <a:srgbClr val="e65000"/>
                </a:solidFill>
                <a:effectLst/>
                <a:uFillTx/>
                <a:latin typeface="Arial-BoldMT"/>
                <a:ea typeface="Arial-BoldMT"/>
              </a:rPr>
              <a:t>Drug Discovery Cost</a:t>
            </a:r>
            <a:endParaRPr b="0" lang="en-US" sz="1300" strike="noStrike" u="none">
              <a:solidFill>
                <a:srgbClr val="000000"/>
              </a:solidFill>
              <a:effectLst/>
              <a:uFillTx/>
              <a:latin typeface="Arial"/>
            </a:endParaRPr>
          </a:p>
        </p:txBody>
      </p:sp>
      <p:sp>
        <p:nvSpPr>
          <p:cNvPr id="64" name=""/>
          <p:cNvSpPr txBox="1"/>
          <p:nvPr/>
        </p:nvSpPr>
        <p:spPr>
          <a:xfrm>
            <a:off x="5486400" y="3154680"/>
            <a:ext cx="3108960" cy="1188720"/>
          </a:xfrm>
          <a:prstGeom prst="rect">
            <a:avLst/>
          </a:prstGeom>
          <a:noFill/>
          <a:ln w="0">
            <a:noFill/>
          </a:ln>
        </p:spPr>
        <p:txBody>
          <a:bodyPr lIns="90000" rIns="90000" tIns="45000" bIns="45000" anchor="t">
            <a:spAutoFit/>
          </a:bodyPr>
          <a:p>
            <a:r>
              <a:rPr b="1" lang="en-US" sz="1100" strike="noStrike" u="none">
                <a:solidFill>
                  <a:srgbClr val="536d79"/>
                </a:solidFill>
                <a:effectLst/>
                <a:uFillTx/>
                <a:latin typeface="Arial-BoldMT"/>
                <a:ea typeface="Arial-BoldMT"/>
              </a:rPr>
              <a:t>~$2.6B average cost per drug</a:t>
            </a:r>
            <a:endParaRPr b="0" lang="en-US" sz="1100" strike="noStrike" u="none">
              <a:solidFill>
                <a:srgbClr val="000000"/>
              </a:solidFill>
              <a:effectLst/>
              <a:uFillTx/>
              <a:latin typeface="Arial"/>
            </a:endParaRPr>
          </a:p>
          <a:p>
            <a:r>
              <a:rPr b="1" lang="en-US" sz="1100" strike="noStrike" u="none">
                <a:solidFill>
                  <a:srgbClr val="536d79"/>
                </a:solidFill>
                <a:effectLst/>
                <a:uFillTx/>
                <a:latin typeface="Arial-BoldMT"/>
                <a:ea typeface="Arial-BoldMT"/>
              </a:rPr>
              <a:t>10-15 years development</a:t>
            </a:r>
            <a:endParaRPr b="0" lang="en-US" sz="1100" strike="noStrike" u="none">
              <a:solidFill>
                <a:srgbClr val="000000"/>
              </a:solidFill>
              <a:effectLst/>
              <a:uFillTx/>
              <a:latin typeface="Arial"/>
            </a:endParaRPr>
          </a:p>
          <a:p>
            <a:r>
              <a:rPr b="1" lang="en-US" sz="1100" strike="noStrike" u="none">
                <a:solidFill>
                  <a:srgbClr val="536d79"/>
                </a:solidFill>
                <a:effectLst/>
                <a:uFillTx/>
                <a:latin typeface="Arial-BoldMT"/>
                <a:ea typeface="Arial-BoldMT"/>
              </a:rPr>
              <a:t>90%+ failure rate in trials</a:t>
            </a:r>
            <a:endParaRPr b="0" lang="en-US" sz="1100" strike="noStrike" u="none">
              <a:solidFill>
                <a:srgbClr val="000000"/>
              </a:solidFill>
              <a:effectLst/>
              <a:uFillTx/>
              <a:latin typeface="Arial"/>
            </a:endParaRPr>
          </a:p>
          <a:p>
            <a:r>
              <a:rPr b="0" i="1" lang="en-US" sz="1100" strike="noStrike" u="none">
                <a:solidFill>
                  <a:srgbClr val="2d7c31"/>
                </a:solidFill>
                <a:effectLst/>
                <a:uFillTx/>
                <a:latin typeface="Arial-ItalicMT"/>
                <a:ea typeface="Arial-ItalicMT"/>
              </a:rPr>
              <a:t>DTA prediction can reduce costs by 10-100x</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65"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The Drug Discovery Pipeline</a:t>
            </a:r>
            <a:endParaRPr b="0" lang="en-US" sz="2800" strike="noStrike" u="none">
              <a:solidFill>
                <a:srgbClr val="000000"/>
              </a:solidFill>
              <a:effectLst/>
              <a:uFillTx/>
              <a:latin typeface="Arial"/>
            </a:endParaRPr>
          </a:p>
        </p:txBody>
      </p:sp>
      <p:sp>
        <p:nvSpPr>
          <p:cNvPr id="66"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67"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Where computational DTA prediction fits</a:t>
            </a:r>
            <a:endParaRPr b="0" lang="en-US" sz="1100" strike="noStrike" u="none">
              <a:solidFill>
                <a:srgbClr val="000000"/>
              </a:solidFill>
              <a:effectLst/>
              <a:uFillTx/>
              <a:latin typeface="Arial"/>
            </a:endParaRPr>
          </a:p>
        </p:txBody>
      </p:sp>
      <p:sp>
        <p:nvSpPr>
          <p:cNvPr id="68" name=""/>
          <p:cNvSpPr/>
          <p:nvPr/>
        </p:nvSpPr>
        <p:spPr>
          <a:xfrm>
            <a:off x="274320" y="1280160"/>
            <a:ext cx="1280520" cy="457560"/>
          </a:xfrm>
          <a:custGeom>
            <a:avLst/>
            <a:gdLst/>
            <a:ahLst/>
            <a:rect l="0" t="0" r="r" b="b"/>
            <a:pathLst>
              <a:path w="3557" h="1271">
                <a:moveTo>
                  <a:pt x="0" y="0"/>
                </a:moveTo>
                <a:lnTo>
                  <a:pt x="3557" y="0"/>
                </a:lnTo>
                <a:lnTo>
                  <a:pt x="3557" y="1271"/>
                </a:lnTo>
                <a:lnTo>
                  <a:pt x="0" y="1271"/>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69" name=""/>
          <p:cNvSpPr txBox="1"/>
          <p:nvPr/>
        </p:nvSpPr>
        <p:spPr>
          <a:xfrm>
            <a:off x="320040" y="1280160"/>
            <a:ext cx="1188720" cy="457200"/>
          </a:xfrm>
          <a:prstGeom prst="rect">
            <a:avLst/>
          </a:prstGeom>
          <a:noFill/>
          <a:ln w="0">
            <a:noFill/>
          </a:ln>
        </p:spPr>
        <p:txBody>
          <a:bodyPr lIns="90000" rIns="90000" tIns="45000" bIns="45000" anchor="t">
            <a:spAutoFit/>
          </a:bodyPr>
          <a:p>
            <a:pPr algn="ctr"/>
            <a:r>
              <a:rPr b="1" lang="en-US" sz="1100" strike="noStrike" u="none">
                <a:solidFill>
                  <a:srgbClr val="ffffff"/>
                </a:solidFill>
                <a:effectLst/>
                <a:uFillTx/>
                <a:latin typeface="Arial-BoldMT"/>
                <a:ea typeface="Arial-BoldMT"/>
              </a:rPr>
              <a:t>Target ID</a:t>
            </a:r>
            <a:endParaRPr b="0" lang="en-US" sz="1100" strike="noStrike" u="none">
              <a:solidFill>
                <a:srgbClr val="000000"/>
              </a:solidFill>
              <a:effectLst/>
              <a:uFillTx/>
              <a:latin typeface="Arial"/>
            </a:endParaRPr>
          </a:p>
        </p:txBody>
      </p:sp>
      <p:pic>
        <p:nvPicPr>
          <p:cNvPr id="70" name="" descr=""/>
          <p:cNvPicPr/>
          <p:nvPr/>
        </p:nvPicPr>
        <p:blipFill>
          <a:blip r:embed="rId1"/>
          <a:stretch/>
        </p:blipFill>
        <p:spPr>
          <a:xfrm>
            <a:off x="1572840" y="1389960"/>
            <a:ext cx="146160" cy="146160"/>
          </a:xfrm>
          <a:prstGeom prst="rect">
            <a:avLst/>
          </a:prstGeom>
          <a:noFill/>
          <a:ln w="0">
            <a:noFill/>
          </a:ln>
        </p:spPr>
      </p:pic>
      <p:sp>
        <p:nvSpPr>
          <p:cNvPr id="71" name=""/>
          <p:cNvSpPr/>
          <p:nvPr/>
        </p:nvSpPr>
        <p:spPr>
          <a:xfrm>
            <a:off x="1719000" y="1280160"/>
            <a:ext cx="1280520" cy="457560"/>
          </a:xfrm>
          <a:custGeom>
            <a:avLst/>
            <a:gdLst/>
            <a:ahLst/>
            <a:rect l="0" t="0" r="r" b="b"/>
            <a:pathLst>
              <a:path w="3557" h="1271">
                <a:moveTo>
                  <a:pt x="0" y="0"/>
                </a:moveTo>
                <a:lnTo>
                  <a:pt x="3557" y="0"/>
                </a:lnTo>
                <a:lnTo>
                  <a:pt x="3557" y="1271"/>
                </a:lnTo>
                <a:lnTo>
                  <a:pt x="0" y="1271"/>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72" name=""/>
          <p:cNvSpPr txBox="1"/>
          <p:nvPr/>
        </p:nvSpPr>
        <p:spPr>
          <a:xfrm>
            <a:off x="1764720" y="1280160"/>
            <a:ext cx="1188720" cy="457200"/>
          </a:xfrm>
          <a:prstGeom prst="rect">
            <a:avLst/>
          </a:prstGeom>
          <a:noFill/>
          <a:ln w="0">
            <a:noFill/>
          </a:ln>
        </p:spPr>
        <p:txBody>
          <a:bodyPr lIns="90000" rIns="90000" tIns="45000" bIns="45000" anchor="t">
            <a:spAutoFit/>
          </a:bodyPr>
          <a:p>
            <a:pPr algn="ctr"/>
            <a:r>
              <a:rPr b="1" lang="en-US" sz="1100" strike="noStrike" u="none">
                <a:solidFill>
                  <a:srgbClr val="ffffff"/>
                </a:solidFill>
                <a:effectLst/>
                <a:uFillTx/>
                <a:latin typeface="Arial-BoldMT"/>
                <a:ea typeface="Arial-BoldMT"/>
              </a:rPr>
              <a:t>Hit Discovery</a:t>
            </a:r>
            <a:endParaRPr b="0" lang="en-US" sz="1100" strike="noStrike" u="none">
              <a:solidFill>
                <a:srgbClr val="000000"/>
              </a:solidFill>
              <a:effectLst/>
              <a:uFillTx/>
              <a:latin typeface="Arial"/>
            </a:endParaRPr>
          </a:p>
        </p:txBody>
      </p:sp>
      <p:pic>
        <p:nvPicPr>
          <p:cNvPr id="73" name="" descr=""/>
          <p:cNvPicPr/>
          <p:nvPr/>
        </p:nvPicPr>
        <p:blipFill>
          <a:blip r:embed="rId2"/>
          <a:stretch/>
        </p:blipFill>
        <p:spPr>
          <a:xfrm>
            <a:off x="3017520" y="1389960"/>
            <a:ext cx="146160" cy="146160"/>
          </a:xfrm>
          <a:prstGeom prst="rect">
            <a:avLst/>
          </a:prstGeom>
          <a:noFill/>
          <a:ln w="0">
            <a:noFill/>
          </a:ln>
        </p:spPr>
      </p:pic>
      <p:sp>
        <p:nvSpPr>
          <p:cNvPr id="74" name=""/>
          <p:cNvSpPr/>
          <p:nvPr/>
        </p:nvSpPr>
        <p:spPr>
          <a:xfrm>
            <a:off x="3163680" y="1280160"/>
            <a:ext cx="1280520" cy="457560"/>
          </a:xfrm>
          <a:custGeom>
            <a:avLst/>
            <a:gdLst/>
            <a:ahLst/>
            <a:rect l="0" t="0" r="r" b="b"/>
            <a:pathLst>
              <a:path w="3557" h="1271">
                <a:moveTo>
                  <a:pt x="0" y="0"/>
                </a:moveTo>
                <a:lnTo>
                  <a:pt x="3557" y="0"/>
                </a:lnTo>
                <a:lnTo>
                  <a:pt x="3557" y="1271"/>
                </a:lnTo>
                <a:lnTo>
                  <a:pt x="0" y="1271"/>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75" name=""/>
          <p:cNvSpPr txBox="1"/>
          <p:nvPr/>
        </p:nvSpPr>
        <p:spPr>
          <a:xfrm>
            <a:off x="3209400" y="1280160"/>
            <a:ext cx="1188720" cy="457200"/>
          </a:xfrm>
          <a:prstGeom prst="rect">
            <a:avLst/>
          </a:prstGeom>
          <a:noFill/>
          <a:ln w="0">
            <a:noFill/>
          </a:ln>
        </p:spPr>
        <p:txBody>
          <a:bodyPr lIns="90000" rIns="90000" tIns="45000" bIns="45000" anchor="t">
            <a:spAutoFit/>
          </a:bodyPr>
          <a:p>
            <a:pPr algn="ctr"/>
            <a:r>
              <a:rPr b="1" lang="en-US" sz="1100" strike="noStrike" u="none">
                <a:solidFill>
                  <a:srgbClr val="ffffff"/>
                </a:solidFill>
                <a:effectLst/>
                <a:uFillTx/>
                <a:latin typeface="Arial-BoldMT"/>
                <a:ea typeface="Arial-BoldMT"/>
              </a:rPr>
              <a:t>Lead Optim.</a:t>
            </a:r>
            <a:endParaRPr b="0" lang="en-US" sz="1100" strike="noStrike" u="none">
              <a:solidFill>
                <a:srgbClr val="000000"/>
              </a:solidFill>
              <a:effectLst/>
              <a:uFillTx/>
              <a:latin typeface="Arial"/>
            </a:endParaRPr>
          </a:p>
        </p:txBody>
      </p:sp>
      <p:pic>
        <p:nvPicPr>
          <p:cNvPr id="76" name="" descr=""/>
          <p:cNvPicPr/>
          <p:nvPr/>
        </p:nvPicPr>
        <p:blipFill>
          <a:blip r:embed="rId3"/>
          <a:stretch/>
        </p:blipFill>
        <p:spPr>
          <a:xfrm>
            <a:off x="4462200" y="1389960"/>
            <a:ext cx="146160" cy="146160"/>
          </a:xfrm>
          <a:prstGeom prst="rect">
            <a:avLst/>
          </a:prstGeom>
          <a:noFill/>
          <a:ln w="0">
            <a:noFill/>
          </a:ln>
        </p:spPr>
      </p:pic>
      <p:sp>
        <p:nvSpPr>
          <p:cNvPr id="77" name=""/>
          <p:cNvSpPr/>
          <p:nvPr/>
        </p:nvSpPr>
        <p:spPr>
          <a:xfrm>
            <a:off x="4608720" y="1280160"/>
            <a:ext cx="1280520" cy="457560"/>
          </a:xfrm>
          <a:custGeom>
            <a:avLst/>
            <a:gdLst/>
            <a:ahLst/>
            <a:rect l="0" t="0" r="r" b="b"/>
            <a:pathLst>
              <a:path w="3557" h="1271">
                <a:moveTo>
                  <a:pt x="0" y="0"/>
                </a:moveTo>
                <a:lnTo>
                  <a:pt x="3557" y="0"/>
                </a:lnTo>
                <a:lnTo>
                  <a:pt x="3557" y="1271"/>
                </a:lnTo>
                <a:lnTo>
                  <a:pt x="0" y="1271"/>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78" name=""/>
          <p:cNvSpPr txBox="1"/>
          <p:nvPr/>
        </p:nvSpPr>
        <p:spPr>
          <a:xfrm>
            <a:off x="4654440" y="1280160"/>
            <a:ext cx="1188720" cy="457200"/>
          </a:xfrm>
          <a:prstGeom prst="rect">
            <a:avLst/>
          </a:prstGeom>
          <a:noFill/>
          <a:ln w="0">
            <a:noFill/>
          </a:ln>
        </p:spPr>
        <p:txBody>
          <a:bodyPr lIns="90000" rIns="90000" tIns="45000" bIns="45000" anchor="t">
            <a:spAutoFit/>
          </a:bodyPr>
          <a:p>
            <a:pPr algn="ctr"/>
            <a:r>
              <a:rPr b="1" lang="en-US" sz="1100" strike="noStrike" u="none">
                <a:solidFill>
                  <a:srgbClr val="ffffff"/>
                </a:solidFill>
                <a:effectLst/>
                <a:uFillTx/>
                <a:latin typeface="Arial-BoldMT"/>
                <a:ea typeface="Arial-BoldMT"/>
              </a:rPr>
              <a:t>Preclinical</a:t>
            </a:r>
            <a:endParaRPr b="0" lang="en-US" sz="1100" strike="noStrike" u="none">
              <a:solidFill>
                <a:srgbClr val="000000"/>
              </a:solidFill>
              <a:effectLst/>
              <a:uFillTx/>
              <a:latin typeface="Arial"/>
            </a:endParaRPr>
          </a:p>
        </p:txBody>
      </p:sp>
      <p:pic>
        <p:nvPicPr>
          <p:cNvPr id="79" name="" descr=""/>
          <p:cNvPicPr/>
          <p:nvPr/>
        </p:nvPicPr>
        <p:blipFill>
          <a:blip r:embed="rId4"/>
          <a:stretch/>
        </p:blipFill>
        <p:spPr>
          <a:xfrm>
            <a:off x="5906880" y="1389960"/>
            <a:ext cx="146160" cy="146160"/>
          </a:xfrm>
          <a:prstGeom prst="rect">
            <a:avLst/>
          </a:prstGeom>
          <a:noFill/>
          <a:ln w="0">
            <a:noFill/>
          </a:ln>
        </p:spPr>
      </p:pic>
      <p:sp>
        <p:nvSpPr>
          <p:cNvPr id="80" name=""/>
          <p:cNvSpPr/>
          <p:nvPr/>
        </p:nvSpPr>
        <p:spPr>
          <a:xfrm>
            <a:off x="6053400" y="1280160"/>
            <a:ext cx="1280520" cy="457560"/>
          </a:xfrm>
          <a:custGeom>
            <a:avLst/>
            <a:gdLst/>
            <a:ahLst/>
            <a:rect l="0" t="0" r="r" b="b"/>
            <a:pathLst>
              <a:path w="3557" h="1271">
                <a:moveTo>
                  <a:pt x="0" y="0"/>
                </a:moveTo>
                <a:lnTo>
                  <a:pt x="3557" y="0"/>
                </a:lnTo>
                <a:lnTo>
                  <a:pt x="3557" y="1271"/>
                </a:lnTo>
                <a:lnTo>
                  <a:pt x="0" y="1271"/>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81" name=""/>
          <p:cNvSpPr txBox="1"/>
          <p:nvPr/>
        </p:nvSpPr>
        <p:spPr>
          <a:xfrm>
            <a:off x="6099120" y="1280160"/>
            <a:ext cx="1188720" cy="457200"/>
          </a:xfrm>
          <a:prstGeom prst="rect">
            <a:avLst/>
          </a:prstGeom>
          <a:noFill/>
          <a:ln w="0">
            <a:noFill/>
          </a:ln>
        </p:spPr>
        <p:txBody>
          <a:bodyPr lIns="90000" rIns="90000" tIns="45000" bIns="45000" anchor="t">
            <a:spAutoFit/>
          </a:bodyPr>
          <a:p>
            <a:pPr algn="ctr"/>
            <a:r>
              <a:rPr b="1" lang="en-US" sz="1100" strike="noStrike" u="none">
                <a:solidFill>
                  <a:srgbClr val="ffffff"/>
                </a:solidFill>
                <a:effectLst/>
                <a:uFillTx/>
                <a:latin typeface="Arial-BoldMT"/>
                <a:ea typeface="Arial-BoldMT"/>
              </a:rPr>
              <a:t>Clinical</a:t>
            </a:r>
            <a:endParaRPr b="0" lang="en-US" sz="1100" strike="noStrike" u="none">
              <a:solidFill>
                <a:srgbClr val="000000"/>
              </a:solidFill>
              <a:effectLst/>
              <a:uFillTx/>
              <a:latin typeface="Arial"/>
            </a:endParaRPr>
          </a:p>
        </p:txBody>
      </p:sp>
      <p:pic>
        <p:nvPicPr>
          <p:cNvPr id="82" name="" descr=""/>
          <p:cNvPicPr/>
          <p:nvPr/>
        </p:nvPicPr>
        <p:blipFill>
          <a:blip r:embed="rId5"/>
          <a:stretch/>
        </p:blipFill>
        <p:spPr>
          <a:xfrm>
            <a:off x="7351920" y="1389960"/>
            <a:ext cx="146160" cy="146160"/>
          </a:xfrm>
          <a:prstGeom prst="rect">
            <a:avLst/>
          </a:prstGeom>
          <a:noFill/>
          <a:ln w="0">
            <a:noFill/>
          </a:ln>
        </p:spPr>
      </p:pic>
      <p:sp>
        <p:nvSpPr>
          <p:cNvPr id="83" name=""/>
          <p:cNvSpPr/>
          <p:nvPr/>
        </p:nvSpPr>
        <p:spPr>
          <a:xfrm>
            <a:off x="7498080" y="1280160"/>
            <a:ext cx="1280520" cy="457560"/>
          </a:xfrm>
          <a:custGeom>
            <a:avLst/>
            <a:gdLst/>
            <a:ahLst/>
            <a:rect l="0" t="0" r="r" b="b"/>
            <a:pathLst>
              <a:path w="3557" h="1271">
                <a:moveTo>
                  <a:pt x="0" y="0"/>
                </a:moveTo>
                <a:lnTo>
                  <a:pt x="3557" y="0"/>
                </a:lnTo>
                <a:lnTo>
                  <a:pt x="3557" y="1271"/>
                </a:lnTo>
                <a:lnTo>
                  <a:pt x="0" y="1271"/>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84" name=""/>
          <p:cNvSpPr txBox="1"/>
          <p:nvPr/>
        </p:nvSpPr>
        <p:spPr>
          <a:xfrm>
            <a:off x="7543800" y="1280160"/>
            <a:ext cx="1188720" cy="457200"/>
          </a:xfrm>
          <a:prstGeom prst="rect">
            <a:avLst/>
          </a:prstGeom>
          <a:noFill/>
          <a:ln w="0">
            <a:noFill/>
          </a:ln>
        </p:spPr>
        <p:txBody>
          <a:bodyPr lIns="90000" rIns="90000" tIns="45000" bIns="45000" anchor="t">
            <a:spAutoFit/>
          </a:bodyPr>
          <a:p>
            <a:pPr algn="ctr"/>
            <a:r>
              <a:rPr b="1" lang="en-US" sz="1100" strike="noStrike" u="none">
                <a:solidFill>
                  <a:srgbClr val="ffffff"/>
                </a:solidFill>
                <a:effectLst/>
                <a:uFillTx/>
                <a:latin typeface="Arial-BoldMT"/>
                <a:ea typeface="Arial-BoldMT"/>
              </a:rPr>
              <a:t>Approval</a:t>
            </a:r>
            <a:endParaRPr b="0" lang="en-US" sz="1100" strike="noStrike" u="none">
              <a:solidFill>
                <a:srgbClr val="000000"/>
              </a:solidFill>
              <a:effectLst/>
              <a:uFillTx/>
              <a:latin typeface="Arial"/>
            </a:endParaRPr>
          </a:p>
        </p:txBody>
      </p:sp>
      <p:sp>
        <p:nvSpPr>
          <p:cNvPr id="85" name=""/>
          <p:cNvSpPr/>
          <p:nvPr/>
        </p:nvSpPr>
        <p:spPr>
          <a:xfrm>
            <a:off x="274320" y="1965960"/>
            <a:ext cx="4389480" cy="320400"/>
          </a:xfrm>
          <a:custGeom>
            <a:avLst/>
            <a:gdLst/>
            <a:ahLst/>
            <a:rect l="0" t="0" r="r" b="b"/>
            <a:pathLst>
              <a:path w="12193" h="890">
                <a:moveTo>
                  <a:pt x="0" y="0"/>
                </a:moveTo>
                <a:lnTo>
                  <a:pt x="12193" y="0"/>
                </a:lnTo>
                <a:lnTo>
                  <a:pt x="12193" y="890"/>
                </a:lnTo>
                <a:lnTo>
                  <a:pt x="0" y="890"/>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86" name=""/>
          <p:cNvSpPr txBox="1"/>
          <p:nvPr/>
        </p:nvSpPr>
        <p:spPr>
          <a:xfrm>
            <a:off x="320040" y="1965960"/>
            <a:ext cx="4297680" cy="320040"/>
          </a:xfrm>
          <a:prstGeom prst="rect">
            <a:avLst/>
          </a:prstGeom>
          <a:noFill/>
          <a:ln w="0">
            <a:noFill/>
          </a:ln>
        </p:spPr>
        <p:txBody>
          <a:bodyPr lIns="90000" rIns="90000" tIns="45000" bIns="45000" anchor="t">
            <a:spAutoFit/>
          </a:bodyPr>
          <a:p>
            <a:pPr algn="ctr"/>
            <a:r>
              <a:rPr b="1" lang="en-US" sz="1000" strike="noStrike" u="none">
                <a:solidFill>
                  <a:srgbClr val="ffffff"/>
                </a:solidFill>
                <a:effectLst/>
                <a:uFillTx/>
                <a:latin typeface="Arial-BoldMT"/>
                <a:ea typeface="Arial-BoldMT"/>
              </a:rPr>
              <a:t>DTA Prediction accelerates Hit Discovery &amp; Lead Optimization</a:t>
            </a:r>
            <a:endParaRPr b="0" lang="en-US" sz="1000" strike="noStrike" u="none">
              <a:solidFill>
                <a:srgbClr val="000000"/>
              </a:solidFill>
              <a:effectLst/>
              <a:uFillTx/>
              <a:latin typeface="Arial"/>
            </a:endParaRPr>
          </a:p>
        </p:txBody>
      </p:sp>
      <p:sp>
        <p:nvSpPr>
          <p:cNvPr id="87" name=""/>
          <p:cNvSpPr/>
          <p:nvPr/>
        </p:nvSpPr>
        <p:spPr>
          <a:xfrm>
            <a:off x="457200" y="2560320"/>
            <a:ext cx="8321400" cy="2194920"/>
          </a:xfrm>
          <a:custGeom>
            <a:avLst/>
            <a:gdLst/>
            <a:ahLst/>
            <a:rect l="0" t="0" r="r" b="b"/>
            <a:pathLst>
              <a:path w="23115" h="6097">
                <a:moveTo>
                  <a:pt x="0" y="0"/>
                </a:moveTo>
                <a:lnTo>
                  <a:pt x="23115" y="0"/>
                </a:lnTo>
                <a:lnTo>
                  <a:pt x="23115" y="6097"/>
                </a:lnTo>
                <a:lnTo>
                  <a:pt x="0" y="609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88" name=""/>
          <p:cNvSpPr txBox="1"/>
          <p:nvPr/>
        </p:nvSpPr>
        <p:spPr>
          <a:xfrm>
            <a:off x="640080" y="2651760"/>
            <a:ext cx="4572000" cy="351000"/>
          </a:xfrm>
          <a:prstGeom prst="rect">
            <a:avLst/>
          </a:prstGeom>
          <a:noFill/>
          <a:ln w="0">
            <a:noFill/>
          </a:ln>
        </p:spPr>
        <p:txBody>
          <a:bodyPr lIns="90000" rIns="90000" tIns="45000" bIns="45000" anchor="t">
            <a:spAutoFit/>
          </a:bodyPr>
          <a:p>
            <a:r>
              <a:rPr b="1" lang="en-US" sz="1500" strike="noStrike" u="none">
                <a:solidFill>
                  <a:srgbClr val="191e35"/>
                </a:solidFill>
                <a:effectLst/>
                <a:uFillTx/>
                <a:latin typeface="Arial-BoldMT"/>
                <a:ea typeface="Arial-BoldMT"/>
              </a:rPr>
              <a:t>Why Deep Learning for DTA?</a:t>
            </a:r>
            <a:endParaRPr b="0" lang="en-US" sz="1500" strike="noStrike" u="none">
              <a:solidFill>
                <a:srgbClr val="000000"/>
              </a:solidFill>
              <a:effectLst/>
              <a:uFillTx/>
              <a:latin typeface="Arial"/>
            </a:endParaRPr>
          </a:p>
        </p:txBody>
      </p:sp>
      <p:sp>
        <p:nvSpPr>
          <p:cNvPr id="89" name=""/>
          <p:cNvSpPr txBox="1"/>
          <p:nvPr/>
        </p:nvSpPr>
        <p:spPr>
          <a:xfrm>
            <a:off x="640080" y="3017520"/>
            <a:ext cx="7955280" cy="1371600"/>
          </a:xfrm>
          <a:prstGeom prst="rect">
            <a:avLst/>
          </a:prstGeom>
          <a:noFill/>
          <a:ln w="0">
            <a:noFill/>
          </a:ln>
        </p:spPr>
        <p:txBody>
          <a:bodyPr lIns="90000" rIns="90000" tIns="45000" bIns="45000" anchor="t">
            <a:spAutoFit/>
          </a:bodyPr>
          <a:p>
            <a:r>
              <a:rPr b="0" lang="en-US" sz="1100" strike="noStrike" u="none">
                <a:solidFill>
                  <a:srgbClr val="c62727"/>
                </a:solidFill>
                <a:effectLst/>
                <a:uFillTx/>
                <a:latin typeface="ArialMT"/>
                <a:ea typeface="ArialMT"/>
              </a:rPr>
              <a:t>Traditional: Molecular docking (hours/pair), physics-based scoring, requires 3D structures → slow, limited accuracy.</a:t>
            </a:r>
            <a:endParaRPr b="0" lang="en-US" sz="1100" strike="noStrike" u="none">
              <a:solidFill>
                <a:srgbClr val="000000"/>
              </a:solidFill>
              <a:effectLst/>
              <a:uFillTx/>
              <a:latin typeface="Arial"/>
            </a:endParaRPr>
          </a:p>
          <a:p>
            <a:r>
              <a:rPr b="0" lang="en-US" sz="1100" strike="noStrike" u="none">
                <a:solidFill>
                  <a:srgbClr val="2d7c31"/>
                </a:solidFill>
                <a:effectLst/>
                <a:uFillTx/>
                <a:latin typeface="ArialMT"/>
                <a:ea typeface="ArialMT"/>
              </a:rPr>
              <a:t>Deep Learning: Learn from data, milliseconds/prediction, handles diverse representations, captures non-linear patterns.</a:t>
            </a:r>
            <a:endParaRPr b="0" lang="en-US" sz="1100" strike="noStrike" u="none">
              <a:solidFill>
                <a:srgbClr val="000000"/>
              </a:solidFill>
              <a:effectLst/>
              <a:uFillTx/>
              <a:latin typeface="Arial"/>
            </a:endParaRPr>
          </a:p>
          <a:p>
            <a:r>
              <a:rPr b="1" lang="en-US" sz="1100" strike="noStrike" u="none">
                <a:solidFill>
                  <a:srgbClr val="191e35"/>
                </a:solidFill>
                <a:effectLst/>
                <a:uFillTx/>
                <a:latin typeface="Arial-BoldMT"/>
                <a:ea typeface="Arial-BoldMT"/>
              </a:rPr>
              <a:t>Our approach: Graph Transformers on molecular graphs + ESM protein embeddings + contrastive pretraining + cross-attention fusion.</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90"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Molecular Representations</a:t>
            </a:r>
            <a:endParaRPr b="0" lang="en-US" sz="2800" strike="noStrike" u="none">
              <a:solidFill>
                <a:srgbClr val="000000"/>
              </a:solidFill>
              <a:effectLst/>
              <a:uFillTx/>
              <a:latin typeface="Arial"/>
            </a:endParaRPr>
          </a:p>
        </p:txBody>
      </p:sp>
      <p:sp>
        <p:nvSpPr>
          <p:cNvPr id="91"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92"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How drugs and proteins are encoded for deep learning</a:t>
            </a:r>
            <a:endParaRPr b="0" lang="en-US" sz="1100" strike="noStrike" u="none">
              <a:solidFill>
                <a:srgbClr val="000000"/>
              </a:solidFill>
              <a:effectLst/>
              <a:uFillTx/>
              <a:latin typeface="Arial"/>
            </a:endParaRPr>
          </a:p>
        </p:txBody>
      </p:sp>
      <p:sp>
        <p:nvSpPr>
          <p:cNvPr id="93" name=""/>
          <p:cNvSpPr/>
          <p:nvPr/>
        </p:nvSpPr>
        <p:spPr>
          <a:xfrm>
            <a:off x="457200" y="1143000"/>
            <a:ext cx="3932280" cy="3475080"/>
          </a:xfrm>
          <a:custGeom>
            <a:avLst/>
            <a:gdLst/>
            <a:ahLst/>
            <a:rect l="0" t="0" r="r" b="b"/>
            <a:pathLst>
              <a:path w="10923" h="9653">
                <a:moveTo>
                  <a:pt x="0" y="0"/>
                </a:moveTo>
                <a:lnTo>
                  <a:pt x="10923" y="0"/>
                </a:lnTo>
                <a:lnTo>
                  <a:pt x="10923"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94" name=""/>
          <p:cNvSpPr/>
          <p:nvPr/>
        </p:nvSpPr>
        <p:spPr>
          <a:xfrm>
            <a:off x="45720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95" name=""/>
          <p:cNvSpPr txBox="1"/>
          <p:nvPr/>
        </p:nvSpPr>
        <p:spPr>
          <a:xfrm>
            <a:off x="640080" y="1234440"/>
            <a:ext cx="3200400" cy="332640"/>
          </a:xfrm>
          <a:prstGeom prst="rect">
            <a:avLst/>
          </a:prstGeom>
          <a:noFill/>
          <a:ln w="0">
            <a:noFill/>
          </a:ln>
        </p:spPr>
        <p:txBody>
          <a:bodyPr lIns="90000" rIns="90000" tIns="45000" bIns="45000" anchor="t">
            <a:spAutoFit/>
          </a:bodyPr>
          <a:p>
            <a:r>
              <a:rPr b="1" lang="en-US" sz="1400" strike="noStrike" u="none">
                <a:solidFill>
                  <a:srgbClr val="e65000"/>
                </a:solidFill>
                <a:effectLst/>
                <a:uFillTx/>
                <a:latin typeface="Arial-BoldMT"/>
                <a:ea typeface="Arial-BoldMT"/>
              </a:rPr>
              <a:t>Drug Representations</a:t>
            </a:r>
            <a:endParaRPr b="0" lang="en-US" sz="1400" strike="noStrike" u="none">
              <a:solidFill>
                <a:srgbClr val="000000"/>
              </a:solidFill>
              <a:effectLst/>
              <a:uFillTx/>
              <a:latin typeface="Arial"/>
            </a:endParaRPr>
          </a:p>
        </p:txBody>
      </p:sp>
      <p:sp>
        <p:nvSpPr>
          <p:cNvPr id="96" name=""/>
          <p:cNvSpPr txBox="1"/>
          <p:nvPr/>
        </p:nvSpPr>
        <p:spPr>
          <a:xfrm>
            <a:off x="640080" y="1554480"/>
            <a:ext cx="3566160" cy="2560320"/>
          </a:xfrm>
          <a:prstGeom prst="rect">
            <a:avLst/>
          </a:prstGeom>
          <a:noFill/>
          <a:ln w="0">
            <a:noFill/>
          </a:ln>
        </p:spPr>
        <p:txBody>
          <a:bodyPr lIns="90000" rIns="90000" tIns="45000" bIns="45000" anchor="t">
            <a:spAutoFit/>
          </a:bodyPr>
          <a:p>
            <a:r>
              <a:rPr b="1" lang="en-US" sz="1100" strike="noStrike" u="none">
                <a:solidFill>
                  <a:srgbClr val="f9a824"/>
                </a:solidFill>
                <a:effectLst/>
                <a:uFillTx/>
                <a:latin typeface="Arial-BoldMT"/>
                <a:ea typeface="Arial-BoldMT"/>
              </a:rPr>
              <a:t>1. SMILES String (1D text)</a:t>
            </a:r>
            <a:endParaRPr b="0" lang="en-US" sz="1100" strike="noStrike" u="none">
              <a:solidFill>
                <a:srgbClr val="000000"/>
              </a:solidFill>
              <a:effectLst/>
              <a:uFillTx/>
              <a:latin typeface="Arial"/>
            </a:endParaRPr>
          </a:p>
          <a:p>
            <a:r>
              <a:rPr b="0" lang="en-US" sz="1000" strike="noStrike" u="none">
                <a:solidFill>
                  <a:srgbClr val="77909c"/>
                </a:solidFill>
                <a:effectLst/>
                <a:uFillTx/>
                <a:latin typeface="ArialMT"/>
                <a:ea typeface="ArialMT"/>
              </a:rPr>
              <a:t>  Lossy — no 3D info</a:t>
            </a:r>
            <a:endParaRPr b="0" lang="en-US" sz="1000" strike="noStrike" u="none">
              <a:solidFill>
                <a:srgbClr val="000000"/>
              </a:solidFill>
              <a:effectLst/>
              <a:uFillTx/>
              <a:latin typeface="Arial"/>
            </a:endParaRPr>
          </a:p>
          <a:p>
            <a:r>
              <a:rPr b="1" lang="en-US" sz="1100" strike="noStrike" u="none">
                <a:solidFill>
                  <a:srgbClr val="f9a824"/>
                </a:solidFill>
                <a:effectLst/>
                <a:uFillTx/>
                <a:latin typeface="Arial-BoldMT"/>
                <a:ea typeface="Arial-BoldMT"/>
              </a:rPr>
              <a:t>2. Molecular Fingerprint (fixed vector)</a:t>
            </a:r>
            <a:endParaRPr b="0" lang="en-US" sz="1100" strike="noStrike" u="none">
              <a:solidFill>
                <a:srgbClr val="000000"/>
              </a:solidFill>
              <a:effectLst/>
              <a:uFillTx/>
              <a:latin typeface="Arial"/>
            </a:endParaRPr>
          </a:p>
          <a:p>
            <a:r>
              <a:rPr b="0" lang="en-US" sz="1000" strike="noStrike" u="none">
                <a:solidFill>
                  <a:srgbClr val="77909c"/>
                </a:solidFill>
                <a:effectLst/>
                <a:uFillTx/>
                <a:latin typeface="ArialMT"/>
                <a:ea typeface="ArialMT"/>
              </a:rPr>
              <a:t>  Hand-engineered, no learning</a:t>
            </a:r>
            <a:endParaRPr b="0" lang="en-US" sz="1000" strike="noStrike" u="none">
              <a:solidFill>
                <a:srgbClr val="000000"/>
              </a:solidFill>
              <a:effectLst/>
              <a:uFillTx/>
              <a:latin typeface="Arial"/>
            </a:endParaRPr>
          </a:p>
          <a:p>
            <a:r>
              <a:rPr b="1" lang="en-US" sz="1100" strike="noStrike" u="none">
                <a:solidFill>
                  <a:srgbClr val="2d7c31"/>
                </a:solidFill>
                <a:effectLst/>
                <a:uFillTx/>
                <a:latin typeface="Arial-BoldMT"/>
                <a:ea typeface="Arial-BoldMT"/>
              </a:rPr>
              <a:t>3. Molecular Graph (Our Approach) ✓</a:t>
            </a:r>
            <a:endParaRPr b="0" lang="en-US" sz="11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Atoms=nodes (44-dim), Bonds=edges (10-dim)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 Laplacian PE (8-dim) for topology</a:t>
            </a:r>
            <a:endParaRPr b="0" lang="en-US" sz="1000" strike="noStrike" u="none">
              <a:solidFill>
                <a:srgbClr val="000000"/>
              </a:solidFill>
              <a:effectLst/>
              <a:uFillTx/>
              <a:latin typeface="Arial"/>
            </a:endParaRPr>
          </a:p>
        </p:txBody>
      </p:sp>
      <p:sp>
        <p:nvSpPr>
          <p:cNvPr id="97" name=""/>
          <p:cNvSpPr/>
          <p:nvPr/>
        </p:nvSpPr>
        <p:spPr>
          <a:xfrm>
            <a:off x="4754880" y="1143000"/>
            <a:ext cx="4023720" cy="3475080"/>
          </a:xfrm>
          <a:custGeom>
            <a:avLst/>
            <a:gdLst/>
            <a:ahLst/>
            <a:rect l="0" t="0" r="r" b="b"/>
            <a:pathLst>
              <a:path w="11177" h="9653">
                <a:moveTo>
                  <a:pt x="0" y="0"/>
                </a:moveTo>
                <a:lnTo>
                  <a:pt x="11177" y="0"/>
                </a:lnTo>
                <a:lnTo>
                  <a:pt x="11177"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98" name=""/>
          <p:cNvSpPr/>
          <p:nvPr/>
        </p:nvSpPr>
        <p:spPr>
          <a:xfrm>
            <a:off x="475488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99" name=""/>
          <p:cNvSpPr txBox="1"/>
          <p:nvPr/>
        </p:nvSpPr>
        <p:spPr>
          <a:xfrm>
            <a:off x="4937760" y="1234440"/>
            <a:ext cx="3200400" cy="332640"/>
          </a:xfrm>
          <a:prstGeom prst="rect">
            <a:avLst/>
          </a:prstGeom>
          <a:noFill/>
          <a:ln w="0">
            <a:noFill/>
          </a:ln>
        </p:spPr>
        <p:txBody>
          <a:bodyPr lIns="90000" rIns="90000" tIns="45000" bIns="45000" anchor="t">
            <a:spAutoFit/>
          </a:bodyPr>
          <a:p>
            <a:r>
              <a:rPr b="1" lang="en-US" sz="1400" strike="noStrike" u="none">
                <a:solidFill>
                  <a:srgbClr val="00897a"/>
                </a:solidFill>
                <a:effectLst/>
                <a:uFillTx/>
                <a:latin typeface="Arial-BoldMT"/>
                <a:ea typeface="Arial-BoldMT"/>
              </a:rPr>
              <a:t>Protein Representations</a:t>
            </a:r>
            <a:endParaRPr b="0" lang="en-US" sz="1400" strike="noStrike" u="none">
              <a:solidFill>
                <a:srgbClr val="000000"/>
              </a:solidFill>
              <a:effectLst/>
              <a:uFillTx/>
              <a:latin typeface="Arial"/>
            </a:endParaRPr>
          </a:p>
        </p:txBody>
      </p:sp>
      <p:sp>
        <p:nvSpPr>
          <p:cNvPr id="100" name=""/>
          <p:cNvSpPr txBox="1"/>
          <p:nvPr/>
        </p:nvSpPr>
        <p:spPr>
          <a:xfrm>
            <a:off x="4937760" y="1554480"/>
            <a:ext cx="3657600" cy="2560320"/>
          </a:xfrm>
          <a:prstGeom prst="rect">
            <a:avLst/>
          </a:prstGeom>
          <a:noFill/>
          <a:ln w="0">
            <a:noFill/>
          </a:ln>
        </p:spPr>
        <p:txBody>
          <a:bodyPr lIns="90000" rIns="90000" tIns="45000" bIns="45000" anchor="t">
            <a:spAutoFit/>
          </a:bodyPr>
          <a:p>
            <a:r>
              <a:rPr b="1" lang="en-US" sz="1100" strike="noStrike" u="none">
                <a:solidFill>
                  <a:srgbClr val="00bcd4"/>
                </a:solidFill>
                <a:effectLst/>
                <a:uFillTx/>
                <a:latin typeface="Arial-BoldMT"/>
                <a:ea typeface="Arial-BoldMT"/>
              </a:rPr>
              <a:t>1. Amino Acid Sequence (1D string)</a:t>
            </a:r>
            <a:endParaRPr b="0" lang="en-US" sz="1100" strike="noStrike" u="none">
              <a:solidFill>
                <a:srgbClr val="000000"/>
              </a:solidFill>
              <a:effectLst/>
              <a:uFillTx/>
              <a:latin typeface="Arial"/>
            </a:endParaRPr>
          </a:p>
          <a:p>
            <a:r>
              <a:rPr b="0" lang="en-US" sz="1000" strike="noStrike" u="none">
                <a:solidFill>
                  <a:srgbClr val="77909c"/>
                </a:solidFill>
                <a:effectLst/>
                <a:uFillTx/>
                <a:latin typeface="ArialMT"/>
                <a:ea typeface="ArialMT"/>
              </a:rPr>
              <a:t>  No structure info</a:t>
            </a:r>
            <a:endParaRPr b="0" lang="en-US" sz="1000" strike="noStrike" u="none">
              <a:solidFill>
                <a:srgbClr val="000000"/>
              </a:solidFill>
              <a:effectLst/>
              <a:uFillTx/>
              <a:latin typeface="Arial"/>
            </a:endParaRPr>
          </a:p>
          <a:p>
            <a:r>
              <a:rPr b="1" lang="en-US" sz="1100" strike="noStrike" u="none">
                <a:solidFill>
                  <a:srgbClr val="00bcd4"/>
                </a:solidFill>
                <a:effectLst/>
                <a:uFillTx/>
                <a:latin typeface="Arial-BoldMT"/>
                <a:ea typeface="Arial-BoldMT"/>
              </a:rPr>
              <a:t>2. ESM-2 Embedding (pretrained LM)</a:t>
            </a:r>
            <a:endParaRPr b="0" lang="en-US" sz="11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 × 320] evolutionary + functional info</a:t>
            </a:r>
            <a:endParaRPr b="0" lang="en-US" sz="1000" strike="noStrike" u="none">
              <a:solidFill>
                <a:srgbClr val="000000"/>
              </a:solidFill>
              <a:effectLst/>
              <a:uFillTx/>
              <a:latin typeface="Arial"/>
            </a:endParaRPr>
          </a:p>
          <a:p>
            <a:r>
              <a:rPr b="1" lang="en-US" sz="1100" strike="noStrike" u="none">
                <a:solidFill>
                  <a:srgbClr val="2d7c31"/>
                </a:solidFill>
                <a:effectLst/>
                <a:uFillTx/>
                <a:latin typeface="Arial-BoldMT"/>
                <a:ea typeface="Arial-BoldMT"/>
              </a:rPr>
              <a:t>3. Contact Graph (Our Approach) ✓</a:t>
            </a:r>
            <a:endParaRPr b="0" lang="en-US" sz="11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Residues=nodes (41-dim), Contacts=edges (5-dim)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PconsC4 + AlphaFold2 + ESM-2 + Lap PE</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02"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2</a:t>
            </a:r>
            <a:endParaRPr b="0" lang="en-US" sz="2400" strike="noStrike" u="none">
              <a:solidFill>
                <a:srgbClr val="000000"/>
              </a:solidFill>
              <a:effectLst/>
              <a:uFillTx/>
              <a:latin typeface="Arial"/>
            </a:endParaRPr>
          </a:p>
        </p:txBody>
      </p:sp>
      <p:sp>
        <p:nvSpPr>
          <p:cNvPr id="103"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Motivation &amp; Challenges</a:t>
            </a:r>
            <a:endParaRPr b="0" lang="en-US" sz="3200" strike="noStrike" u="none">
              <a:solidFill>
                <a:srgbClr val="000000"/>
              </a:solidFill>
              <a:effectLst/>
              <a:uFillTx/>
              <a:latin typeface="Arial"/>
            </a:endParaRPr>
          </a:p>
        </p:txBody>
      </p:sp>
      <p:sp>
        <p:nvSpPr>
          <p:cNvPr id="104"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105"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Why existing methods fall short for real-world drug discovery</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106"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The Cold-Start Problem</a:t>
            </a:r>
            <a:endParaRPr b="0" lang="en-US" sz="2800" strike="noStrike" u="none">
              <a:solidFill>
                <a:srgbClr val="000000"/>
              </a:solidFill>
              <a:effectLst/>
              <a:uFillTx/>
              <a:latin typeface="Arial"/>
            </a:endParaRPr>
          </a:p>
        </p:txBody>
      </p:sp>
      <p:sp>
        <p:nvSpPr>
          <p:cNvPr id="107"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108"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The critical challenge for deploying DTA models in real drug discovery</a:t>
            </a:r>
            <a:endParaRPr b="0" lang="en-US" sz="1100" strike="noStrike" u="none">
              <a:solidFill>
                <a:srgbClr val="000000"/>
              </a:solidFill>
              <a:effectLst/>
              <a:uFillTx/>
              <a:latin typeface="Arial"/>
            </a:endParaRPr>
          </a:p>
        </p:txBody>
      </p:sp>
      <p:sp>
        <p:nvSpPr>
          <p:cNvPr id="109" name=""/>
          <p:cNvSpPr/>
          <p:nvPr/>
        </p:nvSpPr>
        <p:spPr>
          <a:xfrm>
            <a:off x="457200" y="1143000"/>
            <a:ext cx="8321400" cy="1097640"/>
          </a:xfrm>
          <a:custGeom>
            <a:avLst/>
            <a:gdLst/>
            <a:ahLst/>
            <a:rect l="0" t="0" r="r" b="b"/>
            <a:pathLst>
              <a:path w="23115" h="3049">
                <a:moveTo>
                  <a:pt x="0" y="0"/>
                </a:moveTo>
                <a:lnTo>
                  <a:pt x="23115" y="0"/>
                </a:lnTo>
                <a:lnTo>
                  <a:pt x="23115" y="3049"/>
                </a:lnTo>
                <a:lnTo>
                  <a:pt x="0" y="3049"/>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10" name=""/>
          <p:cNvSpPr/>
          <p:nvPr/>
        </p:nvSpPr>
        <p:spPr>
          <a:xfrm>
            <a:off x="457200" y="1143000"/>
            <a:ext cx="46080" cy="1097640"/>
          </a:xfrm>
          <a:custGeom>
            <a:avLst/>
            <a:gdLst/>
            <a:ahLst/>
            <a:rect l="0" t="0" r="r" b="b"/>
            <a:pathLst>
              <a:path w="128" h="3049">
                <a:moveTo>
                  <a:pt x="0" y="0"/>
                </a:moveTo>
                <a:lnTo>
                  <a:pt x="128" y="0"/>
                </a:lnTo>
                <a:lnTo>
                  <a:pt x="128" y="3049"/>
                </a:lnTo>
                <a:lnTo>
                  <a:pt x="0" y="3049"/>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111" name=""/>
          <p:cNvSpPr txBox="1"/>
          <p:nvPr/>
        </p:nvSpPr>
        <p:spPr>
          <a:xfrm>
            <a:off x="640080" y="1234440"/>
            <a:ext cx="7955280" cy="822960"/>
          </a:xfrm>
          <a:prstGeom prst="rect">
            <a:avLst/>
          </a:prstGeom>
          <a:noFill/>
          <a:ln w="0">
            <a:noFill/>
          </a:ln>
        </p:spPr>
        <p:txBody>
          <a:bodyPr lIns="90000" rIns="90000" tIns="45000" bIns="45000" anchor="t">
            <a:spAutoFit/>
          </a:bodyPr>
          <a:p>
            <a:r>
              <a:rPr b="0" lang="en-US" sz="1200" strike="noStrike" u="none">
                <a:solidFill>
                  <a:srgbClr val="536d79"/>
                </a:solidFill>
                <a:effectLst/>
                <a:uFillTx/>
                <a:latin typeface="ArialMT"/>
                <a:ea typeface="ArialMT"/>
              </a:rPr>
              <a:t>In real-world drug discovery, we must predict affinities for entirely novel drugs or proteins never seen during training. Most ML models memorize training pairs and fail on novel entities.</a:t>
            </a:r>
            <a:endParaRPr b="0" lang="en-US" sz="1200" strike="noStrike" u="none">
              <a:solidFill>
                <a:srgbClr val="000000"/>
              </a:solidFill>
              <a:effectLst/>
              <a:uFillTx/>
              <a:latin typeface="Arial"/>
            </a:endParaRPr>
          </a:p>
        </p:txBody>
      </p:sp>
      <p:sp>
        <p:nvSpPr>
          <p:cNvPr id="112" name=""/>
          <p:cNvSpPr/>
          <p:nvPr/>
        </p:nvSpPr>
        <p:spPr>
          <a:xfrm>
            <a:off x="457200" y="2468880"/>
            <a:ext cx="2652120" cy="2194920"/>
          </a:xfrm>
          <a:custGeom>
            <a:avLst/>
            <a:gdLst/>
            <a:ahLst/>
            <a:rect l="0" t="0" r="r" b="b"/>
            <a:pathLst>
              <a:path w="7367" h="6097">
                <a:moveTo>
                  <a:pt x="0" y="0"/>
                </a:moveTo>
                <a:lnTo>
                  <a:pt x="7367" y="0"/>
                </a:lnTo>
                <a:lnTo>
                  <a:pt x="7367" y="6097"/>
                </a:lnTo>
                <a:lnTo>
                  <a:pt x="0" y="609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13" name=""/>
          <p:cNvSpPr/>
          <p:nvPr/>
        </p:nvSpPr>
        <p:spPr>
          <a:xfrm>
            <a:off x="457200" y="2468880"/>
            <a:ext cx="46080" cy="2194920"/>
          </a:xfrm>
          <a:custGeom>
            <a:avLst/>
            <a:gdLst/>
            <a:ahLst/>
            <a:rect l="0" t="0" r="r" b="b"/>
            <a:pathLst>
              <a:path w="128" h="6097">
                <a:moveTo>
                  <a:pt x="0" y="0"/>
                </a:moveTo>
                <a:lnTo>
                  <a:pt x="128" y="0"/>
                </a:lnTo>
                <a:lnTo>
                  <a:pt x="128" y="6097"/>
                </a:lnTo>
                <a:lnTo>
                  <a:pt x="0" y="6097"/>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114" name=""/>
          <p:cNvSpPr txBox="1"/>
          <p:nvPr/>
        </p:nvSpPr>
        <p:spPr>
          <a:xfrm>
            <a:off x="640080" y="2560320"/>
            <a:ext cx="2286000" cy="351000"/>
          </a:xfrm>
          <a:prstGeom prst="rect">
            <a:avLst/>
          </a:prstGeom>
          <a:noFill/>
          <a:ln w="0">
            <a:noFill/>
          </a:ln>
        </p:spPr>
        <p:txBody>
          <a:bodyPr lIns="90000" rIns="90000" tIns="45000" bIns="45000" anchor="t">
            <a:spAutoFit/>
          </a:bodyPr>
          <a:p>
            <a:r>
              <a:rPr b="1" lang="en-US" sz="1500" strike="noStrike" u="none">
                <a:solidFill>
                  <a:srgbClr val="e65000"/>
                </a:solidFill>
                <a:effectLst/>
                <a:uFillTx/>
                <a:latin typeface="Arial-BoldMT"/>
                <a:ea typeface="Arial-BoldMT"/>
              </a:rPr>
              <a:t>Cold-Drug</a:t>
            </a:r>
            <a:endParaRPr b="0" lang="en-US" sz="1500" strike="noStrike" u="none">
              <a:solidFill>
                <a:srgbClr val="000000"/>
              </a:solidFill>
              <a:effectLst/>
              <a:uFillTx/>
              <a:latin typeface="Arial"/>
            </a:endParaRPr>
          </a:p>
        </p:txBody>
      </p:sp>
      <p:sp>
        <p:nvSpPr>
          <p:cNvPr id="115" name=""/>
          <p:cNvSpPr txBox="1"/>
          <p:nvPr/>
        </p:nvSpPr>
        <p:spPr>
          <a:xfrm>
            <a:off x="640080" y="2926080"/>
            <a:ext cx="2286000" cy="91440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Novel drug, known proteins</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Screening new candidates</a:t>
            </a:r>
            <a:endParaRPr b="0" lang="en-US" sz="1100" strike="noStrike" u="none">
              <a:solidFill>
                <a:srgbClr val="000000"/>
              </a:solidFill>
              <a:effectLst/>
              <a:uFillTx/>
              <a:latin typeface="Arial"/>
            </a:endParaRPr>
          </a:p>
        </p:txBody>
      </p:sp>
      <p:sp>
        <p:nvSpPr>
          <p:cNvPr id="116" name=""/>
          <p:cNvSpPr/>
          <p:nvPr/>
        </p:nvSpPr>
        <p:spPr>
          <a:xfrm>
            <a:off x="3291840" y="2468880"/>
            <a:ext cx="2652120" cy="2194920"/>
          </a:xfrm>
          <a:custGeom>
            <a:avLst/>
            <a:gdLst/>
            <a:ahLst/>
            <a:rect l="0" t="0" r="r" b="b"/>
            <a:pathLst>
              <a:path w="7367" h="6097">
                <a:moveTo>
                  <a:pt x="0" y="0"/>
                </a:moveTo>
                <a:lnTo>
                  <a:pt x="7367" y="0"/>
                </a:lnTo>
                <a:lnTo>
                  <a:pt x="7367" y="6097"/>
                </a:lnTo>
                <a:lnTo>
                  <a:pt x="0" y="609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17" name=""/>
          <p:cNvSpPr/>
          <p:nvPr/>
        </p:nvSpPr>
        <p:spPr>
          <a:xfrm>
            <a:off x="3291840" y="2468880"/>
            <a:ext cx="46080" cy="2194920"/>
          </a:xfrm>
          <a:custGeom>
            <a:avLst/>
            <a:gdLst/>
            <a:ahLst/>
            <a:rect l="0" t="0" r="r" b="b"/>
            <a:pathLst>
              <a:path w="128" h="6097">
                <a:moveTo>
                  <a:pt x="0" y="0"/>
                </a:moveTo>
                <a:lnTo>
                  <a:pt x="128" y="0"/>
                </a:lnTo>
                <a:lnTo>
                  <a:pt x="128" y="6097"/>
                </a:lnTo>
                <a:lnTo>
                  <a:pt x="0" y="6097"/>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118" name=""/>
          <p:cNvSpPr txBox="1"/>
          <p:nvPr/>
        </p:nvSpPr>
        <p:spPr>
          <a:xfrm>
            <a:off x="3474720" y="2560320"/>
            <a:ext cx="2286000" cy="351000"/>
          </a:xfrm>
          <a:prstGeom prst="rect">
            <a:avLst/>
          </a:prstGeom>
          <a:noFill/>
          <a:ln w="0">
            <a:noFill/>
          </a:ln>
        </p:spPr>
        <p:txBody>
          <a:bodyPr lIns="90000" rIns="90000" tIns="45000" bIns="45000" anchor="t">
            <a:spAutoFit/>
          </a:bodyPr>
          <a:p>
            <a:r>
              <a:rPr b="1" lang="en-US" sz="1500" strike="noStrike" u="none">
                <a:solidFill>
                  <a:srgbClr val="00897a"/>
                </a:solidFill>
                <a:effectLst/>
                <a:uFillTx/>
                <a:latin typeface="Arial-BoldMT"/>
                <a:ea typeface="Arial-BoldMT"/>
              </a:rPr>
              <a:t>Cold-Protein</a:t>
            </a:r>
            <a:endParaRPr b="0" lang="en-US" sz="1500" strike="noStrike" u="none">
              <a:solidFill>
                <a:srgbClr val="000000"/>
              </a:solidFill>
              <a:effectLst/>
              <a:uFillTx/>
              <a:latin typeface="Arial"/>
            </a:endParaRPr>
          </a:p>
        </p:txBody>
      </p:sp>
      <p:sp>
        <p:nvSpPr>
          <p:cNvPr id="119" name=""/>
          <p:cNvSpPr txBox="1"/>
          <p:nvPr/>
        </p:nvSpPr>
        <p:spPr>
          <a:xfrm>
            <a:off x="3474720" y="2926080"/>
            <a:ext cx="2286000" cy="91440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Known drugs, novel protein</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New target assessment</a:t>
            </a:r>
            <a:endParaRPr b="0" lang="en-US" sz="1100" strike="noStrike" u="none">
              <a:solidFill>
                <a:srgbClr val="000000"/>
              </a:solidFill>
              <a:effectLst/>
              <a:uFillTx/>
              <a:latin typeface="Arial"/>
            </a:endParaRPr>
          </a:p>
        </p:txBody>
      </p:sp>
      <p:sp>
        <p:nvSpPr>
          <p:cNvPr id="120" name=""/>
          <p:cNvSpPr/>
          <p:nvPr/>
        </p:nvSpPr>
        <p:spPr>
          <a:xfrm>
            <a:off x="6126480" y="2468880"/>
            <a:ext cx="2652120" cy="2194920"/>
          </a:xfrm>
          <a:custGeom>
            <a:avLst/>
            <a:gdLst/>
            <a:ahLst/>
            <a:rect l="0" t="0" r="r" b="b"/>
            <a:pathLst>
              <a:path w="7367" h="6097">
                <a:moveTo>
                  <a:pt x="0" y="0"/>
                </a:moveTo>
                <a:lnTo>
                  <a:pt x="7367" y="0"/>
                </a:lnTo>
                <a:lnTo>
                  <a:pt x="7367" y="6097"/>
                </a:lnTo>
                <a:lnTo>
                  <a:pt x="0" y="609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21" name=""/>
          <p:cNvSpPr/>
          <p:nvPr/>
        </p:nvSpPr>
        <p:spPr>
          <a:xfrm>
            <a:off x="6126480" y="2468880"/>
            <a:ext cx="46080" cy="2194920"/>
          </a:xfrm>
          <a:custGeom>
            <a:avLst/>
            <a:gdLst/>
            <a:ahLst/>
            <a:rect l="0" t="0" r="r" b="b"/>
            <a:pathLst>
              <a:path w="128" h="6097">
                <a:moveTo>
                  <a:pt x="0" y="0"/>
                </a:moveTo>
                <a:lnTo>
                  <a:pt x="128" y="0"/>
                </a:lnTo>
                <a:lnTo>
                  <a:pt x="128" y="6097"/>
                </a:lnTo>
                <a:lnTo>
                  <a:pt x="0" y="6097"/>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122" name=""/>
          <p:cNvSpPr txBox="1"/>
          <p:nvPr/>
        </p:nvSpPr>
        <p:spPr>
          <a:xfrm>
            <a:off x="6309360" y="2560320"/>
            <a:ext cx="2286000" cy="351000"/>
          </a:xfrm>
          <a:prstGeom prst="rect">
            <a:avLst/>
          </a:prstGeom>
          <a:noFill/>
          <a:ln w="0">
            <a:noFill/>
          </a:ln>
        </p:spPr>
        <p:txBody>
          <a:bodyPr lIns="90000" rIns="90000" tIns="45000" bIns="45000" anchor="t">
            <a:spAutoFit/>
          </a:bodyPr>
          <a:p>
            <a:r>
              <a:rPr b="1" lang="en-US" sz="1500" strike="noStrike" u="none">
                <a:solidFill>
                  <a:srgbClr val="c62727"/>
                </a:solidFill>
                <a:effectLst/>
                <a:uFillTx/>
                <a:latin typeface="Arial-BoldMT"/>
                <a:ea typeface="Arial-BoldMT"/>
              </a:rPr>
              <a:t>Cold-Both</a:t>
            </a:r>
            <a:endParaRPr b="0" lang="en-US" sz="1500" strike="noStrike" u="none">
              <a:solidFill>
                <a:srgbClr val="000000"/>
              </a:solidFill>
              <a:effectLst/>
              <a:uFillTx/>
              <a:latin typeface="Arial"/>
            </a:endParaRPr>
          </a:p>
        </p:txBody>
      </p:sp>
      <p:sp>
        <p:nvSpPr>
          <p:cNvPr id="123" name=""/>
          <p:cNvSpPr txBox="1"/>
          <p:nvPr/>
        </p:nvSpPr>
        <p:spPr>
          <a:xfrm>
            <a:off x="6309360" y="2926080"/>
            <a:ext cx="2286000" cy="91440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Both novel — hardest</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Real-world drug discovery</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124"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Motivation: Why Current Methods Fail</a:t>
            </a:r>
            <a:endParaRPr b="0" lang="en-US" sz="2800" strike="noStrike" u="none">
              <a:solidFill>
                <a:srgbClr val="000000"/>
              </a:solidFill>
              <a:effectLst/>
              <a:uFillTx/>
              <a:latin typeface="Arial"/>
            </a:endParaRPr>
          </a:p>
        </p:txBody>
      </p:sp>
      <p:sp>
        <p:nvSpPr>
          <p:cNvPr id="125"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126" name=""/>
          <p:cNvSpPr/>
          <p:nvPr/>
        </p:nvSpPr>
        <p:spPr>
          <a:xfrm>
            <a:off x="457200" y="118872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27" name=""/>
          <p:cNvSpPr/>
          <p:nvPr/>
        </p:nvSpPr>
        <p:spPr>
          <a:xfrm>
            <a:off x="457200" y="118872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128" name="" descr=""/>
          <p:cNvPicPr/>
          <p:nvPr/>
        </p:nvPicPr>
        <p:blipFill>
          <a:blip r:embed="rId1"/>
          <a:stretch/>
        </p:blipFill>
        <p:spPr>
          <a:xfrm>
            <a:off x="640080" y="1325880"/>
            <a:ext cx="320040" cy="320040"/>
          </a:xfrm>
          <a:prstGeom prst="rect">
            <a:avLst/>
          </a:prstGeom>
          <a:noFill/>
          <a:ln w="0">
            <a:noFill/>
          </a:ln>
        </p:spPr>
      </p:pic>
      <p:sp>
        <p:nvSpPr>
          <p:cNvPr id="129" name=""/>
          <p:cNvSpPr txBox="1"/>
          <p:nvPr/>
        </p:nvSpPr>
        <p:spPr>
          <a:xfrm>
            <a:off x="1097280" y="1234440"/>
            <a:ext cx="3200400" cy="314280"/>
          </a:xfrm>
          <a:prstGeom prst="rect">
            <a:avLst/>
          </a:prstGeom>
          <a:noFill/>
          <a:ln w="0">
            <a:noFill/>
          </a:ln>
        </p:spPr>
        <p:txBody>
          <a:bodyPr lIns="90000" rIns="90000" tIns="45000" bIns="45000" anchor="t">
            <a:spAutoFit/>
          </a:bodyPr>
          <a:p>
            <a:r>
              <a:rPr b="1" lang="en-US" sz="1300" strike="noStrike" u="none">
                <a:solidFill>
                  <a:srgbClr val="e65000"/>
                </a:solidFill>
                <a:effectLst/>
                <a:uFillTx/>
                <a:latin typeface="Arial-BoldMT"/>
                <a:ea typeface="Arial-BoldMT"/>
              </a:rPr>
              <a:t>Cold-Start Problem</a:t>
            </a:r>
            <a:endParaRPr b="0" lang="en-US" sz="1300" strike="noStrike" u="none">
              <a:solidFill>
                <a:srgbClr val="000000"/>
              </a:solidFill>
              <a:effectLst/>
              <a:uFillTx/>
              <a:latin typeface="Arial"/>
            </a:endParaRPr>
          </a:p>
        </p:txBody>
      </p:sp>
      <p:sp>
        <p:nvSpPr>
          <p:cNvPr id="130" name=""/>
          <p:cNvSpPr txBox="1"/>
          <p:nvPr/>
        </p:nvSpPr>
        <p:spPr>
          <a:xfrm>
            <a:off x="1097280" y="148140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Most models memorize training drug-protein pairs. They fail when encountering novel entities at inference.</a:t>
            </a:r>
            <a:endParaRPr b="0" lang="en-US" sz="1000" strike="noStrike" u="none">
              <a:solidFill>
                <a:srgbClr val="000000"/>
              </a:solidFill>
              <a:effectLst/>
              <a:uFillTx/>
              <a:latin typeface="Arial"/>
            </a:endParaRPr>
          </a:p>
        </p:txBody>
      </p:sp>
      <p:sp>
        <p:nvSpPr>
          <p:cNvPr id="131" name=""/>
          <p:cNvSpPr/>
          <p:nvPr/>
        </p:nvSpPr>
        <p:spPr>
          <a:xfrm>
            <a:off x="457200" y="210312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32" name=""/>
          <p:cNvSpPr/>
          <p:nvPr/>
        </p:nvSpPr>
        <p:spPr>
          <a:xfrm>
            <a:off x="457200" y="210312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133" name="" descr=""/>
          <p:cNvPicPr/>
          <p:nvPr/>
        </p:nvPicPr>
        <p:blipFill>
          <a:blip r:embed="rId2"/>
          <a:stretch/>
        </p:blipFill>
        <p:spPr>
          <a:xfrm>
            <a:off x="640080" y="2240280"/>
            <a:ext cx="320040" cy="320040"/>
          </a:xfrm>
          <a:prstGeom prst="rect">
            <a:avLst/>
          </a:prstGeom>
          <a:noFill/>
          <a:ln w="0">
            <a:noFill/>
          </a:ln>
        </p:spPr>
      </p:pic>
      <p:sp>
        <p:nvSpPr>
          <p:cNvPr id="134" name=""/>
          <p:cNvSpPr txBox="1"/>
          <p:nvPr/>
        </p:nvSpPr>
        <p:spPr>
          <a:xfrm>
            <a:off x="1097280" y="2148840"/>
            <a:ext cx="3200400" cy="314280"/>
          </a:xfrm>
          <a:prstGeom prst="rect">
            <a:avLst/>
          </a:prstGeom>
          <a:noFill/>
          <a:ln w="0">
            <a:noFill/>
          </a:ln>
        </p:spPr>
        <p:txBody>
          <a:bodyPr lIns="90000" rIns="90000" tIns="45000" bIns="45000" anchor="t">
            <a:spAutoFit/>
          </a:bodyPr>
          <a:p>
            <a:r>
              <a:rPr b="1" lang="en-US" sz="1300" strike="noStrike" u="none">
                <a:solidFill>
                  <a:srgbClr val="e65000"/>
                </a:solidFill>
                <a:effectLst/>
                <a:uFillTx/>
                <a:latin typeface="Arial-BoldMT"/>
                <a:ea typeface="Arial-BoldMT"/>
              </a:rPr>
              <a:t>Limited Generalization</a:t>
            </a:r>
            <a:endParaRPr b="0" lang="en-US" sz="1300" strike="noStrike" u="none">
              <a:solidFill>
                <a:srgbClr val="000000"/>
              </a:solidFill>
              <a:effectLst/>
              <a:uFillTx/>
              <a:latin typeface="Arial"/>
            </a:endParaRPr>
          </a:p>
        </p:txBody>
      </p:sp>
      <p:sp>
        <p:nvSpPr>
          <p:cNvPr id="135" name=""/>
          <p:cNvSpPr txBox="1"/>
          <p:nvPr/>
        </p:nvSpPr>
        <p:spPr>
          <a:xfrm>
            <a:off x="1097280" y="239580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Sequence-based methods miss 3D info. Simple GNNs lack expressiveness for complex binding interactions.</a:t>
            </a:r>
            <a:endParaRPr b="0" lang="en-US" sz="1000" strike="noStrike" u="none">
              <a:solidFill>
                <a:srgbClr val="000000"/>
              </a:solidFill>
              <a:effectLst/>
              <a:uFillTx/>
              <a:latin typeface="Arial"/>
            </a:endParaRPr>
          </a:p>
        </p:txBody>
      </p:sp>
      <p:sp>
        <p:nvSpPr>
          <p:cNvPr id="136" name=""/>
          <p:cNvSpPr/>
          <p:nvPr/>
        </p:nvSpPr>
        <p:spPr>
          <a:xfrm>
            <a:off x="457200" y="301752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37" name=""/>
          <p:cNvSpPr/>
          <p:nvPr/>
        </p:nvSpPr>
        <p:spPr>
          <a:xfrm>
            <a:off x="457200" y="301752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pic>
        <p:nvPicPr>
          <p:cNvPr id="138" name="" descr=""/>
          <p:cNvPicPr/>
          <p:nvPr/>
        </p:nvPicPr>
        <p:blipFill>
          <a:blip r:embed="rId3"/>
          <a:stretch/>
        </p:blipFill>
        <p:spPr>
          <a:xfrm>
            <a:off x="640080" y="3154680"/>
            <a:ext cx="320040" cy="320040"/>
          </a:xfrm>
          <a:prstGeom prst="rect">
            <a:avLst/>
          </a:prstGeom>
          <a:noFill/>
          <a:ln w="0">
            <a:noFill/>
          </a:ln>
        </p:spPr>
      </p:pic>
      <p:sp>
        <p:nvSpPr>
          <p:cNvPr id="139" name=""/>
          <p:cNvSpPr txBox="1"/>
          <p:nvPr/>
        </p:nvSpPr>
        <p:spPr>
          <a:xfrm>
            <a:off x="1097280" y="3063240"/>
            <a:ext cx="3200400" cy="314280"/>
          </a:xfrm>
          <a:prstGeom prst="rect">
            <a:avLst/>
          </a:prstGeom>
          <a:noFill/>
          <a:ln w="0">
            <a:noFill/>
          </a:ln>
        </p:spPr>
        <p:txBody>
          <a:bodyPr lIns="90000" rIns="90000" tIns="45000" bIns="45000" anchor="t">
            <a:spAutoFit/>
          </a:bodyPr>
          <a:p>
            <a:r>
              <a:rPr b="1" lang="en-US" sz="1300" strike="noStrike" u="none">
                <a:solidFill>
                  <a:srgbClr val="f9a824"/>
                </a:solidFill>
                <a:effectLst/>
                <a:uFillTx/>
                <a:latin typeface="Arial-BoldMT"/>
                <a:ea typeface="Arial-BoldMT"/>
              </a:rPr>
              <a:t>Representation Gap</a:t>
            </a:r>
            <a:endParaRPr b="0" lang="en-US" sz="1300" strike="noStrike" u="none">
              <a:solidFill>
                <a:srgbClr val="000000"/>
              </a:solidFill>
              <a:effectLst/>
              <a:uFillTx/>
              <a:latin typeface="Arial"/>
            </a:endParaRPr>
          </a:p>
        </p:txBody>
      </p:sp>
      <p:sp>
        <p:nvSpPr>
          <p:cNvPr id="140" name=""/>
          <p:cNvSpPr txBox="1"/>
          <p:nvPr/>
        </p:nvSpPr>
        <p:spPr>
          <a:xfrm>
            <a:off x="1097280" y="331020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Drugs and proteins exist in fundamentally different feature spaces. Effective multi-modal fusion is critical.</a:t>
            </a:r>
            <a:endParaRPr b="0" lang="en-US" sz="1000" strike="noStrike" u="none">
              <a:solidFill>
                <a:srgbClr val="000000"/>
              </a:solidFill>
              <a:effectLst/>
              <a:uFillTx/>
              <a:latin typeface="Arial"/>
            </a:endParaRPr>
          </a:p>
        </p:txBody>
      </p:sp>
      <p:sp>
        <p:nvSpPr>
          <p:cNvPr id="141" name=""/>
          <p:cNvSpPr/>
          <p:nvPr/>
        </p:nvSpPr>
        <p:spPr>
          <a:xfrm>
            <a:off x="457200" y="393192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42" name=""/>
          <p:cNvSpPr/>
          <p:nvPr/>
        </p:nvSpPr>
        <p:spPr>
          <a:xfrm>
            <a:off x="457200" y="393192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143" name="" descr=""/>
          <p:cNvPicPr/>
          <p:nvPr/>
        </p:nvPicPr>
        <p:blipFill>
          <a:blip r:embed="rId4"/>
          <a:stretch/>
        </p:blipFill>
        <p:spPr>
          <a:xfrm>
            <a:off x="640080" y="4069080"/>
            <a:ext cx="320040" cy="320040"/>
          </a:xfrm>
          <a:prstGeom prst="rect">
            <a:avLst/>
          </a:prstGeom>
          <a:noFill/>
          <a:ln w="0">
            <a:noFill/>
          </a:ln>
        </p:spPr>
      </p:pic>
      <p:sp>
        <p:nvSpPr>
          <p:cNvPr id="144" name=""/>
          <p:cNvSpPr txBox="1"/>
          <p:nvPr/>
        </p:nvSpPr>
        <p:spPr>
          <a:xfrm>
            <a:off x="1097280" y="3977640"/>
            <a:ext cx="3200400" cy="314280"/>
          </a:xfrm>
          <a:prstGeom prst="rect">
            <a:avLst/>
          </a:prstGeom>
          <a:noFill/>
          <a:ln w="0">
            <a:noFill/>
          </a:ln>
        </p:spPr>
        <p:txBody>
          <a:bodyPr lIns="90000" rIns="90000" tIns="45000" bIns="45000" anchor="t">
            <a:spAutoFit/>
          </a:bodyPr>
          <a:p>
            <a:r>
              <a:rPr b="1" lang="en-US" sz="1300" strike="noStrike" u="none">
                <a:solidFill>
                  <a:srgbClr val="2d7c31"/>
                </a:solidFill>
                <a:effectLst/>
                <a:uFillTx/>
                <a:latin typeface="Arial-BoldMT"/>
                <a:ea typeface="Arial-BoldMT"/>
              </a:rPr>
              <a:t>Our Solution</a:t>
            </a:r>
            <a:endParaRPr b="0" lang="en-US" sz="1300" strike="noStrike" u="none">
              <a:solidFill>
                <a:srgbClr val="000000"/>
              </a:solidFill>
              <a:effectLst/>
              <a:uFillTx/>
              <a:latin typeface="Arial"/>
            </a:endParaRPr>
          </a:p>
        </p:txBody>
      </p:sp>
      <p:sp>
        <p:nvSpPr>
          <p:cNvPr id="145" name=""/>
          <p:cNvSpPr txBox="1"/>
          <p:nvPr/>
        </p:nvSpPr>
        <p:spPr>
          <a:xfrm>
            <a:off x="1097280" y="422460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 Transformers + X-CLR contrastive pretraining + ESM cross-attention + bilinear interaction attention.</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47"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3</a:t>
            </a:r>
            <a:endParaRPr b="0" lang="en-US" sz="2400" strike="noStrike" u="none">
              <a:solidFill>
                <a:srgbClr val="000000"/>
              </a:solidFill>
              <a:effectLst/>
              <a:uFillTx/>
              <a:latin typeface="Arial"/>
            </a:endParaRPr>
          </a:p>
        </p:txBody>
      </p:sp>
      <p:sp>
        <p:nvSpPr>
          <p:cNvPr id="148"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Existing Work</a:t>
            </a:r>
            <a:endParaRPr b="0" lang="en-US" sz="3200" strike="noStrike" u="none">
              <a:solidFill>
                <a:srgbClr val="000000"/>
              </a:solidFill>
              <a:effectLst/>
              <a:uFillTx/>
              <a:latin typeface="Arial"/>
            </a:endParaRPr>
          </a:p>
        </p:txBody>
      </p:sp>
      <p:sp>
        <p:nvSpPr>
          <p:cNvPr id="149"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150"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Prior approaches and where our method fits</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151"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Method Comparison: Prior Work vs. Ours</a:t>
            </a:r>
            <a:endParaRPr b="0" lang="en-US" sz="2800" strike="noStrike" u="none">
              <a:solidFill>
                <a:srgbClr val="000000"/>
              </a:solidFill>
              <a:effectLst/>
              <a:uFillTx/>
              <a:latin typeface="Arial"/>
            </a:endParaRPr>
          </a:p>
        </p:txBody>
      </p:sp>
      <p:sp>
        <p:nvSpPr>
          <p:cNvPr id="152"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153" name=""/>
          <p:cNvSpPr/>
          <p:nvPr/>
        </p:nvSpPr>
        <p:spPr>
          <a:xfrm>
            <a:off x="365760" y="1143000"/>
            <a:ext cx="8412840" cy="320400"/>
          </a:xfrm>
          <a:custGeom>
            <a:avLst/>
            <a:gdLst/>
            <a:ahLst/>
            <a:rect l="0" t="0" r="r" b="b"/>
            <a:pathLst>
              <a:path w="23369" h="890">
                <a:moveTo>
                  <a:pt x="0" y="0"/>
                </a:moveTo>
                <a:lnTo>
                  <a:pt x="23369" y="0"/>
                </a:lnTo>
                <a:lnTo>
                  <a:pt x="23369" y="890"/>
                </a:lnTo>
                <a:lnTo>
                  <a:pt x="0" y="890"/>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154" name=""/>
          <p:cNvSpPr txBox="1"/>
          <p:nvPr/>
        </p:nvSpPr>
        <p:spPr>
          <a:xfrm>
            <a:off x="457200" y="1143000"/>
            <a:ext cx="1280160" cy="320040"/>
          </a:xfrm>
          <a:prstGeom prst="rect">
            <a:avLst/>
          </a:prstGeom>
          <a:noFill/>
          <a:ln w="0">
            <a:noFill/>
          </a:ln>
        </p:spPr>
        <p:txBody>
          <a:bodyPr lIns="90000" rIns="90000" tIns="45000" bIns="45000" anchor="t">
            <a:spAutoFit/>
          </a:bodyPr>
          <a:p>
            <a:r>
              <a:rPr b="1" lang="en-US" sz="1000" strike="noStrike" u="none">
                <a:solidFill>
                  <a:srgbClr val="ffffff"/>
                </a:solidFill>
                <a:effectLst/>
                <a:uFillTx/>
                <a:latin typeface="Arial-BoldMT"/>
                <a:ea typeface="Arial-BoldMT"/>
              </a:rPr>
              <a:t>Method</a:t>
            </a:r>
            <a:endParaRPr b="0" lang="en-US" sz="1000" strike="noStrike" u="none">
              <a:solidFill>
                <a:srgbClr val="000000"/>
              </a:solidFill>
              <a:effectLst/>
              <a:uFillTx/>
              <a:latin typeface="Arial"/>
            </a:endParaRPr>
          </a:p>
        </p:txBody>
      </p:sp>
      <p:sp>
        <p:nvSpPr>
          <p:cNvPr id="155" name=""/>
          <p:cNvSpPr txBox="1"/>
          <p:nvPr/>
        </p:nvSpPr>
        <p:spPr>
          <a:xfrm>
            <a:off x="1828800" y="1143000"/>
            <a:ext cx="1188720" cy="320040"/>
          </a:xfrm>
          <a:prstGeom prst="rect">
            <a:avLst/>
          </a:prstGeom>
          <a:noFill/>
          <a:ln w="0">
            <a:noFill/>
          </a:ln>
        </p:spPr>
        <p:txBody>
          <a:bodyPr lIns="90000" rIns="90000" tIns="45000" bIns="45000" anchor="t">
            <a:spAutoFit/>
          </a:bodyPr>
          <a:p>
            <a:r>
              <a:rPr b="1" lang="en-US" sz="1000" strike="noStrike" u="none">
                <a:solidFill>
                  <a:srgbClr val="ffffff"/>
                </a:solidFill>
                <a:effectLst/>
                <a:uFillTx/>
                <a:latin typeface="Arial-BoldMT"/>
                <a:ea typeface="Arial-BoldMT"/>
              </a:rPr>
              <a:t>Drug Input</a:t>
            </a:r>
            <a:endParaRPr b="0" lang="en-US" sz="1000" strike="noStrike" u="none">
              <a:solidFill>
                <a:srgbClr val="000000"/>
              </a:solidFill>
              <a:effectLst/>
              <a:uFillTx/>
              <a:latin typeface="Arial"/>
            </a:endParaRPr>
          </a:p>
        </p:txBody>
      </p:sp>
      <p:sp>
        <p:nvSpPr>
          <p:cNvPr id="156" name=""/>
          <p:cNvSpPr txBox="1"/>
          <p:nvPr/>
        </p:nvSpPr>
        <p:spPr>
          <a:xfrm>
            <a:off x="3108960" y="1143000"/>
            <a:ext cx="1371600" cy="320040"/>
          </a:xfrm>
          <a:prstGeom prst="rect">
            <a:avLst/>
          </a:prstGeom>
          <a:noFill/>
          <a:ln w="0">
            <a:noFill/>
          </a:ln>
        </p:spPr>
        <p:txBody>
          <a:bodyPr lIns="90000" rIns="90000" tIns="45000" bIns="45000" anchor="t">
            <a:spAutoFit/>
          </a:bodyPr>
          <a:p>
            <a:r>
              <a:rPr b="1" lang="en-US" sz="1000" strike="noStrike" u="none">
                <a:solidFill>
                  <a:srgbClr val="ffffff"/>
                </a:solidFill>
                <a:effectLst/>
                <a:uFillTx/>
                <a:latin typeface="Arial-BoldMT"/>
                <a:ea typeface="Arial-BoldMT"/>
              </a:rPr>
              <a:t>Protein Input</a:t>
            </a:r>
            <a:endParaRPr b="0" lang="en-US" sz="1000" strike="noStrike" u="none">
              <a:solidFill>
                <a:srgbClr val="000000"/>
              </a:solidFill>
              <a:effectLst/>
              <a:uFillTx/>
              <a:latin typeface="Arial"/>
            </a:endParaRPr>
          </a:p>
        </p:txBody>
      </p:sp>
      <p:sp>
        <p:nvSpPr>
          <p:cNvPr id="157" name=""/>
          <p:cNvSpPr txBox="1"/>
          <p:nvPr/>
        </p:nvSpPr>
        <p:spPr>
          <a:xfrm>
            <a:off x="4572000" y="1143000"/>
            <a:ext cx="1188720" cy="320040"/>
          </a:xfrm>
          <a:prstGeom prst="rect">
            <a:avLst/>
          </a:prstGeom>
          <a:noFill/>
          <a:ln w="0">
            <a:noFill/>
          </a:ln>
        </p:spPr>
        <p:txBody>
          <a:bodyPr lIns="90000" rIns="90000" tIns="45000" bIns="45000" anchor="t">
            <a:spAutoFit/>
          </a:bodyPr>
          <a:p>
            <a:r>
              <a:rPr b="1" lang="en-US" sz="1000" strike="noStrike" u="none">
                <a:solidFill>
                  <a:srgbClr val="ffffff"/>
                </a:solidFill>
                <a:effectLst/>
                <a:uFillTx/>
                <a:latin typeface="Arial-BoldMT"/>
                <a:ea typeface="Arial-BoldMT"/>
              </a:rPr>
              <a:t>Encoder</a:t>
            </a:r>
            <a:endParaRPr b="0" lang="en-US" sz="1000" strike="noStrike" u="none">
              <a:solidFill>
                <a:srgbClr val="000000"/>
              </a:solidFill>
              <a:effectLst/>
              <a:uFillTx/>
              <a:latin typeface="Arial"/>
            </a:endParaRPr>
          </a:p>
        </p:txBody>
      </p:sp>
      <p:sp>
        <p:nvSpPr>
          <p:cNvPr id="158" name=""/>
          <p:cNvSpPr txBox="1"/>
          <p:nvPr/>
        </p:nvSpPr>
        <p:spPr>
          <a:xfrm>
            <a:off x="5852160" y="1143000"/>
            <a:ext cx="1371600" cy="320040"/>
          </a:xfrm>
          <a:prstGeom prst="rect">
            <a:avLst/>
          </a:prstGeom>
          <a:noFill/>
          <a:ln w="0">
            <a:noFill/>
          </a:ln>
        </p:spPr>
        <p:txBody>
          <a:bodyPr lIns="90000" rIns="90000" tIns="45000" bIns="45000" anchor="t">
            <a:spAutoFit/>
          </a:bodyPr>
          <a:p>
            <a:r>
              <a:rPr b="1" lang="en-US" sz="1000" strike="noStrike" u="none">
                <a:solidFill>
                  <a:srgbClr val="ffffff"/>
                </a:solidFill>
                <a:effectLst/>
                <a:uFillTx/>
                <a:latin typeface="Arial-BoldMT"/>
                <a:ea typeface="Arial-BoldMT"/>
              </a:rPr>
              <a:t>Pretraining</a:t>
            </a:r>
            <a:endParaRPr b="0" lang="en-US" sz="1000" strike="noStrike" u="none">
              <a:solidFill>
                <a:srgbClr val="000000"/>
              </a:solidFill>
              <a:effectLst/>
              <a:uFillTx/>
              <a:latin typeface="Arial"/>
            </a:endParaRPr>
          </a:p>
        </p:txBody>
      </p:sp>
      <p:sp>
        <p:nvSpPr>
          <p:cNvPr id="159" name=""/>
          <p:cNvSpPr txBox="1"/>
          <p:nvPr/>
        </p:nvSpPr>
        <p:spPr>
          <a:xfrm>
            <a:off x="7315200" y="1143000"/>
            <a:ext cx="1463040" cy="320040"/>
          </a:xfrm>
          <a:prstGeom prst="rect">
            <a:avLst/>
          </a:prstGeom>
          <a:noFill/>
          <a:ln w="0">
            <a:noFill/>
          </a:ln>
        </p:spPr>
        <p:txBody>
          <a:bodyPr lIns="90000" rIns="90000" tIns="45000" bIns="45000" anchor="t">
            <a:spAutoFit/>
          </a:bodyPr>
          <a:p>
            <a:r>
              <a:rPr b="1" lang="en-US" sz="1000" strike="noStrike" u="none">
                <a:solidFill>
                  <a:srgbClr val="ffffff"/>
                </a:solidFill>
                <a:effectLst/>
                <a:uFillTx/>
                <a:latin typeface="Arial-BoldMT"/>
                <a:ea typeface="Arial-BoldMT"/>
              </a:rPr>
              <a:t>Cold-Start</a:t>
            </a:r>
            <a:endParaRPr b="0" lang="en-US" sz="1000" strike="noStrike" u="none">
              <a:solidFill>
                <a:srgbClr val="000000"/>
              </a:solidFill>
              <a:effectLst/>
              <a:uFillTx/>
              <a:latin typeface="Arial"/>
            </a:endParaRPr>
          </a:p>
        </p:txBody>
      </p:sp>
      <p:sp>
        <p:nvSpPr>
          <p:cNvPr id="160" name=""/>
          <p:cNvSpPr/>
          <p:nvPr/>
        </p:nvSpPr>
        <p:spPr>
          <a:xfrm>
            <a:off x="365760" y="1508760"/>
            <a:ext cx="8412840" cy="366120"/>
          </a:xfrm>
          <a:custGeom>
            <a:avLst/>
            <a:gdLst/>
            <a:ahLst/>
            <a:rect l="0" t="0" r="r" b="b"/>
            <a:pathLst>
              <a:path w="23369" h="1017">
                <a:moveTo>
                  <a:pt x="0" y="0"/>
                </a:moveTo>
                <a:lnTo>
                  <a:pt x="23369" y="0"/>
                </a:lnTo>
                <a:lnTo>
                  <a:pt x="23369" y="1017"/>
                </a:lnTo>
                <a:lnTo>
                  <a:pt x="0" y="101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61" name=""/>
          <p:cNvSpPr txBox="1"/>
          <p:nvPr/>
        </p:nvSpPr>
        <p:spPr>
          <a:xfrm>
            <a:off x="457200" y="1508760"/>
            <a:ext cx="128016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DeepDTA</a:t>
            </a:r>
            <a:endParaRPr b="0" lang="en-US" sz="1000" strike="noStrike" u="none">
              <a:solidFill>
                <a:srgbClr val="000000"/>
              </a:solidFill>
              <a:effectLst/>
              <a:uFillTx/>
              <a:latin typeface="Arial"/>
            </a:endParaRPr>
          </a:p>
        </p:txBody>
      </p:sp>
      <p:sp>
        <p:nvSpPr>
          <p:cNvPr id="162" name=""/>
          <p:cNvSpPr txBox="1"/>
          <p:nvPr/>
        </p:nvSpPr>
        <p:spPr>
          <a:xfrm>
            <a:off x="1828800" y="150876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SMILES</a:t>
            </a:r>
            <a:endParaRPr b="0" lang="en-US" sz="1000" strike="noStrike" u="none">
              <a:solidFill>
                <a:srgbClr val="000000"/>
              </a:solidFill>
              <a:effectLst/>
              <a:uFillTx/>
              <a:latin typeface="Arial"/>
            </a:endParaRPr>
          </a:p>
        </p:txBody>
      </p:sp>
      <p:sp>
        <p:nvSpPr>
          <p:cNvPr id="163" name=""/>
          <p:cNvSpPr txBox="1"/>
          <p:nvPr/>
        </p:nvSpPr>
        <p:spPr>
          <a:xfrm>
            <a:off x="3108960" y="150876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Sequence</a:t>
            </a:r>
            <a:endParaRPr b="0" lang="en-US" sz="1000" strike="noStrike" u="none">
              <a:solidFill>
                <a:srgbClr val="000000"/>
              </a:solidFill>
              <a:effectLst/>
              <a:uFillTx/>
              <a:latin typeface="Arial"/>
            </a:endParaRPr>
          </a:p>
        </p:txBody>
      </p:sp>
      <p:sp>
        <p:nvSpPr>
          <p:cNvPr id="164" name=""/>
          <p:cNvSpPr txBox="1"/>
          <p:nvPr/>
        </p:nvSpPr>
        <p:spPr>
          <a:xfrm>
            <a:off x="4572000" y="150876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CNN+CNN</a:t>
            </a:r>
            <a:endParaRPr b="0" lang="en-US" sz="1000" strike="noStrike" u="none">
              <a:solidFill>
                <a:srgbClr val="000000"/>
              </a:solidFill>
              <a:effectLst/>
              <a:uFillTx/>
              <a:latin typeface="Arial"/>
            </a:endParaRPr>
          </a:p>
        </p:txBody>
      </p:sp>
      <p:sp>
        <p:nvSpPr>
          <p:cNvPr id="165" name=""/>
          <p:cNvSpPr txBox="1"/>
          <p:nvPr/>
        </p:nvSpPr>
        <p:spPr>
          <a:xfrm>
            <a:off x="5852160" y="150876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66" name=""/>
          <p:cNvSpPr txBox="1"/>
          <p:nvPr/>
        </p:nvSpPr>
        <p:spPr>
          <a:xfrm>
            <a:off x="7315200" y="1508760"/>
            <a:ext cx="146304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67" name=""/>
          <p:cNvSpPr/>
          <p:nvPr/>
        </p:nvSpPr>
        <p:spPr>
          <a:xfrm>
            <a:off x="365760" y="1920240"/>
            <a:ext cx="8412840" cy="366120"/>
          </a:xfrm>
          <a:custGeom>
            <a:avLst/>
            <a:gdLst/>
            <a:ahLst/>
            <a:rect l="0" t="0" r="r" b="b"/>
            <a:pathLst>
              <a:path w="23369" h="1017">
                <a:moveTo>
                  <a:pt x="0" y="0"/>
                </a:moveTo>
                <a:lnTo>
                  <a:pt x="23369" y="0"/>
                </a:lnTo>
                <a:lnTo>
                  <a:pt x="23369" y="1017"/>
                </a:lnTo>
                <a:lnTo>
                  <a:pt x="0" y="1017"/>
                </a:lnTo>
                <a:lnTo>
                  <a:pt x="0" y="0"/>
                </a:lnTo>
                <a:close/>
              </a:path>
            </a:pathLst>
          </a:custGeom>
          <a:solidFill>
            <a:srgbClr val="eef0f6"/>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68" name=""/>
          <p:cNvSpPr txBox="1"/>
          <p:nvPr/>
        </p:nvSpPr>
        <p:spPr>
          <a:xfrm>
            <a:off x="457200" y="1920240"/>
            <a:ext cx="128016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GraphDTA</a:t>
            </a:r>
            <a:endParaRPr b="0" lang="en-US" sz="1000" strike="noStrike" u="none">
              <a:solidFill>
                <a:srgbClr val="000000"/>
              </a:solidFill>
              <a:effectLst/>
              <a:uFillTx/>
              <a:latin typeface="Arial"/>
            </a:endParaRPr>
          </a:p>
        </p:txBody>
      </p:sp>
      <p:sp>
        <p:nvSpPr>
          <p:cNvPr id="169" name=""/>
          <p:cNvSpPr txBox="1"/>
          <p:nvPr/>
        </p:nvSpPr>
        <p:spPr>
          <a:xfrm>
            <a:off x="1828800" y="192024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a:t>
            </a:r>
            <a:endParaRPr b="0" lang="en-US" sz="1000" strike="noStrike" u="none">
              <a:solidFill>
                <a:srgbClr val="000000"/>
              </a:solidFill>
              <a:effectLst/>
              <a:uFillTx/>
              <a:latin typeface="Arial"/>
            </a:endParaRPr>
          </a:p>
        </p:txBody>
      </p:sp>
      <p:sp>
        <p:nvSpPr>
          <p:cNvPr id="170" name=""/>
          <p:cNvSpPr txBox="1"/>
          <p:nvPr/>
        </p:nvSpPr>
        <p:spPr>
          <a:xfrm>
            <a:off x="3108960" y="192024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Sequence</a:t>
            </a:r>
            <a:endParaRPr b="0" lang="en-US" sz="1000" strike="noStrike" u="none">
              <a:solidFill>
                <a:srgbClr val="000000"/>
              </a:solidFill>
              <a:effectLst/>
              <a:uFillTx/>
              <a:latin typeface="Arial"/>
            </a:endParaRPr>
          </a:p>
        </p:txBody>
      </p:sp>
      <p:sp>
        <p:nvSpPr>
          <p:cNvPr id="171" name=""/>
          <p:cNvSpPr txBox="1"/>
          <p:nvPr/>
        </p:nvSpPr>
        <p:spPr>
          <a:xfrm>
            <a:off x="4572000" y="192024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GNN+CNN</a:t>
            </a:r>
            <a:endParaRPr b="0" lang="en-US" sz="1000" strike="noStrike" u="none">
              <a:solidFill>
                <a:srgbClr val="000000"/>
              </a:solidFill>
              <a:effectLst/>
              <a:uFillTx/>
              <a:latin typeface="Arial"/>
            </a:endParaRPr>
          </a:p>
        </p:txBody>
      </p:sp>
      <p:sp>
        <p:nvSpPr>
          <p:cNvPr id="172" name=""/>
          <p:cNvSpPr txBox="1"/>
          <p:nvPr/>
        </p:nvSpPr>
        <p:spPr>
          <a:xfrm>
            <a:off x="5852160" y="192024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73" name=""/>
          <p:cNvSpPr txBox="1"/>
          <p:nvPr/>
        </p:nvSpPr>
        <p:spPr>
          <a:xfrm>
            <a:off x="7315200" y="1920240"/>
            <a:ext cx="146304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74" name=""/>
          <p:cNvSpPr/>
          <p:nvPr/>
        </p:nvSpPr>
        <p:spPr>
          <a:xfrm>
            <a:off x="365760" y="2331720"/>
            <a:ext cx="8412840" cy="366120"/>
          </a:xfrm>
          <a:custGeom>
            <a:avLst/>
            <a:gdLst/>
            <a:ahLst/>
            <a:rect l="0" t="0" r="r" b="b"/>
            <a:pathLst>
              <a:path w="23369" h="1017">
                <a:moveTo>
                  <a:pt x="0" y="0"/>
                </a:moveTo>
                <a:lnTo>
                  <a:pt x="23369" y="0"/>
                </a:lnTo>
                <a:lnTo>
                  <a:pt x="23369" y="1017"/>
                </a:lnTo>
                <a:lnTo>
                  <a:pt x="0" y="101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75" name=""/>
          <p:cNvSpPr txBox="1"/>
          <p:nvPr/>
        </p:nvSpPr>
        <p:spPr>
          <a:xfrm>
            <a:off x="457200" y="2331720"/>
            <a:ext cx="128016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DGraphDTA</a:t>
            </a:r>
            <a:endParaRPr b="0" lang="en-US" sz="1000" strike="noStrike" u="none">
              <a:solidFill>
                <a:srgbClr val="000000"/>
              </a:solidFill>
              <a:effectLst/>
              <a:uFillTx/>
              <a:latin typeface="Arial"/>
            </a:endParaRPr>
          </a:p>
        </p:txBody>
      </p:sp>
      <p:sp>
        <p:nvSpPr>
          <p:cNvPr id="176" name=""/>
          <p:cNvSpPr txBox="1"/>
          <p:nvPr/>
        </p:nvSpPr>
        <p:spPr>
          <a:xfrm>
            <a:off x="1828800" y="233172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a:t>
            </a:r>
            <a:endParaRPr b="0" lang="en-US" sz="1000" strike="noStrike" u="none">
              <a:solidFill>
                <a:srgbClr val="000000"/>
              </a:solidFill>
              <a:effectLst/>
              <a:uFillTx/>
              <a:latin typeface="Arial"/>
            </a:endParaRPr>
          </a:p>
        </p:txBody>
      </p:sp>
      <p:sp>
        <p:nvSpPr>
          <p:cNvPr id="177" name=""/>
          <p:cNvSpPr txBox="1"/>
          <p:nvPr/>
        </p:nvSpPr>
        <p:spPr>
          <a:xfrm>
            <a:off x="3108960" y="233172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a:t>
            </a:r>
            <a:endParaRPr b="0" lang="en-US" sz="1000" strike="noStrike" u="none">
              <a:solidFill>
                <a:srgbClr val="000000"/>
              </a:solidFill>
              <a:effectLst/>
              <a:uFillTx/>
              <a:latin typeface="Arial"/>
            </a:endParaRPr>
          </a:p>
        </p:txBody>
      </p:sp>
      <p:sp>
        <p:nvSpPr>
          <p:cNvPr id="178" name=""/>
          <p:cNvSpPr txBox="1"/>
          <p:nvPr/>
        </p:nvSpPr>
        <p:spPr>
          <a:xfrm>
            <a:off x="4572000" y="233172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GCN+GCN</a:t>
            </a:r>
            <a:endParaRPr b="0" lang="en-US" sz="1000" strike="noStrike" u="none">
              <a:solidFill>
                <a:srgbClr val="000000"/>
              </a:solidFill>
              <a:effectLst/>
              <a:uFillTx/>
              <a:latin typeface="Arial"/>
            </a:endParaRPr>
          </a:p>
        </p:txBody>
      </p:sp>
      <p:sp>
        <p:nvSpPr>
          <p:cNvPr id="179" name=""/>
          <p:cNvSpPr txBox="1"/>
          <p:nvPr/>
        </p:nvSpPr>
        <p:spPr>
          <a:xfrm>
            <a:off x="5852160" y="233172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80" name=""/>
          <p:cNvSpPr txBox="1"/>
          <p:nvPr/>
        </p:nvSpPr>
        <p:spPr>
          <a:xfrm>
            <a:off x="7315200" y="2331720"/>
            <a:ext cx="146304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81" name=""/>
          <p:cNvSpPr/>
          <p:nvPr/>
        </p:nvSpPr>
        <p:spPr>
          <a:xfrm>
            <a:off x="365760" y="2743200"/>
            <a:ext cx="8412840" cy="366120"/>
          </a:xfrm>
          <a:custGeom>
            <a:avLst/>
            <a:gdLst/>
            <a:ahLst/>
            <a:rect l="0" t="0" r="r" b="b"/>
            <a:pathLst>
              <a:path w="23369" h="1017">
                <a:moveTo>
                  <a:pt x="0" y="0"/>
                </a:moveTo>
                <a:lnTo>
                  <a:pt x="23369" y="0"/>
                </a:lnTo>
                <a:lnTo>
                  <a:pt x="23369" y="1017"/>
                </a:lnTo>
                <a:lnTo>
                  <a:pt x="0" y="1017"/>
                </a:lnTo>
                <a:lnTo>
                  <a:pt x="0" y="0"/>
                </a:lnTo>
                <a:close/>
              </a:path>
            </a:pathLst>
          </a:custGeom>
          <a:solidFill>
            <a:srgbClr val="eef0f6"/>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82" name=""/>
          <p:cNvSpPr txBox="1"/>
          <p:nvPr/>
        </p:nvSpPr>
        <p:spPr>
          <a:xfrm>
            <a:off x="457200" y="2743200"/>
            <a:ext cx="128016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AttentionMGT</a:t>
            </a:r>
            <a:endParaRPr b="0" lang="en-US" sz="1000" strike="noStrike" u="none">
              <a:solidFill>
                <a:srgbClr val="000000"/>
              </a:solidFill>
              <a:effectLst/>
              <a:uFillTx/>
              <a:latin typeface="Arial"/>
            </a:endParaRPr>
          </a:p>
        </p:txBody>
      </p:sp>
      <p:sp>
        <p:nvSpPr>
          <p:cNvPr id="183" name=""/>
          <p:cNvSpPr txBox="1"/>
          <p:nvPr/>
        </p:nvSpPr>
        <p:spPr>
          <a:xfrm>
            <a:off x="1828800" y="274320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a:t>
            </a:r>
            <a:endParaRPr b="0" lang="en-US" sz="1000" strike="noStrike" u="none">
              <a:solidFill>
                <a:srgbClr val="000000"/>
              </a:solidFill>
              <a:effectLst/>
              <a:uFillTx/>
              <a:latin typeface="Arial"/>
            </a:endParaRPr>
          </a:p>
        </p:txBody>
      </p:sp>
      <p:sp>
        <p:nvSpPr>
          <p:cNvPr id="184" name=""/>
          <p:cNvSpPr txBox="1"/>
          <p:nvPr/>
        </p:nvSpPr>
        <p:spPr>
          <a:xfrm>
            <a:off x="3108960" y="274320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Graph+ESM</a:t>
            </a:r>
            <a:endParaRPr b="0" lang="en-US" sz="1000" strike="noStrike" u="none">
              <a:solidFill>
                <a:srgbClr val="000000"/>
              </a:solidFill>
              <a:effectLst/>
              <a:uFillTx/>
              <a:latin typeface="Arial"/>
            </a:endParaRPr>
          </a:p>
        </p:txBody>
      </p:sp>
      <p:sp>
        <p:nvSpPr>
          <p:cNvPr id="185" name=""/>
          <p:cNvSpPr txBox="1"/>
          <p:nvPr/>
        </p:nvSpPr>
        <p:spPr>
          <a:xfrm>
            <a:off x="4572000" y="2743200"/>
            <a:ext cx="118872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GT+CrossAttn</a:t>
            </a:r>
            <a:endParaRPr b="0" lang="en-US" sz="1000" strike="noStrike" u="none">
              <a:solidFill>
                <a:srgbClr val="000000"/>
              </a:solidFill>
              <a:effectLst/>
              <a:uFillTx/>
              <a:latin typeface="Arial"/>
            </a:endParaRPr>
          </a:p>
        </p:txBody>
      </p:sp>
      <p:sp>
        <p:nvSpPr>
          <p:cNvPr id="186" name=""/>
          <p:cNvSpPr txBox="1"/>
          <p:nvPr/>
        </p:nvSpPr>
        <p:spPr>
          <a:xfrm>
            <a:off x="5852160" y="2743200"/>
            <a:ext cx="137160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None</a:t>
            </a:r>
            <a:endParaRPr b="0" lang="en-US" sz="1000" strike="noStrike" u="none">
              <a:solidFill>
                <a:srgbClr val="000000"/>
              </a:solidFill>
              <a:effectLst/>
              <a:uFillTx/>
              <a:latin typeface="Arial"/>
            </a:endParaRPr>
          </a:p>
        </p:txBody>
      </p:sp>
      <p:sp>
        <p:nvSpPr>
          <p:cNvPr id="187" name=""/>
          <p:cNvSpPr txBox="1"/>
          <p:nvPr/>
        </p:nvSpPr>
        <p:spPr>
          <a:xfrm>
            <a:off x="7315200" y="2743200"/>
            <a:ext cx="1463040" cy="3657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Limited</a:t>
            </a:r>
            <a:endParaRPr b="0" lang="en-US" sz="1000" strike="noStrike" u="none">
              <a:solidFill>
                <a:srgbClr val="000000"/>
              </a:solidFill>
              <a:effectLst/>
              <a:uFillTx/>
              <a:latin typeface="Arial"/>
            </a:endParaRPr>
          </a:p>
        </p:txBody>
      </p:sp>
      <p:sp>
        <p:nvSpPr>
          <p:cNvPr id="188" name=""/>
          <p:cNvSpPr/>
          <p:nvPr/>
        </p:nvSpPr>
        <p:spPr>
          <a:xfrm>
            <a:off x="365760" y="3154680"/>
            <a:ext cx="8412840" cy="366120"/>
          </a:xfrm>
          <a:custGeom>
            <a:avLst/>
            <a:gdLst/>
            <a:ahLst/>
            <a:rect l="0" t="0" r="r" b="b"/>
            <a:pathLst>
              <a:path w="23369" h="1017">
                <a:moveTo>
                  <a:pt x="0" y="0"/>
                </a:moveTo>
                <a:lnTo>
                  <a:pt x="23369" y="0"/>
                </a:lnTo>
                <a:lnTo>
                  <a:pt x="23369" y="1017"/>
                </a:lnTo>
                <a:lnTo>
                  <a:pt x="0" y="1017"/>
                </a:lnTo>
                <a:lnTo>
                  <a:pt x="0" y="0"/>
                </a:lnTo>
                <a:close/>
              </a:path>
            </a:pathLst>
          </a:custGeom>
          <a:solidFill>
            <a:srgbClr val="e8f5e9"/>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89" name=""/>
          <p:cNvSpPr txBox="1"/>
          <p:nvPr/>
        </p:nvSpPr>
        <p:spPr>
          <a:xfrm>
            <a:off x="457200" y="3154680"/>
            <a:ext cx="1280160" cy="365760"/>
          </a:xfrm>
          <a:prstGeom prst="rect">
            <a:avLst/>
          </a:prstGeom>
          <a:noFill/>
          <a:ln w="0">
            <a:noFill/>
          </a:ln>
        </p:spPr>
        <p:txBody>
          <a:bodyPr lIns="90000" rIns="90000" tIns="45000" bIns="45000" anchor="t">
            <a:spAutoFit/>
          </a:bodyPr>
          <a:p>
            <a:r>
              <a:rPr b="1" lang="en-US" sz="1000" strike="noStrike" u="none">
                <a:solidFill>
                  <a:srgbClr val="2d7c31"/>
                </a:solidFill>
                <a:effectLst/>
                <a:uFillTx/>
                <a:latin typeface="Arial-BoldMT"/>
                <a:ea typeface="Arial-BoldMT"/>
              </a:rPr>
              <a:t>Ours</a:t>
            </a:r>
            <a:endParaRPr b="0" lang="en-US" sz="1000" strike="noStrike" u="none">
              <a:solidFill>
                <a:srgbClr val="000000"/>
              </a:solidFill>
              <a:effectLst/>
              <a:uFillTx/>
              <a:latin typeface="Arial"/>
            </a:endParaRPr>
          </a:p>
        </p:txBody>
      </p:sp>
      <p:sp>
        <p:nvSpPr>
          <p:cNvPr id="190" name=""/>
          <p:cNvSpPr txBox="1"/>
          <p:nvPr/>
        </p:nvSpPr>
        <p:spPr>
          <a:xfrm>
            <a:off x="1828800" y="3154680"/>
            <a:ext cx="1188720" cy="365760"/>
          </a:xfrm>
          <a:prstGeom prst="rect">
            <a:avLst/>
          </a:prstGeom>
          <a:noFill/>
          <a:ln w="0">
            <a:noFill/>
          </a:ln>
        </p:spPr>
        <p:txBody>
          <a:bodyPr lIns="90000" rIns="90000" tIns="45000" bIns="45000" anchor="t">
            <a:spAutoFit/>
          </a:bodyPr>
          <a:p>
            <a:r>
              <a:rPr b="1" lang="en-US" sz="1000" strike="noStrike" u="none">
                <a:solidFill>
                  <a:srgbClr val="2d7c31"/>
                </a:solidFill>
                <a:effectLst/>
                <a:uFillTx/>
                <a:latin typeface="Arial-BoldMT"/>
                <a:ea typeface="Arial-BoldMT"/>
              </a:rPr>
              <a:t>Graph</a:t>
            </a:r>
            <a:endParaRPr b="0" lang="en-US" sz="1000" strike="noStrike" u="none">
              <a:solidFill>
                <a:srgbClr val="000000"/>
              </a:solidFill>
              <a:effectLst/>
              <a:uFillTx/>
              <a:latin typeface="Arial"/>
            </a:endParaRPr>
          </a:p>
        </p:txBody>
      </p:sp>
      <p:sp>
        <p:nvSpPr>
          <p:cNvPr id="191" name=""/>
          <p:cNvSpPr txBox="1"/>
          <p:nvPr/>
        </p:nvSpPr>
        <p:spPr>
          <a:xfrm>
            <a:off x="3108960" y="3154680"/>
            <a:ext cx="1371600" cy="365760"/>
          </a:xfrm>
          <a:prstGeom prst="rect">
            <a:avLst/>
          </a:prstGeom>
          <a:noFill/>
          <a:ln w="0">
            <a:noFill/>
          </a:ln>
        </p:spPr>
        <p:txBody>
          <a:bodyPr lIns="90000" rIns="90000" tIns="45000" bIns="45000" anchor="t">
            <a:spAutoFit/>
          </a:bodyPr>
          <a:p>
            <a:r>
              <a:rPr b="1" lang="en-US" sz="1000" strike="noStrike" u="none">
                <a:solidFill>
                  <a:srgbClr val="2d7c31"/>
                </a:solidFill>
                <a:effectLst/>
                <a:uFillTx/>
                <a:latin typeface="Arial-BoldMT"/>
                <a:ea typeface="Arial-BoldMT"/>
              </a:rPr>
              <a:t>Graph+ESM</a:t>
            </a:r>
            <a:endParaRPr b="0" lang="en-US" sz="1000" strike="noStrike" u="none">
              <a:solidFill>
                <a:srgbClr val="000000"/>
              </a:solidFill>
              <a:effectLst/>
              <a:uFillTx/>
              <a:latin typeface="Arial"/>
            </a:endParaRPr>
          </a:p>
        </p:txBody>
      </p:sp>
      <p:sp>
        <p:nvSpPr>
          <p:cNvPr id="192" name=""/>
          <p:cNvSpPr txBox="1"/>
          <p:nvPr/>
        </p:nvSpPr>
        <p:spPr>
          <a:xfrm>
            <a:off x="4572000" y="3154680"/>
            <a:ext cx="1188720" cy="365760"/>
          </a:xfrm>
          <a:prstGeom prst="rect">
            <a:avLst/>
          </a:prstGeom>
          <a:noFill/>
          <a:ln w="0">
            <a:noFill/>
          </a:ln>
        </p:spPr>
        <p:txBody>
          <a:bodyPr lIns="90000" rIns="90000" tIns="45000" bIns="45000" anchor="t">
            <a:spAutoFit/>
          </a:bodyPr>
          <a:p>
            <a:r>
              <a:rPr b="1" lang="en-US" sz="1000" strike="noStrike" u="none">
                <a:solidFill>
                  <a:srgbClr val="2d7c31"/>
                </a:solidFill>
                <a:effectLst/>
                <a:uFillTx/>
                <a:latin typeface="Arial-BoldMT"/>
                <a:ea typeface="Arial-BoldMT"/>
              </a:rPr>
              <a:t>GT+CrossAttn</a:t>
            </a:r>
            <a:endParaRPr b="0" lang="en-US" sz="1000" strike="noStrike" u="none">
              <a:solidFill>
                <a:srgbClr val="000000"/>
              </a:solidFill>
              <a:effectLst/>
              <a:uFillTx/>
              <a:latin typeface="Arial"/>
            </a:endParaRPr>
          </a:p>
        </p:txBody>
      </p:sp>
      <p:sp>
        <p:nvSpPr>
          <p:cNvPr id="193" name=""/>
          <p:cNvSpPr txBox="1"/>
          <p:nvPr/>
        </p:nvSpPr>
        <p:spPr>
          <a:xfrm>
            <a:off x="5852160" y="3154680"/>
            <a:ext cx="1371600" cy="365760"/>
          </a:xfrm>
          <a:prstGeom prst="rect">
            <a:avLst/>
          </a:prstGeom>
          <a:noFill/>
          <a:ln w="0">
            <a:noFill/>
          </a:ln>
        </p:spPr>
        <p:txBody>
          <a:bodyPr lIns="90000" rIns="90000" tIns="45000" bIns="45000" anchor="t">
            <a:spAutoFit/>
          </a:bodyPr>
          <a:p>
            <a:r>
              <a:rPr b="1" lang="en-US" sz="1000" strike="noStrike" u="none">
                <a:solidFill>
                  <a:srgbClr val="2d7c31"/>
                </a:solidFill>
                <a:effectLst/>
                <a:uFillTx/>
                <a:latin typeface="Arial-BoldMT"/>
                <a:ea typeface="Arial-BoldMT"/>
              </a:rPr>
              <a:t>X-CLR</a:t>
            </a:r>
            <a:endParaRPr b="0" lang="en-US" sz="1000" strike="noStrike" u="none">
              <a:solidFill>
                <a:srgbClr val="000000"/>
              </a:solidFill>
              <a:effectLst/>
              <a:uFillTx/>
              <a:latin typeface="Arial"/>
            </a:endParaRPr>
          </a:p>
        </p:txBody>
      </p:sp>
      <p:sp>
        <p:nvSpPr>
          <p:cNvPr id="194" name=""/>
          <p:cNvSpPr txBox="1"/>
          <p:nvPr/>
        </p:nvSpPr>
        <p:spPr>
          <a:xfrm>
            <a:off x="7315200" y="3154680"/>
            <a:ext cx="1463040" cy="365760"/>
          </a:xfrm>
          <a:prstGeom prst="rect">
            <a:avLst/>
          </a:prstGeom>
          <a:noFill/>
          <a:ln w="0">
            <a:noFill/>
          </a:ln>
        </p:spPr>
        <p:txBody>
          <a:bodyPr lIns="90000" rIns="90000" tIns="45000" bIns="45000" anchor="t">
            <a:spAutoFit/>
          </a:bodyPr>
          <a:p>
            <a:r>
              <a:rPr b="1" lang="en-US" sz="1000" strike="noStrike" u="none">
                <a:solidFill>
                  <a:srgbClr val="2d7c31"/>
                </a:solidFill>
                <a:effectLst/>
                <a:uFillTx/>
                <a:latin typeface="Arial-BoldMT"/>
                <a:ea typeface="Arial-BoldMT"/>
              </a:rPr>
              <a:t>3 scenarios</a:t>
            </a:r>
            <a:endParaRPr b="0" lang="en-US" sz="1000" strike="noStrike" u="none">
              <a:solidFill>
                <a:srgbClr val="000000"/>
              </a:solidFill>
              <a:effectLst/>
              <a:uFillTx/>
              <a:latin typeface="Arial"/>
            </a:endParaRPr>
          </a:p>
        </p:txBody>
      </p:sp>
      <p:sp>
        <p:nvSpPr>
          <p:cNvPr id="195" name=""/>
          <p:cNvSpPr txBox="1"/>
          <p:nvPr/>
        </p:nvSpPr>
        <p:spPr>
          <a:xfrm>
            <a:off x="467280" y="424728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Our contribution: Two-stage pipeline (X-CLR + MDGTDTInet) with comprehensive cold-start evaluation on Davis.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197"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4</a:t>
            </a:r>
            <a:endParaRPr b="0" lang="en-US" sz="2400" strike="noStrike" u="none">
              <a:solidFill>
                <a:srgbClr val="000000"/>
              </a:solidFill>
              <a:effectLst/>
              <a:uFillTx/>
              <a:latin typeface="Arial"/>
            </a:endParaRPr>
          </a:p>
        </p:txBody>
      </p:sp>
      <p:sp>
        <p:nvSpPr>
          <p:cNvPr id="198"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Problem Definition</a:t>
            </a:r>
            <a:endParaRPr b="0" lang="en-US" sz="3200" strike="noStrike" u="none">
              <a:solidFill>
                <a:srgbClr val="000000"/>
              </a:solidFill>
              <a:effectLst/>
              <a:uFillTx/>
              <a:latin typeface="Arial"/>
            </a:endParaRPr>
          </a:p>
        </p:txBody>
      </p:sp>
      <p:sp>
        <p:nvSpPr>
          <p:cNvPr id="199"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200"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Formal task and graph representations</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01"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Formal Problem Definition</a:t>
            </a:r>
            <a:endParaRPr b="0" lang="en-US" sz="2800" strike="noStrike" u="none">
              <a:solidFill>
                <a:srgbClr val="000000"/>
              </a:solidFill>
              <a:effectLst/>
              <a:uFillTx/>
              <a:latin typeface="Arial"/>
            </a:endParaRPr>
          </a:p>
        </p:txBody>
      </p:sp>
      <p:sp>
        <p:nvSpPr>
          <p:cNvPr id="202"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03" name=""/>
          <p:cNvSpPr/>
          <p:nvPr/>
        </p:nvSpPr>
        <p:spPr>
          <a:xfrm>
            <a:off x="457200" y="1143000"/>
            <a:ext cx="5029560" cy="3475080"/>
          </a:xfrm>
          <a:custGeom>
            <a:avLst/>
            <a:gdLst/>
            <a:ahLst/>
            <a:rect l="0" t="0" r="r" b="b"/>
            <a:pathLst>
              <a:path w="13971" h="9653">
                <a:moveTo>
                  <a:pt x="0" y="0"/>
                </a:moveTo>
                <a:lnTo>
                  <a:pt x="13971" y="0"/>
                </a:lnTo>
                <a:lnTo>
                  <a:pt x="13971"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04" name=""/>
          <p:cNvSpPr/>
          <p:nvPr/>
        </p:nvSpPr>
        <p:spPr>
          <a:xfrm>
            <a:off x="45720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205" name="" descr=""/>
          <p:cNvPicPr/>
          <p:nvPr/>
        </p:nvPicPr>
        <p:blipFill>
          <a:blip r:embed="rId1"/>
          <a:stretch/>
        </p:blipFill>
        <p:spPr>
          <a:xfrm>
            <a:off x="640080" y="1234440"/>
            <a:ext cx="274320" cy="274320"/>
          </a:xfrm>
          <a:prstGeom prst="rect">
            <a:avLst/>
          </a:prstGeom>
          <a:noFill/>
          <a:ln w="0">
            <a:noFill/>
          </a:ln>
        </p:spPr>
      </p:pic>
      <p:sp>
        <p:nvSpPr>
          <p:cNvPr id="206" name=""/>
          <p:cNvSpPr txBox="1"/>
          <p:nvPr/>
        </p:nvSpPr>
        <p:spPr>
          <a:xfrm>
            <a:off x="1005840" y="1234440"/>
            <a:ext cx="2743200" cy="351000"/>
          </a:xfrm>
          <a:prstGeom prst="rect">
            <a:avLst/>
          </a:prstGeom>
          <a:noFill/>
          <a:ln w="0">
            <a:noFill/>
          </a:ln>
        </p:spPr>
        <p:txBody>
          <a:bodyPr lIns="90000" rIns="90000" tIns="45000" bIns="45000" anchor="t">
            <a:spAutoFit/>
          </a:bodyPr>
          <a:p>
            <a:r>
              <a:rPr b="1" lang="en-US" sz="1500" strike="noStrike" u="none">
                <a:solidFill>
                  <a:srgbClr val="0097a7"/>
                </a:solidFill>
                <a:effectLst/>
                <a:uFillTx/>
                <a:latin typeface="Arial-BoldMT"/>
                <a:ea typeface="Arial-BoldMT"/>
              </a:rPr>
              <a:t>Task</a:t>
            </a:r>
            <a:endParaRPr b="0" lang="en-US" sz="1500" strike="noStrike" u="none">
              <a:solidFill>
                <a:srgbClr val="000000"/>
              </a:solidFill>
              <a:effectLst/>
              <a:uFillTx/>
              <a:latin typeface="Arial"/>
            </a:endParaRPr>
          </a:p>
        </p:txBody>
      </p:sp>
      <p:sp>
        <p:nvSpPr>
          <p:cNvPr id="207" name=""/>
          <p:cNvSpPr txBox="1"/>
          <p:nvPr/>
        </p:nvSpPr>
        <p:spPr>
          <a:xfrm>
            <a:off x="640080" y="1645920"/>
            <a:ext cx="4663440" cy="2560320"/>
          </a:xfrm>
          <a:prstGeom prst="rect">
            <a:avLst/>
          </a:prstGeom>
          <a:noFill/>
          <a:ln w="0">
            <a:noFill/>
          </a:ln>
        </p:spPr>
        <p:txBody>
          <a:bodyPr lIns="90000" rIns="90000" tIns="45000" bIns="45000" anchor="t">
            <a:spAutoFit/>
          </a:bodyPr>
          <a:p>
            <a:r>
              <a:rPr b="1" lang="en-US" sz="1300" strike="noStrike" u="none">
                <a:solidFill>
                  <a:srgbClr val="e65000"/>
                </a:solidFill>
                <a:effectLst/>
                <a:uFillTx/>
                <a:latin typeface="Arial-BoldMT"/>
                <a:ea typeface="Arial-BoldMT"/>
              </a:rPr>
              <a:t>Given:</a:t>
            </a:r>
            <a:endParaRPr b="0" lang="en-US" sz="13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Drug molecule d (molecular graph Gd)</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Protein target p (contact graph Gp + ESM embedding)</a:t>
            </a:r>
            <a:endParaRPr b="0" lang="en-US" sz="1100" strike="noStrike" u="none">
              <a:solidFill>
                <a:srgbClr val="000000"/>
              </a:solidFill>
              <a:effectLst/>
              <a:uFillTx/>
              <a:latin typeface="Arial"/>
            </a:endParaRPr>
          </a:p>
          <a:p>
            <a:r>
              <a:rPr b="1" lang="en-US" sz="1300" strike="noStrike" u="none">
                <a:solidFill>
                  <a:srgbClr val="e65000"/>
                </a:solidFill>
                <a:effectLst/>
                <a:uFillTx/>
                <a:latin typeface="Arial-BoldMT"/>
                <a:ea typeface="Arial-BoldMT"/>
              </a:rPr>
              <a:t>Predict:</a:t>
            </a:r>
            <a:endParaRPr b="0" lang="en-US" sz="13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Binding affinity y (pKd, continuous)</a:t>
            </a:r>
            <a:endParaRPr b="0" lang="en-US" sz="1100" strike="noStrike" u="none">
              <a:solidFill>
                <a:srgbClr val="000000"/>
              </a:solidFill>
              <a:effectLst/>
              <a:uFillTx/>
              <a:latin typeface="Arial"/>
            </a:endParaRPr>
          </a:p>
          <a:p>
            <a:r>
              <a:rPr b="1" lang="en-US" sz="1300" strike="noStrike" u="none">
                <a:solidFill>
                  <a:srgbClr val="c62727"/>
                </a:solidFill>
                <a:effectLst/>
                <a:uFillTx/>
                <a:latin typeface="Arial-BoldMT"/>
                <a:ea typeface="Arial-BoldMT"/>
              </a:rPr>
              <a:t>Constraint:</a:t>
            </a:r>
            <a:endParaRPr b="0" lang="en-US" sz="13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Generalize to unseen drugs, unseen proteins, or both (cold-start).</a:t>
            </a:r>
            <a:endParaRPr b="0" lang="en-US" sz="1100" strike="noStrike" u="none">
              <a:solidFill>
                <a:srgbClr val="000000"/>
              </a:solidFill>
              <a:effectLst/>
              <a:uFillTx/>
              <a:latin typeface="Arial"/>
            </a:endParaRPr>
          </a:p>
        </p:txBody>
      </p:sp>
      <p:sp>
        <p:nvSpPr>
          <p:cNvPr id="208" name=""/>
          <p:cNvSpPr/>
          <p:nvPr/>
        </p:nvSpPr>
        <p:spPr>
          <a:xfrm>
            <a:off x="5669280" y="1143000"/>
            <a:ext cx="3109320" cy="1463400"/>
          </a:xfrm>
          <a:custGeom>
            <a:avLst/>
            <a:gdLst/>
            <a:ahLst/>
            <a:rect l="0" t="0" r="r" b="b"/>
            <a:pathLst>
              <a:path w="8637" h="4065">
                <a:moveTo>
                  <a:pt x="0" y="0"/>
                </a:moveTo>
                <a:lnTo>
                  <a:pt x="8637" y="0"/>
                </a:lnTo>
                <a:lnTo>
                  <a:pt x="8637" y="4065"/>
                </a:lnTo>
                <a:lnTo>
                  <a:pt x="0" y="4065"/>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09" name=""/>
          <p:cNvSpPr/>
          <p:nvPr/>
        </p:nvSpPr>
        <p:spPr>
          <a:xfrm>
            <a:off x="5669280" y="1143000"/>
            <a:ext cx="46080" cy="1463400"/>
          </a:xfrm>
          <a:custGeom>
            <a:avLst/>
            <a:gdLst/>
            <a:ahLst/>
            <a:rect l="0" t="0" r="r" b="b"/>
            <a:pathLst>
              <a:path w="128" h="4065">
                <a:moveTo>
                  <a:pt x="0" y="0"/>
                </a:moveTo>
                <a:lnTo>
                  <a:pt x="128" y="0"/>
                </a:lnTo>
                <a:lnTo>
                  <a:pt x="128" y="4065"/>
                </a:lnTo>
                <a:lnTo>
                  <a:pt x="0" y="4065"/>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10" name=""/>
          <p:cNvSpPr txBox="1"/>
          <p:nvPr/>
        </p:nvSpPr>
        <p:spPr>
          <a:xfrm>
            <a:off x="5852160" y="1234440"/>
            <a:ext cx="2743200" cy="297720"/>
          </a:xfrm>
          <a:prstGeom prst="rect">
            <a:avLst/>
          </a:prstGeom>
          <a:noFill/>
          <a:ln w="0">
            <a:noFill/>
          </a:ln>
        </p:spPr>
        <p:txBody>
          <a:bodyPr lIns="90000" rIns="90000" tIns="45000" bIns="45000" anchor="t">
            <a:spAutoFit/>
          </a:bodyPr>
          <a:p>
            <a:r>
              <a:rPr b="1" lang="en-US" sz="1200" strike="noStrike" u="none">
                <a:solidFill>
                  <a:srgbClr val="e65000"/>
                </a:solidFill>
                <a:effectLst/>
                <a:uFillTx/>
                <a:latin typeface="Arial-BoldMT"/>
                <a:ea typeface="Arial-BoldMT"/>
              </a:rPr>
              <a:t>Drug Graph Gd</a:t>
            </a:r>
            <a:endParaRPr b="0" lang="en-US" sz="1200" strike="noStrike" u="none">
              <a:solidFill>
                <a:srgbClr val="000000"/>
              </a:solidFill>
              <a:effectLst/>
              <a:uFillTx/>
              <a:latin typeface="Arial"/>
            </a:endParaRPr>
          </a:p>
        </p:txBody>
      </p:sp>
      <p:sp>
        <p:nvSpPr>
          <p:cNvPr id="211" name=""/>
          <p:cNvSpPr txBox="1"/>
          <p:nvPr/>
        </p:nvSpPr>
        <p:spPr>
          <a:xfrm>
            <a:off x="5852160" y="1508760"/>
            <a:ext cx="2743200" cy="914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Nodes: atoms (44-dim)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Edges: bonds (10-dim)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SMILES → RDKit</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Laplacian PE (8-dim)</a:t>
            </a:r>
            <a:endParaRPr b="0" lang="en-US" sz="1000" strike="noStrike" u="none">
              <a:solidFill>
                <a:srgbClr val="000000"/>
              </a:solidFill>
              <a:effectLst/>
              <a:uFillTx/>
              <a:latin typeface="Arial"/>
            </a:endParaRPr>
          </a:p>
        </p:txBody>
      </p:sp>
      <p:sp>
        <p:nvSpPr>
          <p:cNvPr id="212" name=""/>
          <p:cNvSpPr/>
          <p:nvPr/>
        </p:nvSpPr>
        <p:spPr>
          <a:xfrm>
            <a:off x="5669280" y="2788920"/>
            <a:ext cx="3109320" cy="1829160"/>
          </a:xfrm>
          <a:custGeom>
            <a:avLst/>
            <a:gdLst/>
            <a:ahLst/>
            <a:rect l="0" t="0" r="r" b="b"/>
            <a:pathLst>
              <a:path w="8637" h="5081">
                <a:moveTo>
                  <a:pt x="0" y="0"/>
                </a:moveTo>
                <a:lnTo>
                  <a:pt x="8637" y="0"/>
                </a:lnTo>
                <a:lnTo>
                  <a:pt x="8637" y="5081"/>
                </a:lnTo>
                <a:lnTo>
                  <a:pt x="0" y="508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13" name=""/>
          <p:cNvSpPr/>
          <p:nvPr/>
        </p:nvSpPr>
        <p:spPr>
          <a:xfrm>
            <a:off x="5669280" y="2788920"/>
            <a:ext cx="46080" cy="1829160"/>
          </a:xfrm>
          <a:custGeom>
            <a:avLst/>
            <a:gdLst/>
            <a:ahLst/>
            <a:rect l="0" t="0" r="r" b="b"/>
            <a:pathLst>
              <a:path w="128" h="5081">
                <a:moveTo>
                  <a:pt x="0" y="0"/>
                </a:moveTo>
                <a:lnTo>
                  <a:pt x="128" y="0"/>
                </a:lnTo>
                <a:lnTo>
                  <a:pt x="128" y="5081"/>
                </a:lnTo>
                <a:lnTo>
                  <a:pt x="0" y="5081"/>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14" name=""/>
          <p:cNvSpPr txBox="1"/>
          <p:nvPr/>
        </p:nvSpPr>
        <p:spPr>
          <a:xfrm>
            <a:off x="5852160" y="2880360"/>
            <a:ext cx="2743200" cy="297720"/>
          </a:xfrm>
          <a:prstGeom prst="rect">
            <a:avLst/>
          </a:prstGeom>
          <a:noFill/>
          <a:ln w="0">
            <a:noFill/>
          </a:ln>
        </p:spPr>
        <p:txBody>
          <a:bodyPr lIns="90000" rIns="90000" tIns="45000" bIns="45000" anchor="t">
            <a:spAutoFit/>
          </a:bodyPr>
          <a:p>
            <a:r>
              <a:rPr b="1" lang="en-US" sz="1200" strike="noStrike" u="none">
                <a:solidFill>
                  <a:srgbClr val="00897a"/>
                </a:solidFill>
                <a:effectLst/>
                <a:uFillTx/>
                <a:latin typeface="Arial-BoldMT"/>
                <a:ea typeface="Arial-BoldMT"/>
              </a:rPr>
              <a:t>Protein Graph Gp</a:t>
            </a:r>
            <a:endParaRPr b="0" lang="en-US" sz="1200" strike="noStrike" u="none">
              <a:solidFill>
                <a:srgbClr val="000000"/>
              </a:solidFill>
              <a:effectLst/>
              <a:uFillTx/>
              <a:latin typeface="Arial"/>
            </a:endParaRPr>
          </a:p>
        </p:txBody>
      </p:sp>
      <p:sp>
        <p:nvSpPr>
          <p:cNvPr id="215" name=""/>
          <p:cNvSpPr txBox="1"/>
          <p:nvPr/>
        </p:nvSpPr>
        <p:spPr>
          <a:xfrm>
            <a:off x="5852160" y="3154680"/>
            <a:ext cx="2743200" cy="118872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Nodes: residues (41-dim)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Edges: contacts (5-dim)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PconsC4 + AlphaFold2</a:t>
            </a:r>
            <a:endParaRPr b="0" lang="en-US" sz="1000" strike="noStrike" u="none">
              <a:solidFill>
                <a:srgbClr val="000000"/>
              </a:solidFill>
              <a:effectLst/>
              <a:uFillTx/>
              <a:latin typeface="Arial"/>
            </a:endParaRPr>
          </a:p>
          <a:p>
            <a:pPr marL="137160" indent="-137160">
              <a:buClr>
                <a:srgbClr val="000000"/>
              </a:buClr>
              <a:buSzPct val="45000"/>
              <a:buFont typeface=""/>
              <a:buChar char=""/>
            </a:pPr>
            <a:r>
              <a:rPr b="0" lang="en-US" sz="1000" strike="noStrike" u="none">
                <a:solidFill>
                  <a:srgbClr val="536d79"/>
                </a:solidFill>
                <a:effectLst/>
                <a:uFillTx/>
                <a:latin typeface="ArialMT"/>
                <a:ea typeface="ArialMT"/>
              </a:rPr>
              <a:t>ESM-2 [L × 320]</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Laplacian PE (8-dim)</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17"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5</a:t>
            </a:r>
            <a:endParaRPr b="0" lang="en-US" sz="2400" strike="noStrike" u="none">
              <a:solidFill>
                <a:srgbClr val="000000"/>
              </a:solidFill>
              <a:effectLst/>
              <a:uFillTx/>
              <a:latin typeface="Arial"/>
            </a:endParaRPr>
          </a:p>
        </p:txBody>
      </p:sp>
      <p:sp>
        <p:nvSpPr>
          <p:cNvPr id="218"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Davis Dataset</a:t>
            </a:r>
            <a:endParaRPr b="0" lang="en-US" sz="3200" strike="noStrike" u="none">
              <a:solidFill>
                <a:srgbClr val="000000"/>
              </a:solidFill>
              <a:effectLst/>
              <a:uFillTx/>
              <a:latin typeface="Arial"/>
            </a:endParaRPr>
          </a:p>
        </p:txBody>
      </p:sp>
      <p:sp>
        <p:nvSpPr>
          <p:cNvPr id="219"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220"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Kinase inhibitor binding affinity benchmark</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21"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Davis Dataset Overview</a:t>
            </a:r>
            <a:endParaRPr b="0" lang="en-US" sz="2800" strike="noStrike" u="none">
              <a:solidFill>
                <a:srgbClr val="000000"/>
              </a:solidFill>
              <a:effectLst/>
              <a:uFillTx/>
              <a:latin typeface="Arial"/>
            </a:endParaRPr>
          </a:p>
        </p:txBody>
      </p:sp>
      <p:sp>
        <p:nvSpPr>
          <p:cNvPr id="222"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23"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68 kinase inhibitors × 365 kinases → 24,820 affinity measurements</a:t>
            </a:r>
            <a:endParaRPr b="0" lang="en-US" sz="1100" strike="noStrike" u="none">
              <a:solidFill>
                <a:srgbClr val="000000"/>
              </a:solidFill>
              <a:effectLst/>
              <a:uFillTx/>
              <a:latin typeface="Arial"/>
            </a:endParaRPr>
          </a:p>
        </p:txBody>
      </p:sp>
      <p:sp>
        <p:nvSpPr>
          <p:cNvPr id="224" name=""/>
          <p:cNvSpPr/>
          <p:nvPr/>
        </p:nvSpPr>
        <p:spPr>
          <a:xfrm>
            <a:off x="411480" y="1693080"/>
            <a:ext cx="3932280" cy="2286360"/>
          </a:xfrm>
          <a:custGeom>
            <a:avLst/>
            <a:gdLst/>
            <a:ahLst/>
            <a:rect l="0" t="0" r="r" b="b"/>
            <a:pathLst>
              <a:path w="10923" h="6351">
                <a:moveTo>
                  <a:pt x="0" y="0"/>
                </a:moveTo>
                <a:lnTo>
                  <a:pt x="10923" y="0"/>
                </a:lnTo>
                <a:lnTo>
                  <a:pt x="10923" y="6351"/>
                </a:lnTo>
                <a:lnTo>
                  <a:pt x="0" y="635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25" name=""/>
          <p:cNvSpPr/>
          <p:nvPr/>
        </p:nvSpPr>
        <p:spPr>
          <a:xfrm>
            <a:off x="411480" y="1693080"/>
            <a:ext cx="46080" cy="2286360"/>
          </a:xfrm>
          <a:custGeom>
            <a:avLst/>
            <a:gdLst/>
            <a:ahLst/>
            <a:rect l="0" t="0" r="r" b="b"/>
            <a:pathLst>
              <a:path w="128" h="6351">
                <a:moveTo>
                  <a:pt x="0" y="0"/>
                </a:moveTo>
                <a:lnTo>
                  <a:pt x="128" y="0"/>
                </a:lnTo>
                <a:lnTo>
                  <a:pt x="128" y="6351"/>
                </a:lnTo>
                <a:lnTo>
                  <a:pt x="0" y="6351"/>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26" name=""/>
          <p:cNvSpPr txBox="1"/>
          <p:nvPr/>
        </p:nvSpPr>
        <p:spPr>
          <a:xfrm>
            <a:off x="594360" y="1800000"/>
            <a:ext cx="2743200" cy="332640"/>
          </a:xfrm>
          <a:prstGeom prst="rect">
            <a:avLst/>
          </a:prstGeom>
          <a:noFill/>
          <a:ln w="0">
            <a:noFill/>
          </a:ln>
        </p:spPr>
        <p:txBody>
          <a:bodyPr lIns="90000" rIns="90000" tIns="45000" bIns="45000" anchor="t">
            <a:spAutoFit/>
          </a:bodyPr>
          <a:p>
            <a:r>
              <a:rPr b="1" lang="en-US" sz="1400" strike="noStrike" u="none">
                <a:solidFill>
                  <a:srgbClr val="0097a7"/>
                </a:solidFill>
                <a:effectLst/>
                <a:uFillTx/>
                <a:latin typeface="Arial-BoldMT"/>
                <a:ea typeface="Arial-BoldMT"/>
              </a:rPr>
              <a:t>Statistics</a:t>
            </a:r>
            <a:endParaRPr b="0" lang="en-US" sz="1400" strike="noStrike" u="none">
              <a:solidFill>
                <a:srgbClr val="000000"/>
              </a:solidFill>
              <a:effectLst/>
              <a:uFillTx/>
              <a:latin typeface="Arial"/>
            </a:endParaRPr>
          </a:p>
        </p:txBody>
      </p:sp>
      <p:sp>
        <p:nvSpPr>
          <p:cNvPr id="227" name=""/>
          <p:cNvSpPr txBox="1"/>
          <p:nvPr/>
        </p:nvSpPr>
        <p:spPr>
          <a:xfrm>
            <a:off x="594360" y="2144880"/>
            <a:ext cx="1828800" cy="280800"/>
          </a:xfrm>
          <a:prstGeom prst="rect">
            <a:avLst/>
          </a:prstGeom>
          <a:noFill/>
          <a:ln w="0">
            <a:noFill/>
          </a:ln>
        </p:spPr>
        <p:txBody>
          <a:bodyPr lIns="90000" rIns="90000" tIns="45000" bIns="45000" anchor="t">
            <a:spAutoFit/>
          </a:bodyPr>
          <a:p>
            <a:r>
              <a:rPr b="0" lang="en-US" sz="1100" strike="noStrike" u="none">
                <a:solidFill>
                  <a:srgbClr val="77909c"/>
                </a:solidFill>
                <a:effectLst/>
                <a:uFillTx/>
                <a:latin typeface="ArialMT"/>
                <a:ea typeface="ArialMT"/>
              </a:rPr>
              <a:t>Total Pairs</a:t>
            </a:r>
            <a:endParaRPr b="0" lang="en-US" sz="1100" strike="noStrike" u="none">
              <a:solidFill>
                <a:srgbClr val="000000"/>
              </a:solidFill>
              <a:effectLst/>
              <a:uFillTx/>
              <a:latin typeface="Arial"/>
            </a:endParaRPr>
          </a:p>
        </p:txBody>
      </p:sp>
      <p:sp>
        <p:nvSpPr>
          <p:cNvPr id="228" name=""/>
          <p:cNvSpPr txBox="1"/>
          <p:nvPr/>
        </p:nvSpPr>
        <p:spPr>
          <a:xfrm>
            <a:off x="2423160" y="2132640"/>
            <a:ext cx="1645920" cy="297720"/>
          </a:xfrm>
          <a:prstGeom prst="rect">
            <a:avLst/>
          </a:prstGeom>
          <a:noFill/>
          <a:ln w="0">
            <a:noFill/>
          </a:ln>
        </p:spPr>
        <p:txBody>
          <a:bodyPr lIns="90000" rIns="90000" tIns="45000" bIns="45000" anchor="t">
            <a:spAutoFit/>
          </a:bodyPr>
          <a:p>
            <a:r>
              <a:rPr b="1" lang="en-US" sz="1200" strike="noStrike" u="none">
                <a:solidFill>
                  <a:srgbClr val="0097a7"/>
                </a:solidFill>
                <a:effectLst/>
                <a:uFillTx/>
                <a:latin typeface="Arial-BoldMT"/>
                <a:ea typeface="Arial-BoldMT"/>
              </a:rPr>
              <a:t>24,820</a:t>
            </a:r>
            <a:endParaRPr b="0" lang="en-US" sz="1200" strike="noStrike" u="none">
              <a:solidFill>
                <a:srgbClr val="000000"/>
              </a:solidFill>
              <a:effectLst/>
              <a:uFillTx/>
              <a:latin typeface="Arial"/>
            </a:endParaRPr>
          </a:p>
        </p:txBody>
      </p:sp>
      <p:sp>
        <p:nvSpPr>
          <p:cNvPr id="229" name=""/>
          <p:cNvSpPr txBox="1"/>
          <p:nvPr/>
        </p:nvSpPr>
        <p:spPr>
          <a:xfrm>
            <a:off x="594360" y="2419200"/>
            <a:ext cx="1828800" cy="280800"/>
          </a:xfrm>
          <a:prstGeom prst="rect">
            <a:avLst/>
          </a:prstGeom>
          <a:noFill/>
          <a:ln w="0">
            <a:noFill/>
          </a:ln>
        </p:spPr>
        <p:txBody>
          <a:bodyPr lIns="90000" rIns="90000" tIns="45000" bIns="45000" anchor="t">
            <a:spAutoFit/>
          </a:bodyPr>
          <a:p>
            <a:r>
              <a:rPr b="0" lang="en-US" sz="1100" strike="noStrike" u="none">
                <a:solidFill>
                  <a:srgbClr val="77909c"/>
                </a:solidFill>
                <a:effectLst/>
                <a:uFillTx/>
                <a:latin typeface="ArialMT"/>
                <a:ea typeface="ArialMT"/>
              </a:rPr>
              <a:t>Unique Drugs</a:t>
            </a:r>
            <a:endParaRPr b="0" lang="en-US" sz="1100" strike="noStrike" u="none">
              <a:solidFill>
                <a:srgbClr val="000000"/>
              </a:solidFill>
              <a:effectLst/>
              <a:uFillTx/>
              <a:latin typeface="Arial"/>
            </a:endParaRPr>
          </a:p>
        </p:txBody>
      </p:sp>
      <p:sp>
        <p:nvSpPr>
          <p:cNvPr id="230" name=""/>
          <p:cNvSpPr txBox="1"/>
          <p:nvPr/>
        </p:nvSpPr>
        <p:spPr>
          <a:xfrm>
            <a:off x="2423160" y="2406960"/>
            <a:ext cx="1645920" cy="297720"/>
          </a:xfrm>
          <a:prstGeom prst="rect">
            <a:avLst/>
          </a:prstGeom>
          <a:noFill/>
          <a:ln w="0">
            <a:noFill/>
          </a:ln>
        </p:spPr>
        <p:txBody>
          <a:bodyPr lIns="90000" rIns="90000" tIns="45000" bIns="45000" anchor="t">
            <a:spAutoFit/>
          </a:bodyPr>
          <a:p>
            <a:r>
              <a:rPr b="1" lang="en-US" sz="1200" strike="noStrike" u="none">
                <a:solidFill>
                  <a:srgbClr val="e65000"/>
                </a:solidFill>
                <a:effectLst/>
                <a:uFillTx/>
                <a:latin typeface="Arial-BoldMT"/>
                <a:ea typeface="Arial-BoldMT"/>
              </a:rPr>
              <a:t>68</a:t>
            </a:r>
            <a:endParaRPr b="0" lang="en-US" sz="1200" strike="noStrike" u="none">
              <a:solidFill>
                <a:srgbClr val="000000"/>
              </a:solidFill>
              <a:effectLst/>
              <a:uFillTx/>
              <a:latin typeface="Arial"/>
            </a:endParaRPr>
          </a:p>
        </p:txBody>
      </p:sp>
      <p:sp>
        <p:nvSpPr>
          <p:cNvPr id="231" name=""/>
          <p:cNvSpPr txBox="1"/>
          <p:nvPr/>
        </p:nvSpPr>
        <p:spPr>
          <a:xfrm>
            <a:off x="594360" y="2693520"/>
            <a:ext cx="1828800" cy="280800"/>
          </a:xfrm>
          <a:prstGeom prst="rect">
            <a:avLst/>
          </a:prstGeom>
          <a:noFill/>
          <a:ln w="0">
            <a:noFill/>
          </a:ln>
        </p:spPr>
        <p:txBody>
          <a:bodyPr lIns="90000" rIns="90000" tIns="45000" bIns="45000" anchor="t">
            <a:spAutoFit/>
          </a:bodyPr>
          <a:p>
            <a:r>
              <a:rPr b="0" lang="en-US" sz="1100" strike="noStrike" u="none">
                <a:solidFill>
                  <a:srgbClr val="77909c"/>
                </a:solidFill>
                <a:effectLst/>
                <a:uFillTx/>
                <a:latin typeface="ArialMT"/>
                <a:ea typeface="ArialMT"/>
              </a:rPr>
              <a:t>Unique Proteins</a:t>
            </a:r>
            <a:endParaRPr b="0" lang="en-US" sz="1100" strike="noStrike" u="none">
              <a:solidFill>
                <a:srgbClr val="000000"/>
              </a:solidFill>
              <a:effectLst/>
              <a:uFillTx/>
              <a:latin typeface="Arial"/>
            </a:endParaRPr>
          </a:p>
        </p:txBody>
      </p:sp>
      <p:sp>
        <p:nvSpPr>
          <p:cNvPr id="232" name=""/>
          <p:cNvSpPr txBox="1"/>
          <p:nvPr/>
        </p:nvSpPr>
        <p:spPr>
          <a:xfrm>
            <a:off x="2423160" y="2681280"/>
            <a:ext cx="1645920" cy="297720"/>
          </a:xfrm>
          <a:prstGeom prst="rect">
            <a:avLst/>
          </a:prstGeom>
          <a:noFill/>
          <a:ln w="0">
            <a:noFill/>
          </a:ln>
        </p:spPr>
        <p:txBody>
          <a:bodyPr lIns="90000" rIns="90000" tIns="45000" bIns="45000" anchor="t">
            <a:spAutoFit/>
          </a:bodyPr>
          <a:p>
            <a:r>
              <a:rPr b="1" lang="en-US" sz="1200" strike="noStrike" u="none">
                <a:solidFill>
                  <a:srgbClr val="00897a"/>
                </a:solidFill>
                <a:effectLst/>
                <a:uFillTx/>
                <a:latin typeface="Arial-BoldMT"/>
                <a:ea typeface="Arial-BoldMT"/>
              </a:rPr>
              <a:t>365</a:t>
            </a:r>
            <a:endParaRPr b="0" lang="en-US" sz="1200" strike="noStrike" u="none">
              <a:solidFill>
                <a:srgbClr val="000000"/>
              </a:solidFill>
              <a:effectLst/>
              <a:uFillTx/>
              <a:latin typeface="Arial"/>
            </a:endParaRPr>
          </a:p>
        </p:txBody>
      </p:sp>
      <p:sp>
        <p:nvSpPr>
          <p:cNvPr id="233" name=""/>
          <p:cNvSpPr txBox="1"/>
          <p:nvPr/>
        </p:nvSpPr>
        <p:spPr>
          <a:xfrm>
            <a:off x="594360" y="2967840"/>
            <a:ext cx="1828800" cy="280800"/>
          </a:xfrm>
          <a:prstGeom prst="rect">
            <a:avLst/>
          </a:prstGeom>
          <a:noFill/>
          <a:ln w="0">
            <a:noFill/>
          </a:ln>
        </p:spPr>
        <p:txBody>
          <a:bodyPr lIns="90000" rIns="90000" tIns="45000" bIns="45000" anchor="t">
            <a:spAutoFit/>
          </a:bodyPr>
          <a:p>
            <a:r>
              <a:rPr b="0" lang="en-US" sz="1100" strike="noStrike" u="none">
                <a:solidFill>
                  <a:srgbClr val="77909c"/>
                </a:solidFill>
                <a:effectLst/>
                <a:uFillTx/>
                <a:latin typeface="ArialMT"/>
                <a:ea typeface="ArialMT"/>
              </a:rPr>
              <a:t>Label</a:t>
            </a:r>
            <a:endParaRPr b="0" lang="en-US" sz="1100" strike="noStrike" u="none">
              <a:solidFill>
                <a:srgbClr val="000000"/>
              </a:solidFill>
              <a:effectLst/>
              <a:uFillTx/>
              <a:latin typeface="Arial"/>
            </a:endParaRPr>
          </a:p>
        </p:txBody>
      </p:sp>
      <p:sp>
        <p:nvSpPr>
          <p:cNvPr id="234" name=""/>
          <p:cNvSpPr txBox="1"/>
          <p:nvPr/>
        </p:nvSpPr>
        <p:spPr>
          <a:xfrm>
            <a:off x="2423160" y="2955600"/>
            <a:ext cx="1645920" cy="297720"/>
          </a:xfrm>
          <a:prstGeom prst="rect">
            <a:avLst/>
          </a:prstGeom>
          <a:noFill/>
          <a:ln w="0">
            <a:noFill/>
          </a:ln>
        </p:spPr>
        <p:txBody>
          <a:bodyPr lIns="90000" rIns="90000" tIns="45000" bIns="45000" anchor="t">
            <a:spAutoFit/>
          </a:bodyPr>
          <a:p>
            <a:r>
              <a:rPr b="1" lang="en-US" sz="1200" strike="noStrike" u="none">
                <a:solidFill>
                  <a:srgbClr val="f9a824"/>
                </a:solidFill>
                <a:effectLst/>
                <a:uFillTx/>
                <a:latin typeface="Arial-BoldMT"/>
                <a:ea typeface="Arial-BoldMT"/>
              </a:rPr>
              <a:t>pKd (continuous)</a:t>
            </a:r>
            <a:endParaRPr b="0" lang="en-US" sz="1200" strike="noStrike" u="none">
              <a:solidFill>
                <a:srgbClr val="000000"/>
              </a:solidFill>
              <a:effectLst/>
              <a:uFillTx/>
              <a:latin typeface="Arial"/>
            </a:endParaRPr>
          </a:p>
        </p:txBody>
      </p:sp>
      <p:sp>
        <p:nvSpPr>
          <p:cNvPr id="235" name=""/>
          <p:cNvSpPr txBox="1"/>
          <p:nvPr/>
        </p:nvSpPr>
        <p:spPr>
          <a:xfrm>
            <a:off x="594360" y="3242160"/>
            <a:ext cx="1828800" cy="280800"/>
          </a:xfrm>
          <a:prstGeom prst="rect">
            <a:avLst/>
          </a:prstGeom>
          <a:noFill/>
          <a:ln w="0">
            <a:noFill/>
          </a:ln>
        </p:spPr>
        <p:txBody>
          <a:bodyPr lIns="90000" rIns="90000" tIns="45000" bIns="45000" anchor="t">
            <a:spAutoFit/>
          </a:bodyPr>
          <a:p>
            <a:r>
              <a:rPr b="0" lang="en-US" sz="1100" strike="noStrike" u="none">
                <a:solidFill>
                  <a:srgbClr val="77909c"/>
                </a:solidFill>
                <a:effectLst/>
                <a:uFillTx/>
                <a:latin typeface="ArialMT"/>
                <a:ea typeface="ArialMT"/>
              </a:rPr>
              <a:t>Range</a:t>
            </a:r>
            <a:endParaRPr b="0" lang="en-US" sz="1100" strike="noStrike" u="none">
              <a:solidFill>
                <a:srgbClr val="000000"/>
              </a:solidFill>
              <a:effectLst/>
              <a:uFillTx/>
              <a:latin typeface="Arial"/>
            </a:endParaRPr>
          </a:p>
        </p:txBody>
      </p:sp>
      <p:sp>
        <p:nvSpPr>
          <p:cNvPr id="236" name=""/>
          <p:cNvSpPr txBox="1"/>
          <p:nvPr/>
        </p:nvSpPr>
        <p:spPr>
          <a:xfrm>
            <a:off x="2423160" y="3229920"/>
            <a:ext cx="1645920" cy="297720"/>
          </a:xfrm>
          <a:prstGeom prst="rect">
            <a:avLst/>
          </a:prstGeom>
          <a:noFill/>
          <a:ln w="0">
            <a:noFill/>
          </a:ln>
        </p:spPr>
        <p:txBody>
          <a:bodyPr lIns="90000" rIns="90000" tIns="45000" bIns="45000" anchor="t">
            <a:spAutoFit/>
          </a:bodyPr>
          <a:p>
            <a:r>
              <a:rPr b="1" lang="en-US" sz="1200" strike="noStrike" u="none">
                <a:solidFill>
                  <a:srgbClr val="536d79"/>
                </a:solidFill>
                <a:effectLst/>
                <a:uFillTx/>
                <a:latin typeface="Arial-BoldMT"/>
                <a:ea typeface="Arial-BoldMT"/>
              </a:rPr>
              <a:t>5.0 — 10.8</a:t>
            </a:r>
            <a:endParaRPr b="0" lang="en-US" sz="1200" strike="noStrike" u="none">
              <a:solidFill>
                <a:srgbClr val="000000"/>
              </a:solidFill>
              <a:effectLst/>
              <a:uFillTx/>
              <a:latin typeface="Arial"/>
            </a:endParaRPr>
          </a:p>
        </p:txBody>
      </p:sp>
      <p:sp>
        <p:nvSpPr>
          <p:cNvPr id="237" name=""/>
          <p:cNvSpPr/>
          <p:nvPr/>
        </p:nvSpPr>
        <p:spPr>
          <a:xfrm>
            <a:off x="4617720" y="1693080"/>
            <a:ext cx="4115160" cy="2286360"/>
          </a:xfrm>
          <a:custGeom>
            <a:avLst/>
            <a:gdLst/>
            <a:ahLst/>
            <a:rect l="0" t="0" r="r" b="b"/>
            <a:pathLst>
              <a:path w="11431" h="6351">
                <a:moveTo>
                  <a:pt x="0" y="0"/>
                </a:moveTo>
                <a:lnTo>
                  <a:pt x="11431" y="0"/>
                </a:lnTo>
                <a:lnTo>
                  <a:pt x="11431" y="6351"/>
                </a:lnTo>
                <a:lnTo>
                  <a:pt x="0" y="635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38" name=""/>
          <p:cNvSpPr/>
          <p:nvPr/>
        </p:nvSpPr>
        <p:spPr>
          <a:xfrm>
            <a:off x="4617720" y="1693080"/>
            <a:ext cx="46080" cy="2286360"/>
          </a:xfrm>
          <a:custGeom>
            <a:avLst/>
            <a:gdLst/>
            <a:ahLst/>
            <a:rect l="0" t="0" r="r" b="b"/>
            <a:pathLst>
              <a:path w="128" h="6351">
                <a:moveTo>
                  <a:pt x="0" y="0"/>
                </a:moveTo>
                <a:lnTo>
                  <a:pt x="128" y="0"/>
                </a:lnTo>
                <a:lnTo>
                  <a:pt x="128" y="6351"/>
                </a:lnTo>
                <a:lnTo>
                  <a:pt x="0" y="6351"/>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39" name=""/>
          <p:cNvSpPr txBox="1"/>
          <p:nvPr/>
        </p:nvSpPr>
        <p:spPr>
          <a:xfrm>
            <a:off x="4800600" y="1800000"/>
            <a:ext cx="3657600" cy="332640"/>
          </a:xfrm>
          <a:prstGeom prst="rect">
            <a:avLst/>
          </a:prstGeom>
          <a:noFill/>
          <a:ln w="0">
            <a:noFill/>
          </a:ln>
        </p:spPr>
        <p:txBody>
          <a:bodyPr lIns="90000" rIns="90000" tIns="45000" bIns="45000" anchor="t">
            <a:spAutoFit/>
          </a:bodyPr>
          <a:p>
            <a:r>
              <a:rPr b="1" lang="en-US" sz="1400" strike="noStrike" u="none">
                <a:solidFill>
                  <a:srgbClr val="00897a"/>
                </a:solidFill>
                <a:effectLst/>
                <a:uFillTx/>
                <a:latin typeface="Arial-BoldMT"/>
                <a:ea typeface="Arial-BoldMT"/>
              </a:rPr>
              <a:t>Cold-Start Splits (Fold 4)</a:t>
            </a:r>
            <a:endParaRPr b="0" lang="en-US" sz="1400" strike="noStrike" u="none">
              <a:solidFill>
                <a:srgbClr val="000000"/>
              </a:solidFill>
              <a:effectLst/>
              <a:uFillTx/>
              <a:latin typeface="Arial"/>
            </a:endParaRPr>
          </a:p>
        </p:txBody>
      </p:sp>
      <p:sp>
        <p:nvSpPr>
          <p:cNvPr id="240" name=""/>
          <p:cNvSpPr/>
          <p:nvPr/>
        </p:nvSpPr>
        <p:spPr>
          <a:xfrm>
            <a:off x="4709160" y="2150280"/>
            <a:ext cx="37080" cy="411840"/>
          </a:xfrm>
          <a:custGeom>
            <a:avLst/>
            <a:gdLst/>
            <a:ahLst/>
            <a:rect l="0" t="0" r="r" b="b"/>
            <a:pathLst>
              <a:path w="103" h="1144">
                <a:moveTo>
                  <a:pt x="0" y="0"/>
                </a:moveTo>
                <a:lnTo>
                  <a:pt x="103" y="0"/>
                </a:lnTo>
                <a:lnTo>
                  <a:pt x="103" y="1144"/>
                </a:lnTo>
                <a:lnTo>
                  <a:pt x="0" y="1144"/>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41" name=""/>
          <p:cNvSpPr txBox="1"/>
          <p:nvPr/>
        </p:nvSpPr>
        <p:spPr>
          <a:xfrm>
            <a:off x="4892040" y="2167920"/>
            <a:ext cx="1371600" cy="280800"/>
          </a:xfrm>
          <a:prstGeom prst="rect">
            <a:avLst/>
          </a:prstGeom>
          <a:noFill/>
          <a:ln w="0">
            <a:noFill/>
          </a:ln>
        </p:spPr>
        <p:txBody>
          <a:bodyPr lIns="90000" rIns="90000" tIns="45000" bIns="45000" anchor="t">
            <a:spAutoFit/>
          </a:bodyPr>
          <a:p>
            <a:r>
              <a:rPr b="1" lang="en-US" sz="1100" strike="noStrike" u="none">
                <a:solidFill>
                  <a:srgbClr val="e65000"/>
                </a:solidFill>
                <a:effectLst/>
                <a:uFillTx/>
                <a:latin typeface="Arial-BoldMT"/>
                <a:ea typeface="Arial-BoldMT"/>
              </a:rPr>
              <a:t>Cold-Drug</a:t>
            </a:r>
            <a:endParaRPr b="0" lang="en-US" sz="1100" strike="noStrike" u="none">
              <a:solidFill>
                <a:srgbClr val="000000"/>
              </a:solidFill>
              <a:effectLst/>
              <a:uFillTx/>
              <a:latin typeface="Arial"/>
            </a:endParaRPr>
          </a:p>
        </p:txBody>
      </p:sp>
      <p:sp>
        <p:nvSpPr>
          <p:cNvPr id="242" name=""/>
          <p:cNvSpPr txBox="1"/>
          <p:nvPr/>
        </p:nvSpPr>
        <p:spPr>
          <a:xfrm>
            <a:off x="4892040" y="2352240"/>
            <a:ext cx="3657600" cy="2628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42 train | 13 test drugs</a:t>
            </a:r>
            <a:endParaRPr b="0" lang="en-US" sz="1000" strike="noStrike" u="none">
              <a:solidFill>
                <a:srgbClr val="000000"/>
              </a:solidFill>
              <a:effectLst/>
              <a:uFillTx/>
              <a:latin typeface="Arial"/>
            </a:endParaRPr>
          </a:p>
        </p:txBody>
      </p:sp>
      <p:sp>
        <p:nvSpPr>
          <p:cNvPr id="243" name=""/>
          <p:cNvSpPr/>
          <p:nvPr/>
        </p:nvSpPr>
        <p:spPr>
          <a:xfrm>
            <a:off x="4709160" y="2698920"/>
            <a:ext cx="37080" cy="411840"/>
          </a:xfrm>
          <a:custGeom>
            <a:avLst/>
            <a:gdLst/>
            <a:ahLst/>
            <a:rect l="0" t="0" r="r" b="b"/>
            <a:pathLst>
              <a:path w="103" h="1144">
                <a:moveTo>
                  <a:pt x="0" y="0"/>
                </a:moveTo>
                <a:lnTo>
                  <a:pt x="103" y="0"/>
                </a:lnTo>
                <a:lnTo>
                  <a:pt x="103" y="1144"/>
                </a:lnTo>
                <a:lnTo>
                  <a:pt x="0" y="1144"/>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44" name=""/>
          <p:cNvSpPr txBox="1"/>
          <p:nvPr/>
        </p:nvSpPr>
        <p:spPr>
          <a:xfrm>
            <a:off x="4892040" y="2716560"/>
            <a:ext cx="1371600" cy="280800"/>
          </a:xfrm>
          <a:prstGeom prst="rect">
            <a:avLst/>
          </a:prstGeom>
          <a:noFill/>
          <a:ln w="0">
            <a:noFill/>
          </a:ln>
        </p:spPr>
        <p:txBody>
          <a:bodyPr lIns="90000" rIns="90000" tIns="45000" bIns="45000" anchor="t">
            <a:spAutoFit/>
          </a:bodyPr>
          <a:p>
            <a:r>
              <a:rPr b="1" lang="en-US" sz="1100" strike="noStrike" u="none">
                <a:solidFill>
                  <a:srgbClr val="00897a"/>
                </a:solidFill>
                <a:effectLst/>
                <a:uFillTx/>
                <a:latin typeface="Arial-BoldMT"/>
                <a:ea typeface="Arial-BoldMT"/>
              </a:rPr>
              <a:t>Cold-Protein</a:t>
            </a:r>
            <a:endParaRPr b="0" lang="en-US" sz="1100" strike="noStrike" u="none">
              <a:solidFill>
                <a:srgbClr val="000000"/>
              </a:solidFill>
              <a:effectLst/>
              <a:uFillTx/>
              <a:latin typeface="Arial"/>
            </a:endParaRPr>
          </a:p>
        </p:txBody>
      </p:sp>
      <p:sp>
        <p:nvSpPr>
          <p:cNvPr id="245" name=""/>
          <p:cNvSpPr txBox="1"/>
          <p:nvPr/>
        </p:nvSpPr>
        <p:spPr>
          <a:xfrm>
            <a:off x="4892040" y="2900880"/>
            <a:ext cx="3657600" cy="2628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219 train | 73 test proteins</a:t>
            </a:r>
            <a:endParaRPr b="0" lang="en-US" sz="1000" strike="noStrike" u="none">
              <a:solidFill>
                <a:srgbClr val="000000"/>
              </a:solidFill>
              <a:effectLst/>
              <a:uFillTx/>
              <a:latin typeface="Arial"/>
            </a:endParaRPr>
          </a:p>
        </p:txBody>
      </p:sp>
      <p:sp>
        <p:nvSpPr>
          <p:cNvPr id="246" name=""/>
          <p:cNvSpPr/>
          <p:nvPr/>
        </p:nvSpPr>
        <p:spPr>
          <a:xfrm>
            <a:off x="4709160" y="3247560"/>
            <a:ext cx="37080" cy="411840"/>
          </a:xfrm>
          <a:custGeom>
            <a:avLst/>
            <a:gdLst/>
            <a:ahLst/>
            <a:rect l="0" t="0" r="r" b="b"/>
            <a:pathLst>
              <a:path w="103" h="1144">
                <a:moveTo>
                  <a:pt x="0" y="0"/>
                </a:moveTo>
                <a:lnTo>
                  <a:pt x="103" y="0"/>
                </a:lnTo>
                <a:lnTo>
                  <a:pt x="103" y="1144"/>
                </a:lnTo>
                <a:lnTo>
                  <a:pt x="0" y="1144"/>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47" name=""/>
          <p:cNvSpPr txBox="1"/>
          <p:nvPr/>
        </p:nvSpPr>
        <p:spPr>
          <a:xfrm>
            <a:off x="4892040" y="3265200"/>
            <a:ext cx="1371600" cy="280800"/>
          </a:xfrm>
          <a:prstGeom prst="rect">
            <a:avLst/>
          </a:prstGeom>
          <a:noFill/>
          <a:ln w="0">
            <a:noFill/>
          </a:ln>
        </p:spPr>
        <p:txBody>
          <a:bodyPr lIns="90000" rIns="90000" tIns="45000" bIns="45000" anchor="t">
            <a:spAutoFit/>
          </a:bodyPr>
          <a:p>
            <a:r>
              <a:rPr b="1" lang="en-US" sz="1100" strike="noStrike" u="none">
                <a:solidFill>
                  <a:srgbClr val="c62727"/>
                </a:solidFill>
                <a:effectLst/>
                <a:uFillTx/>
                <a:latin typeface="Arial-BoldMT"/>
                <a:ea typeface="Arial-BoldMT"/>
              </a:rPr>
              <a:t>Cold-Both</a:t>
            </a:r>
            <a:endParaRPr b="0" lang="en-US" sz="1100" strike="noStrike" u="none">
              <a:solidFill>
                <a:srgbClr val="000000"/>
              </a:solidFill>
              <a:effectLst/>
              <a:uFillTx/>
              <a:latin typeface="Arial"/>
            </a:endParaRPr>
          </a:p>
        </p:txBody>
      </p:sp>
      <p:sp>
        <p:nvSpPr>
          <p:cNvPr id="248" name=""/>
          <p:cNvSpPr txBox="1"/>
          <p:nvPr/>
        </p:nvSpPr>
        <p:spPr>
          <a:xfrm>
            <a:off x="4892040" y="3449520"/>
            <a:ext cx="3657600" cy="2628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42d×219p train | 13d×73p test</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49"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Step 1: Data Preprocessing &amp; Cold-Start CV</a:t>
            </a:r>
            <a:endParaRPr b="0" lang="en-US" sz="2800" strike="noStrike" u="none">
              <a:solidFill>
                <a:srgbClr val="000000"/>
              </a:solidFill>
              <a:effectLst/>
              <a:uFillTx/>
              <a:latin typeface="Arial"/>
            </a:endParaRPr>
          </a:p>
        </p:txBody>
      </p:sp>
      <p:sp>
        <p:nvSpPr>
          <p:cNvPr id="250"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51"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Full pipeline from Davis dataset to per-fold train/val/test CSVs</a:t>
            </a:r>
            <a:endParaRPr b="0" lang="en-US" sz="1100" strike="noStrike" u="none">
              <a:solidFill>
                <a:srgbClr val="000000"/>
              </a:solidFill>
              <a:effectLst/>
              <a:uFillTx/>
              <a:latin typeface="Arial"/>
            </a:endParaRPr>
          </a:p>
        </p:txBody>
      </p:sp>
      <p:pic>
        <p:nvPicPr>
          <p:cNvPr id="252" name="" descr=""/>
          <p:cNvPicPr/>
          <p:nvPr/>
        </p:nvPicPr>
        <p:blipFill>
          <a:blip r:embed="rId1"/>
          <a:stretch/>
        </p:blipFill>
        <p:spPr>
          <a:xfrm>
            <a:off x="91440" y="1143000"/>
            <a:ext cx="8961120" cy="38404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54"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6</a:t>
            </a:r>
            <a:endParaRPr b="0" lang="en-US" sz="2400" strike="noStrike" u="none">
              <a:solidFill>
                <a:srgbClr val="000000"/>
              </a:solidFill>
              <a:effectLst/>
              <a:uFillTx/>
              <a:latin typeface="Arial"/>
            </a:endParaRPr>
          </a:p>
        </p:txBody>
      </p:sp>
      <p:sp>
        <p:nvSpPr>
          <p:cNvPr id="255"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Model Architecture</a:t>
            </a:r>
            <a:endParaRPr b="0" lang="en-US" sz="3200" strike="noStrike" u="none">
              <a:solidFill>
                <a:srgbClr val="000000"/>
              </a:solidFill>
              <a:effectLst/>
              <a:uFillTx/>
              <a:latin typeface="Arial"/>
            </a:endParaRPr>
          </a:p>
        </p:txBody>
      </p:sp>
      <p:sp>
        <p:nvSpPr>
          <p:cNvPr id="256"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257"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Deep dive into the two-stage pipeline</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58"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Full Pipeline Overview</a:t>
            </a:r>
            <a:endParaRPr b="0" lang="en-US" sz="2800" strike="noStrike" u="none">
              <a:solidFill>
                <a:srgbClr val="000000"/>
              </a:solidFill>
              <a:effectLst/>
              <a:uFillTx/>
              <a:latin typeface="Arial"/>
            </a:endParaRPr>
          </a:p>
        </p:txBody>
      </p:sp>
      <p:sp>
        <p:nvSpPr>
          <p:cNvPr id="259"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60"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AttentionMGT-DTA: Data → Pretraining → Fine-tuning → Evaluation</a:t>
            </a:r>
            <a:endParaRPr b="0" lang="en-US" sz="1100" strike="noStrike" u="none">
              <a:solidFill>
                <a:srgbClr val="000000"/>
              </a:solidFill>
              <a:effectLst/>
              <a:uFillTx/>
              <a:latin typeface="Arial"/>
            </a:endParaRPr>
          </a:p>
        </p:txBody>
      </p:sp>
      <p:pic>
        <p:nvPicPr>
          <p:cNvPr id="261" name="" descr=""/>
          <p:cNvPicPr/>
          <p:nvPr/>
        </p:nvPicPr>
        <p:blipFill>
          <a:blip r:embed="rId1"/>
          <a:stretch/>
        </p:blipFill>
        <p:spPr>
          <a:xfrm>
            <a:off x="91440" y="1051560"/>
            <a:ext cx="8961120" cy="39319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62"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Graph Transformer Encoder</a:t>
            </a:r>
            <a:endParaRPr b="0" lang="en-US" sz="2800" strike="noStrike" u="none">
              <a:solidFill>
                <a:srgbClr val="000000"/>
              </a:solidFill>
              <a:effectLst/>
              <a:uFillTx/>
              <a:latin typeface="Arial"/>
            </a:endParaRPr>
          </a:p>
        </p:txBody>
      </p:sp>
      <p:sp>
        <p:nvSpPr>
          <p:cNvPr id="263"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64"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Edge-aware multi-head attention for molecular graphs</a:t>
            </a:r>
            <a:endParaRPr b="0" lang="en-US" sz="1100" strike="noStrike" u="none">
              <a:solidFill>
                <a:srgbClr val="000000"/>
              </a:solidFill>
              <a:effectLst/>
              <a:uFillTx/>
              <a:latin typeface="Arial"/>
            </a:endParaRPr>
          </a:p>
        </p:txBody>
      </p:sp>
      <p:pic>
        <p:nvPicPr>
          <p:cNvPr id="265" name="" descr=""/>
          <p:cNvPicPr/>
          <p:nvPr/>
        </p:nvPicPr>
        <p:blipFill>
          <a:blip r:embed="rId1"/>
          <a:stretch/>
        </p:blipFill>
        <p:spPr>
          <a:xfrm>
            <a:off x="5616360" y="98640"/>
            <a:ext cx="2385000" cy="4946760"/>
          </a:xfrm>
          <a:prstGeom prst="rect">
            <a:avLst/>
          </a:prstGeom>
          <a:noFill/>
          <a:ln w="0">
            <a:noFill/>
          </a:ln>
        </p:spPr>
      </p:pic>
      <p:sp>
        <p:nvSpPr>
          <p:cNvPr id="266" name=""/>
          <p:cNvSpPr/>
          <p:nvPr/>
        </p:nvSpPr>
        <p:spPr>
          <a:xfrm>
            <a:off x="529200" y="1119960"/>
            <a:ext cx="3932280" cy="3475080"/>
          </a:xfrm>
          <a:custGeom>
            <a:avLst/>
            <a:gdLst/>
            <a:ahLst/>
            <a:rect l="0" t="0" r="r" b="b"/>
            <a:pathLst>
              <a:path w="10923" h="9653">
                <a:moveTo>
                  <a:pt x="0" y="0"/>
                </a:moveTo>
                <a:lnTo>
                  <a:pt x="10923" y="0"/>
                </a:lnTo>
                <a:lnTo>
                  <a:pt x="10923"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67" name=""/>
          <p:cNvSpPr/>
          <p:nvPr/>
        </p:nvSpPr>
        <p:spPr>
          <a:xfrm>
            <a:off x="529200" y="111996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68" name=""/>
          <p:cNvSpPr txBox="1"/>
          <p:nvPr/>
        </p:nvSpPr>
        <p:spPr>
          <a:xfrm>
            <a:off x="712080" y="1233360"/>
            <a:ext cx="3657600" cy="314280"/>
          </a:xfrm>
          <a:prstGeom prst="rect">
            <a:avLst/>
          </a:prstGeom>
          <a:noFill/>
          <a:ln w="0">
            <a:noFill/>
          </a:ln>
        </p:spPr>
        <p:txBody>
          <a:bodyPr lIns="90000" rIns="90000" tIns="45000" bIns="45000" anchor="t">
            <a:spAutoFit/>
          </a:bodyPr>
          <a:p>
            <a:r>
              <a:rPr b="1" lang="en-US" sz="1300" strike="noStrike" u="none">
                <a:solidFill>
                  <a:srgbClr val="0097a7"/>
                </a:solidFill>
                <a:effectLst/>
                <a:uFillTx/>
                <a:latin typeface="Arial-BoldMT"/>
                <a:ea typeface="Arial-BoldMT"/>
              </a:rPr>
              <a:t>Multi-Head Attention (Edge-Modulated)</a:t>
            </a:r>
            <a:endParaRPr b="0" lang="en-US" sz="1300" strike="noStrike" u="none">
              <a:solidFill>
                <a:srgbClr val="000000"/>
              </a:solidFill>
              <a:effectLst/>
              <a:uFillTx/>
              <a:latin typeface="Arial"/>
            </a:endParaRPr>
          </a:p>
        </p:txBody>
      </p:sp>
      <p:sp>
        <p:nvSpPr>
          <p:cNvPr id="269" name=""/>
          <p:cNvSpPr txBox="1"/>
          <p:nvPr/>
        </p:nvSpPr>
        <p:spPr>
          <a:xfrm>
            <a:off x="712080" y="2236680"/>
            <a:ext cx="3566160" cy="1297440"/>
          </a:xfrm>
          <a:prstGeom prst="rect">
            <a:avLst/>
          </a:prstGeom>
          <a:noFill/>
          <a:ln w="0">
            <a:noFill/>
          </a:ln>
        </p:spPr>
        <p:txBody>
          <a:bodyPr lIns="90000" rIns="90000" tIns="45000" bIns="45000" anchor="t">
            <a:spAutoFit/>
          </a:bodyPr>
          <a:p>
            <a:r>
              <a:rPr b="1" lang="en-US" sz="1000" strike="noStrike" u="none">
                <a:solidFill>
                  <a:srgbClr val="536d79"/>
                </a:solidFill>
                <a:effectLst/>
                <a:uFillTx/>
                <a:latin typeface="Arial-BoldMT"/>
                <a:ea typeface="Arial-BoldMT"/>
              </a:rPr>
              <a:t>1. Q = W_Q · h[dst], K = W_K · h[src], V = W_V · h[src]</a:t>
            </a:r>
            <a:endParaRPr b="0" lang="en-US" sz="1000" strike="noStrike" u="none">
              <a:solidFill>
                <a:srgbClr val="000000"/>
              </a:solidFill>
              <a:effectLst/>
              <a:uFillTx/>
              <a:latin typeface="Arial"/>
            </a:endParaRPr>
          </a:p>
          <a:p>
            <a:r>
              <a:rPr b="1" lang="en-US" sz="1000" strike="noStrike" u="none">
                <a:solidFill>
                  <a:srgbClr val="536d79"/>
                </a:solidFill>
                <a:effectLst/>
                <a:uFillTx/>
                <a:latin typeface="Arial-BoldMT"/>
                <a:ea typeface="Arial-BoldMT"/>
              </a:rPr>
              <a:t>2. E_proj = W_E · edge_attr</a:t>
            </a:r>
            <a:endParaRPr b="0" lang="en-US" sz="1000" strike="noStrike" u="none">
              <a:solidFill>
                <a:srgbClr val="000000"/>
              </a:solidFill>
              <a:effectLst/>
              <a:uFillTx/>
              <a:latin typeface="Arial"/>
            </a:endParaRPr>
          </a:p>
          <a:p>
            <a:r>
              <a:rPr b="1" lang="en-US" sz="1000" strike="noStrike" u="none">
                <a:solidFill>
                  <a:srgbClr val="536d79"/>
                </a:solidFill>
                <a:effectLst/>
                <a:uFillTx/>
                <a:latin typeface="Arial-BoldMT"/>
                <a:ea typeface="Arial-BoldMT"/>
              </a:rPr>
              <a:t>3. score = (Q · K / √d_k) ⊙ E_proj</a:t>
            </a:r>
            <a:endParaRPr b="0" lang="en-US" sz="1000" strike="noStrike" u="none">
              <a:solidFill>
                <a:srgbClr val="000000"/>
              </a:solidFill>
              <a:effectLst/>
              <a:uFillTx/>
              <a:latin typeface="Arial"/>
            </a:endParaRPr>
          </a:p>
          <a:p>
            <a:r>
              <a:rPr b="0" i="1" lang="en-US" sz="1000" strike="noStrike" u="none">
                <a:solidFill>
                  <a:srgbClr val="0097a7"/>
                </a:solidFill>
                <a:effectLst/>
                <a:uFillTx/>
                <a:latin typeface="Arial-ItalicMT"/>
                <a:ea typeface="Arial-ItalicMT"/>
              </a:rPr>
              <a:t>  Edge features modulate attention!</a:t>
            </a:r>
            <a:endParaRPr b="0" lang="en-US" sz="1000" strike="noStrike" u="none">
              <a:solidFill>
                <a:srgbClr val="000000"/>
              </a:solidFill>
              <a:effectLst/>
              <a:uFillTx/>
              <a:latin typeface="Arial"/>
            </a:endParaRPr>
          </a:p>
          <a:p>
            <a:r>
              <a:rPr b="1" lang="en-US" sz="1000" strike="noStrike" u="none">
                <a:solidFill>
                  <a:srgbClr val="536d79"/>
                </a:solidFill>
                <a:effectLst/>
                <a:uFillTx/>
                <a:latin typeface="Arial-BoldMT"/>
                <a:ea typeface="Arial-BoldMT"/>
              </a:rPr>
              <a:t>4. softmax per destination node</a:t>
            </a:r>
            <a:endParaRPr b="0" lang="en-US" sz="1000" strike="noStrike" u="none">
              <a:solidFill>
                <a:srgbClr val="000000"/>
              </a:solidFill>
              <a:effectLst/>
              <a:uFillTx/>
              <a:latin typeface="Arial"/>
            </a:endParaRPr>
          </a:p>
          <a:p>
            <a:r>
              <a:rPr b="1" lang="en-US" sz="1000" strike="noStrike" u="none">
                <a:solidFill>
                  <a:srgbClr val="536d79"/>
                </a:solidFill>
                <a:effectLst/>
                <a:uFillTx/>
                <a:latin typeface="Arial-BoldMT"/>
                <a:ea typeface="Arial-BoldMT"/>
              </a:rPr>
              <a:t>5. weighted sum of V → h_out</a:t>
            </a:r>
            <a:endParaRPr b="0" lang="en-US" sz="1000" strike="noStrike" u="none">
              <a:solidFill>
                <a:srgbClr val="000000"/>
              </a:solidFill>
              <a:effectLst/>
              <a:uFillTx/>
              <a:latin typeface="Arial"/>
            </a:endParaRPr>
          </a:p>
          <a:p>
            <a:r>
              <a:rPr b="0" lang="en-US" sz="1000" strike="noStrike" u="none">
                <a:solidFill>
                  <a:srgbClr val="77909c"/>
                </a:solidFill>
                <a:effectLst/>
                <a:uFillTx/>
                <a:latin typeface="ArialMT"/>
                <a:ea typeface="ArialMT"/>
              </a:rPr>
              <a:t>Config: 4 heads, d_k=32, clamping [-5,5]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70"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Graph Transformer: Key Details</a:t>
            </a:r>
            <a:endParaRPr b="0" lang="en-US" sz="2800" strike="noStrike" u="none">
              <a:solidFill>
                <a:srgbClr val="000000"/>
              </a:solidFill>
              <a:effectLst/>
              <a:uFillTx/>
              <a:latin typeface="Arial"/>
            </a:endParaRPr>
          </a:p>
        </p:txBody>
      </p:sp>
      <p:sp>
        <p:nvSpPr>
          <p:cNvPr id="271"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72"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What makes it different from standard transformers</a:t>
            </a:r>
            <a:endParaRPr b="0" lang="en-US" sz="1100" strike="noStrike" u="none">
              <a:solidFill>
                <a:srgbClr val="000000"/>
              </a:solidFill>
              <a:effectLst/>
              <a:uFillTx/>
              <a:latin typeface="Arial"/>
            </a:endParaRPr>
          </a:p>
        </p:txBody>
      </p:sp>
      <p:sp>
        <p:nvSpPr>
          <p:cNvPr id="273" name=""/>
          <p:cNvSpPr/>
          <p:nvPr/>
        </p:nvSpPr>
        <p:spPr>
          <a:xfrm>
            <a:off x="4754880" y="1234440"/>
            <a:ext cx="4023720" cy="1646280"/>
          </a:xfrm>
          <a:custGeom>
            <a:avLst/>
            <a:gdLst/>
            <a:ahLst/>
            <a:rect l="0" t="0" r="r" b="b"/>
            <a:pathLst>
              <a:path w="11177" h="4573">
                <a:moveTo>
                  <a:pt x="0" y="0"/>
                </a:moveTo>
                <a:lnTo>
                  <a:pt x="11177" y="0"/>
                </a:lnTo>
                <a:lnTo>
                  <a:pt x="11177" y="4573"/>
                </a:lnTo>
                <a:lnTo>
                  <a:pt x="0" y="457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74" name=""/>
          <p:cNvSpPr/>
          <p:nvPr/>
        </p:nvSpPr>
        <p:spPr>
          <a:xfrm>
            <a:off x="4754880" y="1234440"/>
            <a:ext cx="46080" cy="1646280"/>
          </a:xfrm>
          <a:custGeom>
            <a:avLst/>
            <a:gdLst/>
            <a:ahLst/>
            <a:rect l="0" t="0" r="r" b="b"/>
            <a:pathLst>
              <a:path w="128" h="4573">
                <a:moveTo>
                  <a:pt x="0" y="0"/>
                </a:moveTo>
                <a:lnTo>
                  <a:pt x="128" y="0"/>
                </a:lnTo>
                <a:lnTo>
                  <a:pt x="128" y="4573"/>
                </a:lnTo>
                <a:lnTo>
                  <a:pt x="0" y="4573"/>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75" name=""/>
          <p:cNvSpPr txBox="1"/>
          <p:nvPr/>
        </p:nvSpPr>
        <p:spPr>
          <a:xfrm>
            <a:off x="4937760" y="1347480"/>
            <a:ext cx="3657600" cy="314280"/>
          </a:xfrm>
          <a:prstGeom prst="rect">
            <a:avLst/>
          </a:prstGeom>
          <a:noFill/>
          <a:ln w="0">
            <a:noFill/>
          </a:ln>
        </p:spPr>
        <p:txBody>
          <a:bodyPr lIns="90000" rIns="90000" tIns="45000" bIns="45000" anchor="t">
            <a:spAutoFit/>
          </a:bodyPr>
          <a:p>
            <a:r>
              <a:rPr b="1" lang="en-US" sz="1300" strike="noStrike" u="none">
                <a:solidFill>
                  <a:srgbClr val="2d7c31"/>
                </a:solidFill>
                <a:effectLst/>
                <a:uFillTx/>
                <a:latin typeface="Arial-BoldMT"/>
                <a:ea typeface="Arial-BoldMT"/>
              </a:rPr>
              <a:t>Residual + LayerNorm + FFN</a:t>
            </a:r>
            <a:endParaRPr b="0" lang="en-US" sz="1300" strike="noStrike" u="none">
              <a:solidFill>
                <a:srgbClr val="000000"/>
              </a:solidFill>
              <a:effectLst/>
              <a:uFillTx/>
              <a:latin typeface="Arial"/>
            </a:endParaRPr>
          </a:p>
        </p:txBody>
      </p:sp>
      <p:sp>
        <p:nvSpPr>
          <p:cNvPr id="276" name=""/>
          <p:cNvSpPr txBox="1"/>
          <p:nvPr/>
        </p:nvSpPr>
        <p:spPr>
          <a:xfrm>
            <a:off x="4937760" y="1788840"/>
            <a:ext cx="3657600" cy="9525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After attention: O_h linear → + residual → LayerNorm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FFN: 128→256→128 (ReLU + Dropout) → + residual → LayerNorm</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Both node (h) AND edge (e) features are updated every layer.</a:t>
            </a:r>
            <a:endParaRPr b="0" lang="en-US" sz="1000" strike="noStrike" u="none">
              <a:solidFill>
                <a:srgbClr val="000000"/>
              </a:solidFill>
              <a:effectLst/>
              <a:uFillTx/>
              <a:latin typeface="Arial"/>
            </a:endParaRPr>
          </a:p>
        </p:txBody>
      </p:sp>
      <p:sp>
        <p:nvSpPr>
          <p:cNvPr id="277" name=""/>
          <p:cNvSpPr/>
          <p:nvPr/>
        </p:nvSpPr>
        <p:spPr>
          <a:xfrm>
            <a:off x="363240" y="1234440"/>
            <a:ext cx="4023720" cy="1646280"/>
          </a:xfrm>
          <a:custGeom>
            <a:avLst/>
            <a:gdLst/>
            <a:ahLst/>
            <a:rect l="0" t="0" r="r" b="b"/>
            <a:pathLst>
              <a:path w="11177" h="4573">
                <a:moveTo>
                  <a:pt x="0" y="0"/>
                </a:moveTo>
                <a:lnTo>
                  <a:pt x="11177" y="0"/>
                </a:lnTo>
                <a:lnTo>
                  <a:pt x="11177" y="4573"/>
                </a:lnTo>
                <a:lnTo>
                  <a:pt x="0" y="457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78" name=""/>
          <p:cNvSpPr/>
          <p:nvPr/>
        </p:nvSpPr>
        <p:spPr>
          <a:xfrm>
            <a:off x="363240" y="1234440"/>
            <a:ext cx="46080" cy="1646280"/>
          </a:xfrm>
          <a:custGeom>
            <a:avLst/>
            <a:gdLst/>
            <a:ahLst/>
            <a:rect l="0" t="0" r="r" b="b"/>
            <a:pathLst>
              <a:path w="128" h="4573">
                <a:moveTo>
                  <a:pt x="0" y="0"/>
                </a:moveTo>
                <a:lnTo>
                  <a:pt x="128" y="0"/>
                </a:lnTo>
                <a:lnTo>
                  <a:pt x="128" y="4573"/>
                </a:lnTo>
                <a:lnTo>
                  <a:pt x="0" y="4573"/>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79" name=""/>
          <p:cNvSpPr txBox="1"/>
          <p:nvPr/>
        </p:nvSpPr>
        <p:spPr>
          <a:xfrm>
            <a:off x="546120" y="1347480"/>
            <a:ext cx="3657600" cy="314280"/>
          </a:xfrm>
          <a:prstGeom prst="rect">
            <a:avLst/>
          </a:prstGeom>
          <a:noFill/>
          <a:ln w="0">
            <a:noFill/>
          </a:ln>
        </p:spPr>
        <p:txBody>
          <a:bodyPr lIns="90000" rIns="90000" tIns="45000" bIns="45000" anchor="t">
            <a:spAutoFit/>
          </a:bodyPr>
          <a:p>
            <a:r>
              <a:rPr b="1" lang="en-US" sz="1300" strike="noStrike" u="none">
                <a:solidFill>
                  <a:srgbClr val="f9a824"/>
                </a:solidFill>
                <a:effectLst/>
                <a:uFillTx/>
                <a:latin typeface="Arial-BoldMT"/>
                <a:ea typeface="Arial-BoldMT"/>
              </a:rPr>
              <a:t>Two Separate Encoders</a:t>
            </a:r>
            <a:endParaRPr b="0" lang="en-US" sz="1300" strike="noStrike" u="none">
              <a:solidFill>
                <a:srgbClr val="000000"/>
              </a:solidFill>
              <a:effectLst/>
              <a:uFillTx/>
              <a:latin typeface="Arial"/>
            </a:endParaRPr>
          </a:p>
        </p:txBody>
      </p:sp>
      <p:sp>
        <p:nvSpPr>
          <p:cNvPr id="280" name=""/>
          <p:cNvSpPr txBox="1"/>
          <p:nvPr/>
        </p:nvSpPr>
        <p:spPr>
          <a:xfrm>
            <a:off x="546120" y="1545120"/>
            <a:ext cx="3657600" cy="102456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GraphTransformerCompound</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node_dim=44, edge_dim=10 (drug)</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GraphTransformerProtein</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node_dim=41, edge_dim=5 (protein)</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Weights NOT shared. Same architecture.</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81"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Stage 1: X-CLR Contrastive Pretraining</a:t>
            </a:r>
            <a:endParaRPr b="0" lang="en-US" sz="2800" strike="noStrike" u="none">
              <a:solidFill>
                <a:srgbClr val="000000"/>
              </a:solidFill>
              <a:effectLst/>
              <a:uFillTx/>
              <a:latin typeface="Arial"/>
            </a:endParaRPr>
          </a:p>
        </p:txBody>
      </p:sp>
      <p:sp>
        <p:nvSpPr>
          <p:cNvPr id="282"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83"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Learning robust representations via soft-target contrastive loss</a:t>
            </a:r>
            <a:endParaRPr b="0" lang="en-US" sz="1100" strike="noStrike" u="none">
              <a:solidFill>
                <a:srgbClr val="000000"/>
              </a:solidFill>
              <a:effectLst/>
              <a:uFillTx/>
              <a:latin typeface="Arial"/>
            </a:endParaRPr>
          </a:p>
        </p:txBody>
      </p:sp>
      <p:pic>
        <p:nvPicPr>
          <p:cNvPr id="284" name="" descr=""/>
          <p:cNvPicPr/>
          <p:nvPr/>
        </p:nvPicPr>
        <p:blipFill>
          <a:blip r:embed="rId1"/>
          <a:stretch/>
        </p:blipFill>
        <p:spPr>
          <a:xfrm>
            <a:off x="1371600" y="1103760"/>
            <a:ext cx="6400800" cy="40233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85"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X-CLR Loss Function: How It Works</a:t>
            </a:r>
            <a:endParaRPr b="0" lang="en-US" sz="2800" strike="noStrike" u="none">
              <a:solidFill>
                <a:srgbClr val="000000"/>
              </a:solidFill>
              <a:effectLst/>
              <a:uFillTx/>
              <a:latin typeface="Arial"/>
            </a:endParaRPr>
          </a:p>
        </p:txBody>
      </p:sp>
      <p:sp>
        <p:nvSpPr>
          <p:cNvPr id="286"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287"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Numerically stable soft-target contrastive learning</a:t>
            </a:r>
            <a:endParaRPr b="0" lang="en-US" sz="1100" strike="noStrike" u="none">
              <a:solidFill>
                <a:srgbClr val="000000"/>
              </a:solidFill>
              <a:effectLst/>
              <a:uFillTx/>
              <a:latin typeface="Arial"/>
            </a:endParaRPr>
          </a:p>
        </p:txBody>
      </p:sp>
      <p:sp>
        <p:nvSpPr>
          <p:cNvPr id="288" name=""/>
          <p:cNvSpPr/>
          <p:nvPr/>
        </p:nvSpPr>
        <p:spPr>
          <a:xfrm>
            <a:off x="457200" y="1143000"/>
            <a:ext cx="8321400" cy="2103480"/>
          </a:xfrm>
          <a:custGeom>
            <a:avLst/>
            <a:gdLst/>
            <a:ahLst/>
            <a:rect l="0" t="0" r="r" b="b"/>
            <a:pathLst>
              <a:path w="23115" h="5843">
                <a:moveTo>
                  <a:pt x="0" y="0"/>
                </a:moveTo>
                <a:lnTo>
                  <a:pt x="23115" y="0"/>
                </a:lnTo>
                <a:lnTo>
                  <a:pt x="23115" y="5843"/>
                </a:lnTo>
                <a:lnTo>
                  <a:pt x="0" y="584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89" name=""/>
          <p:cNvSpPr/>
          <p:nvPr/>
        </p:nvSpPr>
        <p:spPr>
          <a:xfrm>
            <a:off x="457200" y="1143000"/>
            <a:ext cx="46080" cy="2103480"/>
          </a:xfrm>
          <a:custGeom>
            <a:avLst/>
            <a:gdLst/>
            <a:ahLst/>
            <a:rect l="0" t="0" r="r" b="b"/>
            <a:pathLst>
              <a:path w="128" h="5843">
                <a:moveTo>
                  <a:pt x="0" y="0"/>
                </a:moveTo>
                <a:lnTo>
                  <a:pt x="128" y="0"/>
                </a:lnTo>
                <a:lnTo>
                  <a:pt x="128" y="5843"/>
                </a:lnTo>
                <a:lnTo>
                  <a:pt x="0" y="5843"/>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90" name=""/>
          <p:cNvSpPr txBox="1"/>
          <p:nvPr/>
        </p:nvSpPr>
        <p:spPr>
          <a:xfrm>
            <a:off x="640080" y="1234440"/>
            <a:ext cx="7955280" cy="1645920"/>
          </a:xfrm>
          <a:prstGeom prst="rect">
            <a:avLst/>
          </a:prstGeom>
          <a:noFill/>
          <a:ln w="0">
            <a:noFill/>
          </a:ln>
        </p:spPr>
        <p:txBody>
          <a:bodyPr lIns="90000" rIns="90000" tIns="45000" bIns="45000" anchor="t">
            <a:spAutoFit/>
          </a:bodyPr>
          <a:p>
            <a:r>
              <a:rPr b="1" lang="en-US" sz="1100" strike="noStrike" u="none">
                <a:solidFill>
                  <a:srgbClr val="191e35"/>
                </a:solidFill>
                <a:effectLst/>
                <a:uFillTx/>
                <a:latin typeface="Arial-BoldMT"/>
                <a:ea typeface="Arial-BoldMT"/>
              </a:rPr>
              <a:t>Step 1: </a:t>
            </a:r>
            <a:r>
              <a:rPr b="0" lang="en-US" sz="1100" strike="noStrike" u="none">
                <a:solidFill>
                  <a:srgbClr val="536d79"/>
                </a:solidFill>
                <a:effectLst/>
                <a:uFillTx/>
                <a:latin typeface="ArialMT"/>
                <a:ea typeface="ArialMT"/>
              </a:rPr>
              <a:t>Compute learned similarity: sim_z = z · z^T / τ  (τ=0.1)</a:t>
            </a:r>
            <a:endParaRPr b="0" lang="en-US" sz="1100" strike="noStrike" u="none">
              <a:solidFill>
                <a:srgbClr val="000000"/>
              </a:solidFill>
              <a:effectLst/>
              <a:uFillTx/>
              <a:latin typeface="Arial"/>
            </a:endParaRPr>
          </a:p>
          <a:p>
            <a:r>
              <a:rPr b="1" lang="en-US" sz="1100" strike="noStrike" u="none">
                <a:solidFill>
                  <a:srgbClr val="191e35"/>
                </a:solidFill>
                <a:effectLst/>
                <a:uFillTx/>
                <a:latin typeface="Arial-BoldMT"/>
                <a:ea typeface="Arial-BoldMT"/>
              </a:rPr>
              <a:t>Step 2: </a:t>
            </a:r>
            <a:r>
              <a:rPr b="0" lang="en-US" sz="1100" strike="noStrike" u="none">
                <a:solidFill>
                  <a:srgbClr val="536d79"/>
                </a:solidFill>
                <a:effectLst/>
                <a:uFillTx/>
                <a:latin typeface="ArialMT"/>
                <a:ea typeface="ArialMT"/>
              </a:rPr>
              <a:t>Build soft targets from oracle: targets = softmax(g_soft / τ_s)  (τ_s=0.05)</a:t>
            </a:r>
            <a:endParaRPr b="0" lang="en-US" sz="1100" strike="noStrike" u="none">
              <a:solidFill>
                <a:srgbClr val="000000"/>
              </a:solidFill>
              <a:effectLst/>
              <a:uFillTx/>
              <a:latin typeface="Arial"/>
            </a:endParaRPr>
          </a:p>
          <a:p>
            <a:r>
              <a:rPr b="1" lang="en-US" sz="1100" strike="noStrike" u="none">
                <a:solidFill>
                  <a:srgbClr val="191e35"/>
                </a:solidFill>
                <a:effectLst/>
                <a:uFillTx/>
                <a:latin typeface="Arial-BoldMT"/>
                <a:ea typeface="Arial-BoldMT"/>
              </a:rPr>
              <a:t>Step 3: </a:t>
            </a:r>
            <a:r>
              <a:rPr b="0" lang="en-US" sz="1100" strike="noStrike" u="none">
                <a:solidFill>
                  <a:srgbClr val="536d79"/>
                </a:solidFill>
                <a:effectLst/>
                <a:uFillTx/>
                <a:latin typeface="ArialMT"/>
                <a:ea typeface="ArialMT"/>
              </a:rPr>
              <a:t>Cross-entropy: L = H(targets, log_softmax(sim))  — off-diagonal only</a:t>
            </a:r>
            <a:endParaRPr b="0" lang="en-US" sz="1100" strike="noStrike" u="none">
              <a:solidFill>
                <a:srgbClr val="000000"/>
              </a:solidFill>
              <a:effectLst/>
              <a:uFillTx/>
              <a:latin typeface="Arial"/>
            </a:endParaRPr>
          </a:p>
          <a:p>
            <a:r>
              <a:rPr b="1" lang="en-US" sz="1300" strike="noStrike" u="none">
                <a:solidFill>
                  <a:srgbClr val="191e35"/>
                </a:solidFill>
                <a:effectLst/>
                <a:uFillTx/>
                <a:latin typeface="Arial-BoldMT"/>
                <a:ea typeface="Arial-BoldMT"/>
              </a:rPr>
              <a:t>L_total = L_drug + L_protein</a:t>
            </a:r>
            <a:endParaRPr b="0" lang="en-US" sz="1300" strike="noStrike" u="none">
              <a:solidFill>
                <a:srgbClr val="000000"/>
              </a:solidFill>
              <a:effectLst/>
              <a:uFillTx/>
              <a:latin typeface="Arial"/>
            </a:endParaRPr>
          </a:p>
        </p:txBody>
      </p:sp>
      <p:sp>
        <p:nvSpPr>
          <p:cNvPr id="291" name=""/>
          <p:cNvSpPr/>
          <p:nvPr/>
        </p:nvSpPr>
        <p:spPr>
          <a:xfrm>
            <a:off x="457200" y="3474720"/>
            <a:ext cx="3932280" cy="1189080"/>
          </a:xfrm>
          <a:custGeom>
            <a:avLst/>
            <a:gdLst/>
            <a:ahLst/>
            <a:rect l="0" t="0" r="r" b="b"/>
            <a:pathLst>
              <a:path w="10923" h="3303">
                <a:moveTo>
                  <a:pt x="0" y="0"/>
                </a:moveTo>
                <a:lnTo>
                  <a:pt x="10923" y="0"/>
                </a:lnTo>
                <a:lnTo>
                  <a:pt x="10923" y="3303"/>
                </a:lnTo>
                <a:lnTo>
                  <a:pt x="0" y="330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92" name=""/>
          <p:cNvSpPr/>
          <p:nvPr/>
        </p:nvSpPr>
        <p:spPr>
          <a:xfrm>
            <a:off x="457200" y="3474720"/>
            <a:ext cx="46080" cy="1189080"/>
          </a:xfrm>
          <a:custGeom>
            <a:avLst/>
            <a:gdLst/>
            <a:ahLst/>
            <a:rect l="0" t="0" r="r" b="b"/>
            <a:pathLst>
              <a:path w="128" h="3303">
                <a:moveTo>
                  <a:pt x="0" y="0"/>
                </a:moveTo>
                <a:lnTo>
                  <a:pt x="128" y="0"/>
                </a:lnTo>
                <a:lnTo>
                  <a:pt x="128" y="3303"/>
                </a:lnTo>
                <a:lnTo>
                  <a:pt x="0" y="330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93" name=""/>
          <p:cNvSpPr txBox="1"/>
          <p:nvPr/>
        </p:nvSpPr>
        <p:spPr>
          <a:xfrm>
            <a:off x="640080" y="3566160"/>
            <a:ext cx="3657600" cy="297720"/>
          </a:xfrm>
          <a:prstGeom prst="rect">
            <a:avLst/>
          </a:prstGeom>
          <a:noFill/>
          <a:ln w="0">
            <a:noFill/>
          </a:ln>
        </p:spPr>
        <p:txBody>
          <a:bodyPr lIns="90000" rIns="90000" tIns="45000" bIns="45000" anchor="t">
            <a:spAutoFit/>
          </a:bodyPr>
          <a:p>
            <a:r>
              <a:rPr b="1" lang="en-US" sz="1200" strike="noStrike" u="none">
                <a:solidFill>
                  <a:srgbClr val="e65000"/>
                </a:solidFill>
                <a:effectLst/>
                <a:uFillTx/>
                <a:latin typeface="Arial-BoldMT"/>
                <a:ea typeface="Arial-BoldMT"/>
              </a:rPr>
              <a:t>Drug Oracle: ChemBERTa</a:t>
            </a:r>
            <a:endParaRPr b="0" lang="en-US" sz="1200" strike="noStrike" u="none">
              <a:solidFill>
                <a:srgbClr val="000000"/>
              </a:solidFill>
              <a:effectLst/>
              <a:uFillTx/>
              <a:latin typeface="Arial"/>
            </a:endParaRPr>
          </a:p>
        </p:txBody>
      </p:sp>
      <p:sp>
        <p:nvSpPr>
          <p:cNvPr id="294" name=""/>
          <p:cNvSpPr txBox="1"/>
          <p:nvPr/>
        </p:nvSpPr>
        <p:spPr>
          <a:xfrm>
            <a:off x="640080" y="3840480"/>
            <a:ext cx="3566160" cy="54864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Frozen, 768-dim. SMILES → [CLS] token → L2 norm → pairwise cosine → g_soft_drug [B×B]</a:t>
            </a:r>
            <a:endParaRPr b="0" lang="en-US" sz="1000" strike="noStrike" u="none">
              <a:solidFill>
                <a:srgbClr val="000000"/>
              </a:solidFill>
              <a:effectLst/>
              <a:uFillTx/>
              <a:latin typeface="Arial"/>
            </a:endParaRPr>
          </a:p>
        </p:txBody>
      </p:sp>
      <p:sp>
        <p:nvSpPr>
          <p:cNvPr id="295" name=""/>
          <p:cNvSpPr/>
          <p:nvPr/>
        </p:nvSpPr>
        <p:spPr>
          <a:xfrm>
            <a:off x="4754880" y="3474720"/>
            <a:ext cx="4023720" cy="1189080"/>
          </a:xfrm>
          <a:custGeom>
            <a:avLst/>
            <a:gdLst/>
            <a:ahLst/>
            <a:rect l="0" t="0" r="r" b="b"/>
            <a:pathLst>
              <a:path w="11177" h="3303">
                <a:moveTo>
                  <a:pt x="0" y="0"/>
                </a:moveTo>
                <a:lnTo>
                  <a:pt x="11177" y="0"/>
                </a:lnTo>
                <a:lnTo>
                  <a:pt x="11177" y="3303"/>
                </a:lnTo>
                <a:lnTo>
                  <a:pt x="0" y="330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296" name=""/>
          <p:cNvSpPr/>
          <p:nvPr/>
        </p:nvSpPr>
        <p:spPr>
          <a:xfrm>
            <a:off x="4754880" y="3474720"/>
            <a:ext cx="46080" cy="1189080"/>
          </a:xfrm>
          <a:custGeom>
            <a:avLst/>
            <a:gdLst/>
            <a:ahLst/>
            <a:rect l="0" t="0" r="r" b="b"/>
            <a:pathLst>
              <a:path w="128" h="3303">
                <a:moveTo>
                  <a:pt x="0" y="0"/>
                </a:moveTo>
                <a:lnTo>
                  <a:pt x="128" y="0"/>
                </a:lnTo>
                <a:lnTo>
                  <a:pt x="128" y="3303"/>
                </a:lnTo>
                <a:lnTo>
                  <a:pt x="0" y="3303"/>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297" name=""/>
          <p:cNvSpPr txBox="1"/>
          <p:nvPr/>
        </p:nvSpPr>
        <p:spPr>
          <a:xfrm>
            <a:off x="4937760" y="3566160"/>
            <a:ext cx="3657600" cy="297720"/>
          </a:xfrm>
          <a:prstGeom prst="rect">
            <a:avLst/>
          </a:prstGeom>
          <a:noFill/>
          <a:ln w="0">
            <a:noFill/>
          </a:ln>
        </p:spPr>
        <p:txBody>
          <a:bodyPr lIns="90000" rIns="90000" tIns="45000" bIns="45000" anchor="t">
            <a:spAutoFit/>
          </a:bodyPr>
          <a:p>
            <a:r>
              <a:rPr b="1" lang="en-US" sz="1200" strike="noStrike" u="none">
                <a:solidFill>
                  <a:srgbClr val="00897a"/>
                </a:solidFill>
                <a:effectLst/>
                <a:uFillTx/>
                <a:latin typeface="Arial-BoldMT"/>
                <a:ea typeface="Arial-BoldMT"/>
              </a:rPr>
              <a:t>Protein Oracle: ESM-2</a:t>
            </a:r>
            <a:endParaRPr b="0" lang="en-US" sz="1200" strike="noStrike" u="none">
              <a:solidFill>
                <a:srgbClr val="000000"/>
              </a:solidFill>
              <a:effectLst/>
              <a:uFillTx/>
              <a:latin typeface="Arial"/>
            </a:endParaRPr>
          </a:p>
        </p:txBody>
      </p:sp>
      <p:sp>
        <p:nvSpPr>
          <p:cNvPr id="298" name=""/>
          <p:cNvSpPr txBox="1"/>
          <p:nvPr/>
        </p:nvSpPr>
        <p:spPr>
          <a:xfrm>
            <a:off x="4937760" y="3840480"/>
            <a:ext cx="3657600" cy="54864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Frozen, 320-dim. Pre-computed embeddings → mean pool → L2 norm → pairwise cosine → g_soft_protein [B×B]</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299" name=""/>
          <p:cNvSpPr txBox="1"/>
          <p:nvPr/>
        </p:nvSpPr>
        <p:spPr>
          <a:xfrm>
            <a:off x="452520" y="182880"/>
            <a:ext cx="8046720" cy="105660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Stage 2: MDGTDTInet </a:t>
            </a:r>
            <a:endParaRPr b="0" lang="en-US" sz="2800" strike="noStrike" u="none">
              <a:solidFill>
                <a:srgbClr val="000000"/>
              </a:solidFill>
              <a:effectLst/>
              <a:uFillTx/>
              <a:latin typeface="Arial"/>
            </a:endParaRPr>
          </a:p>
          <a:p>
            <a:r>
              <a:rPr b="1" lang="en-US" sz="2800" strike="noStrike" u="none">
                <a:solidFill>
                  <a:srgbClr val="191e35"/>
                </a:solidFill>
                <a:effectLst/>
                <a:uFillTx/>
                <a:latin typeface="Arial-BoldMT"/>
                <a:ea typeface="Arial-BoldMT"/>
              </a:rPr>
              <a:t>Fine-tuning</a:t>
            </a:r>
            <a:endParaRPr b="0" lang="en-US" sz="2800" strike="noStrike" u="none">
              <a:solidFill>
                <a:srgbClr val="000000"/>
              </a:solidFill>
              <a:effectLst/>
              <a:uFillTx/>
              <a:latin typeface="Arial"/>
            </a:endParaRPr>
          </a:p>
        </p:txBody>
      </p:sp>
      <p:sp>
        <p:nvSpPr>
          <p:cNvPr id="300" name=""/>
          <p:cNvSpPr/>
          <p:nvPr/>
        </p:nvSpPr>
        <p:spPr>
          <a:xfrm>
            <a:off x="522360" y="12070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301" name=""/>
          <p:cNvSpPr txBox="1"/>
          <p:nvPr/>
        </p:nvSpPr>
        <p:spPr>
          <a:xfrm>
            <a:off x="452520" y="123948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Affinity prediction with pretrained encoders + interaction module</a:t>
            </a:r>
            <a:endParaRPr b="0" lang="en-US" sz="1100" strike="noStrike" u="none">
              <a:solidFill>
                <a:srgbClr val="000000"/>
              </a:solidFill>
              <a:effectLst/>
              <a:uFillTx/>
              <a:latin typeface="Arial"/>
            </a:endParaRPr>
          </a:p>
        </p:txBody>
      </p:sp>
      <p:pic>
        <p:nvPicPr>
          <p:cNvPr id="302" name="" descr=""/>
          <p:cNvPicPr/>
          <p:nvPr/>
        </p:nvPicPr>
        <p:blipFill>
          <a:blip r:embed="rId1"/>
          <a:stretch/>
        </p:blipFill>
        <p:spPr>
          <a:xfrm>
            <a:off x="5434920" y="65520"/>
            <a:ext cx="2849400" cy="507744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303"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Cross-Attention: Protein Modality Fusion</a:t>
            </a:r>
            <a:endParaRPr b="0" lang="en-US" sz="2800" strike="noStrike" u="none">
              <a:solidFill>
                <a:srgbClr val="000000"/>
              </a:solidFill>
              <a:effectLst/>
              <a:uFillTx/>
              <a:latin typeface="Arial"/>
            </a:endParaRPr>
          </a:p>
        </p:txBody>
      </p:sp>
      <p:sp>
        <p:nvSpPr>
          <p:cNvPr id="304"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305"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Combining graph structure with ESM evolutionary embeddings</a:t>
            </a:r>
            <a:endParaRPr b="0" lang="en-US" sz="1100" strike="noStrike" u="none">
              <a:solidFill>
                <a:srgbClr val="000000"/>
              </a:solidFill>
              <a:effectLst/>
              <a:uFillTx/>
              <a:latin typeface="Arial"/>
            </a:endParaRPr>
          </a:p>
        </p:txBody>
      </p:sp>
      <p:sp>
        <p:nvSpPr>
          <p:cNvPr id="306" name=""/>
          <p:cNvSpPr/>
          <p:nvPr/>
        </p:nvSpPr>
        <p:spPr>
          <a:xfrm>
            <a:off x="457200" y="1143000"/>
            <a:ext cx="4115160" cy="3475080"/>
          </a:xfrm>
          <a:custGeom>
            <a:avLst/>
            <a:gdLst/>
            <a:ahLst/>
            <a:rect l="0" t="0" r="r" b="b"/>
            <a:pathLst>
              <a:path w="11431" h="9653">
                <a:moveTo>
                  <a:pt x="0" y="0"/>
                </a:moveTo>
                <a:lnTo>
                  <a:pt x="11431" y="0"/>
                </a:lnTo>
                <a:lnTo>
                  <a:pt x="11431"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07" name=""/>
          <p:cNvSpPr/>
          <p:nvPr/>
        </p:nvSpPr>
        <p:spPr>
          <a:xfrm>
            <a:off x="45720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08" name=""/>
          <p:cNvSpPr txBox="1"/>
          <p:nvPr/>
        </p:nvSpPr>
        <p:spPr>
          <a:xfrm>
            <a:off x="640080" y="1234440"/>
            <a:ext cx="2743200" cy="332640"/>
          </a:xfrm>
          <a:prstGeom prst="rect">
            <a:avLst/>
          </a:prstGeom>
          <a:noFill/>
          <a:ln w="0">
            <a:noFill/>
          </a:ln>
        </p:spPr>
        <p:txBody>
          <a:bodyPr lIns="90000" rIns="90000" tIns="45000" bIns="45000" anchor="t">
            <a:spAutoFit/>
          </a:bodyPr>
          <a:p>
            <a:r>
              <a:rPr b="1" lang="en-US" sz="1400" strike="noStrike" u="none">
                <a:solidFill>
                  <a:srgbClr val="f9a824"/>
                </a:solidFill>
                <a:effectLst/>
                <a:uFillTx/>
                <a:latin typeface="Arial-BoldMT"/>
                <a:ea typeface="Arial-BoldMT"/>
              </a:rPr>
              <a:t>Mechanism</a:t>
            </a:r>
            <a:endParaRPr b="0" lang="en-US" sz="1400" strike="noStrike" u="none">
              <a:solidFill>
                <a:srgbClr val="000000"/>
              </a:solidFill>
              <a:effectLst/>
              <a:uFillTx/>
              <a:latin typeface="Arial"/>
            </a:endParaRPr>
          </a:p>
        </p:txBody>
      </p:sp>
      <p:sp>
        <p:nvSpPr>
          <p:cNvPr id="309" name=""/>
          <p:cNvSpPr txBox="1"/>
          <p:nvPr/>
        </p:nvSpPr>
        <p:spPr>
          <a:xfrm>
            <a:off x="640080" y="1554480"/>
            <a:ext cx="3749040" cy="2286000"/>
          </a:xfrm>
          <a:prstGeom prst="rect">
            <a:avLst/>
          </a:prstGeom>
          <a:noFill/>
          <a:ln w="0">
            <a:noFill/>
          </a:ln>
        </p:spPr>
        <p:txBody>
          <a:bodyPr lIns="90000" rIns="90000" tIns="45000" bIns="45000" anchor="t">
            <a:spAutoFit/>
          </a:bodyPr>
          <a:p>
            <a:r>
              <a:rPr b="1" lang="en-US" sz="1100" strike="noStrike" u="none">
                <a:solidFill>
                  <a:srgbClr val="536d79"/>
                </a:solidFill>
                <a:effectLst/>
                <a:uFillTx/>
                <a:latin typeface="Arial-BoldMT"/>
                <a:ea typeface="Arial-BoldMT"/>
              </a:rPr>
              <a:t>Query: ESM embedding → Linear(320→128) → [B, L, 128]</a:t>
            </a:r>
            <a:endParaRPr b="0" lang="en-US" sz="1100" strike="noStrike" u="none">
              <a:solidFill>
                <a:srgbClr val="000000"/>
              </a:solidFill>
              <a:effectLst/>
              <a:uFillTx/>
              <a:latin typeface="Arial"/>
            </a:endParaRPr>
          </a:p>
          <a:p>
            <a:r>
              <a:rPr b="1" lang="en-US" sz="1100" strike="noStrike" u="none">
                <a:solidFill>
                  <a:srgbClr val="536d79"/>
                </a:solidFill>
                <a:effectLst/>
                <a:uFillTx/>
                <a:latin typeface="Arial-BoldMT"/>
                <a:ea typeface="Arial-BoldMT"/>
              </a:rPr>
              <a:t>Key/Value: protein_gt → pyg_batch_split → [B, max_p, 128]</a:t>
            </a:r>
            <a:endParaRPr b="0" lang="en-US" sz="1100" strike="noStrike" u="none">
              <a:solidFill>
                <a:srgbClr val="000000"/>
              </a:solidFill>
              <a:effectLst/>
              <a:uFillTx/>
              <a:latin typeface="Arial"/>
            </a:endParaRPr>
          </a:p>
          <a:p>
            <a:r>
              <a:rPr b="1" lang="en-US" sz="1100" strike="noStrike" u="none">
                <a:solidFill>
                  <a:srgbClr val="191e35"/>
                </a:solidFill>
                <a:effectLst/>
                <a:uFillTx/>
                <a:latin typeface="Arial-BoldMT"/>
                <a:ea typeface="Arial-BoldMT"/>
              </a:rPr>
              <a:t>Attention = softmax(Q·K^T / √128) · V</a:t>
            </a:r>
            <a:endParaRPr b="0" lang="en-US" sz="1100" strike="noStrike" u="none">
              <a:solidFill>
                <a:srgbClr val="000000"/>
              </a:solidFill>
              <a:effectLst/>
              <a:uFillTx/>
              <a:latin typeface="Arial"/>
            </a:endParaRPr>
          </a:p>
          <a:p>
            <a:r>
              <a:rPr b="1" lang="en-US" sz="1100" strike="noStrike" u="none">
                <a:solidFill>
                  <a:srgbClr val="0097a7"/>
                </a:solidFill>
                <a:effectLst/>
                <a:uFillTx/>
                <a:latin typeface="Arial-BoldMT"/>
                <a:ea typeface="Arial-BoldMT"/>
              </a:rPr>
              <a:t>→ protein_feats [B, L, 128]</a:t>
            </a:r>
            <a:endParaRPr b="0" lang="en-US" sz="1100" strike="noStrike" u="none">
              <a:solidFill>
                <a:srgbClr val="000000"/>
              </a:solidFill>
              <a:effectLst/>
              <a:uFillTx/>
              <a:latin typeface="Arial"/>
            </a:endParaRPr>
          </a:p>
          <a:p>
            <a:r>
              <a:rPr b="0" lang="en-US" sz="1100" strike="noStrike" u="none">
                <a:solidFill>
                  <a:srgbClr val="77909c"/>
                </a:solidFill>
                <a:effectLst/>
                <a:uFillTx/>
                <a:latin typeface="ArialMT"/>
                <a:ea typeface="ArialMT"/>
              </a:rPr>
              <a:t>1 head, 128-dim, dropout 0.2</a:t>
            </a:r>
            <a:endParaRPr b="0" lang="en-US" sz="1100" strike="noStrike" u="none">
              <a:solidFill>
                <a:srgbClr val="000000"/>
              </a:solidFill>
              <a:effectLst/>
              <a:uFillTx/>
              <a:latin typeface="Arial"/>
            </a:endParaRPr>
          </a:p>
        </p:txBody>
      </p:sp>
      <p:sp>
        <p:nvSpPr>
          <p:cNvPr id="310" name=""/>
          <p:cNvSpPr/>
          <p:nvPr/>
        </p:nvSpPr>
        <p:spPr>
          <a:xfrm>
            <a:off x="4846320" y="1143000"/>
            <a:ext cx="3932280" cy="3475080"/>
          </a:xfrm>
          <a:custGeom>
            <a:avLst/>
            <a:gdLst/>
            <a:ahLst/>
            <a:rect l="0" t="0" r="r" b="b"/>
            <a:pathLst>
              <a:path w="10923" h="9653">
                <a:moveTo>
                  <a:pt x="0" y="0"/>
                </a:moveTo>
                <a:lnTo>
                  <a:pt x="10923" y="0"/>
                </a:lnTo>
                <a:lnTo>
                  <a:pt x="10923"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11" name=""/>
          <p:cNvSpPr/>
          <p:nvPr/>
        </p:nvSpPr>
        <p:spPr>
          <a:xfrm>
            <a:off x="484632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12" name=""/>
          <p:cNvSpPr txBox="1"/>
          <p:nvPr/>
        </p:nvSpPr>
        <p:spPr>
          <a:xfrm>
            <a:off x="5029200" y="1234440"/>
            <a:ext cx="2743200" cy="332640"/>
          </a:xfrm>
          <a:prstGeom prst="rect">
            <a:avLst/>
          </a:prstGeom>
          <a:noFill/>
          <a:ln w="0">
            <a:noFill/>
          </a:ln>
        </p:spPr>
        <p:txBody>
          <a:bodyPr lIns="90000" rIns="90000" tIns="45000" bIns="45000" anchor="t">
            <a:spAutoFit/>
          </a:bodyPr>
          <a:p>
            <a:r>
              <a:rPr b="1" lang="en-US" sz="1400" strike="noStrike" u="none">
                <a:solidFill>
                  <a:srgbClr val="00897a"/>
                </a:solidFill>
                <a:effectLst/>
                <a:uFillTx/>
                <a:latin typeface="Arial-BoldMT"/>
                <a:ea typeface="Arial-BoldMT"/>
              </a:rPr>
              <a:t>Why Cross-Attention?</a:t>
            </a:r>
            <a:endParaRPr b="0" lang="en-US" sz="1400" strike="noStrike" u="none">
              <a:solidFill>
                <a:srgbClr val="000000"/>
              </a:solidFill>
              <a:effectLst/>
              <a:uFillTx/>
              <a:latin typeface="Arial"/>
            </a:endParaRPr>
          </a:p>
        </p:txBody>
      </p:sp>
      <p:sp>
        <p:nvSpPr>
          <p:cNvPr id="313" name=""/>
          <p:cNvSpPr txBox="1"/>
          <p:nvPr/>
        </p:nvSpPr>
        <p:spPr>
          <a:xfrm>
            <a:off x="5029200" y="1554480"/>
            <a:ext cx="3566160" cy="228600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ESM captures: evolutionary conservation, functional sites, contextual residue relationships</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Graph captures: 3D contact topology, local structural motifs, edge-level interactions</a:t>
            </a:r>
            <a:endParaRPr b="0" lang="en-US" sz="1100" strike="noStrike" u="none">
              <a:solidFill>
                <a:srgbClr val="000000"/>
              </a:solidFill>
              <a:effectLst/>
              <a:uFillTx/>
              <a:latin typeface="Arial"/>
            </a:endParaRPr>
          </a:p>
          <a:p>
            <a:r>
              <a:rPr b="0" i="1" lang="en-US" sz="1100" strike="noStrike" u="none">
                <a:solidFill>
                  <a:srgbClr val="0097a7"/>
                </a:solidFill>
                <a:effectLst/>
                <a:uFillTx/>
                <a:latin typeface="Arial-ItalicMT"/>
                <a:ea typeface="Arial-ItalicMT"/>
              </a:rPr>
              <a:t>Cross-attention lets each ESM residue attend to structurally relevant graph neighbors — combining what the protein does with how it's shaped.</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314"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Bilinear Interaction Attention</a:t>
            </a:r>
            <a:endParaRPr b="0" lang="en-US" sz="2800" strike="noStrike" u="none">
              <a:solidFill>
                <a:srgbClr val="000000"/>
              </a:solidFill>
              <a:effectLst/>
              <a:uFillTx/>
              <a:latin typeface="Arial"/>
            </a:endParaRPr>
          </a:p>
        </p:txBody>
      </p:sp>
      <p:sp>
        <p:nvSpPr>
          <p:cNvPr id="315"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316"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Computing drug-protein joint embedding via einsum tensor operations</a:t>
            </a:r>
            <a:endParaRPr b="0" lang="en-US" sz="1100" strike="noStrike" u="none">
              <a:solidFill>
                <a:srgbClr val="000000"/>
              </a:solidFill>
              <a:effectLst/>
              <a:uFillTx/>
              <a:latin typeface="Arial"/>
            </a:endParaRPr>
          </a:p>
        </p:txBody>
      </p:sp>
      <p:sp>
        <p:nvSpPr>
          <p:cNvPr id="317" name=""/>
          <p:cNvSpPr/>
          <p:nvPr/>
        </p:nvSpPr>
        <p:spPr>
          <a:xfrm>
            <a:off x="457200" y="1143000"/>
            <a:ext cx="8321400" cy="3200760"/>
          </a:xfrm>
          <a:custGeom>
            <a:avLst/>
            <a:gdLst/>
            <a:ahLst/>
            <a:rect l="0" t="0" r="r" b="b"/>
            <a:pathLst>
              <a:path w="23115" h="8891">
                <a:moveTo>
                  <a:pt x="0" y="0"/>
                </a:moveTo>
                <a:lnTo>
                  <a:pt x="23115" y="0"/>
                </a:lnTo>
                <a:lnTo>
                  <a:pt x="23115" y="8891"/>
                </a:lnTo>
                <a:lnTo>
                  <a:pt x="0" y="889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18" name=""/>
          <p:cNvSpPr/>
          <p:nvPr/>
        </p:nvSpPr>
        <p:spPr>
          <a:xfrm>
            <a:off x="457200" y="1143000"/>
            <a:ext cx="46080" cy="3200760"/>
          </a:xfrm>
          <a:custGeom>
            <a:avLst/>
            <a:gdLst/>
            <a:ahLst/>
            <a:rect l="0" t="0" r="r" b="b"/>
            <a:pathLst>
              <a:path w="128" h="8891">
                <a:moveTo>
                  <a:pt x="0" y="0"/>
                </a:moveTo>
                <a:lnTo>
                  <a:pt x="128" y="0"/>
                </a:lnTo>
                <a:lnTo>
                  <a:pt x="128" y="8891"/>
                </a:lnTo>
                <a:lnTo>
                  <a:pt x="0" y="8891"/>
                </a:lnTo>
                <a:lnTo>
                  <a:pt x="0" y="0"/>
                </a:lnTo>
                <a:close/>
              </a:path>
            </a:pathLst>
          </a:custGeom>
          <a:solidFill>
            <a:srgbClr val="691a9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19" name=""/>
          <p:cNvSpPr txBox="1"/>
          <p:nvPr/>
        </p:nvSpPr>
        <p:spPr>
          <a:xfrm>
            <a:off x="640080" y="1325880"/>
            <a:ext cx="7955280" cy="2560320"/>
          </a:xfrm>
          <a:prstGeom prst="rect">
            <a:avLst/>
          </a:prstGeom>
          <a:noFill/>
          <a:ln w="0">
            <a:noFill/>
          </a:ln>
        </p:spPr>
        <p:txBody>
          <a:bodyPr lIns="90000" rIns="90000" tIns="45000" bIns="45000" anchor="t">
            <a:spAutoFit/>
          </a:bodyPr>
          <a:p>
            <a:r>
              <a:rPr b="1" lang="en-US" sz="1200" strike="noStrike" u="none">
                <a:solidFill>
                  <a:srgbClr val="191e35"/>
                </a:solidFill>
                <a:effectLst/>
                <a:uFillTx/>
                <a:latin typeface="Arial-BoldMT"/>
                <a:ea typeface="Arial-BoldMT"/>
              </a:rPr>
              <a:t>Step 1: Project</a:t>
            </a:r>
            <a:endParaRPr b="0" lang="en-US" sz="12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prot_proj = W_p · ReLU(protein_feats)  |  comp_proj = W_c · ReLU(compound_feats)</a:t>
            </a:r>
            <a:endParaRPr b="0" lang="en-US" sz="1000" strike="noStrike" u="none">
              <a:solidFill>
                <a:srgbClr val="000000"/>
              </a:solidFill>
              <a:effectLst/>
              <a:uFillTx/>
              <a:latin typeface="Arial"/>
            </a:endParaRPr>
          </a:p>
          <a:p>
            <a:r>
              <a:rPr b="1" lang="en-US" sz="1200" strike="noStrike" u="none">
                <a:solidFill>
                  <a:srgbClr val="191e35"/>
                </a:solidFill>
                <a:effectLst/>
                <a:uFillTx/>
                <a:latin typeface="Arial-BoldMT"/>
                <a:ea typeface="Arial-BoldMT"/>
              </a:rPr>
              <a:t>Step 2: Interaction matrix</a:t>
            </a:r>
            <a:endParaRPr b="0" lang="en-US" sz="12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inter = σ(einsum('bij,bkj→bik', prot_proj, comp_proj))  [B, L, max_d]</a:t>
            </a:r>
            <a:endParaRPr b="0" lang="en-US" sz="1000" strike="noStrike" u="none">
              <a:solidFill>
                <a:srgbClr val="000000"/>
              </a:solidFill>
              <a:effectLst/>
              <a:uFillTx/>
              <a:latin typeface="Arial"/>
            </a:endParaRPr>
          </a:p>
          <a:p>
            <a:r>
              <a:rPr b="1" lang="en-US" sz="1200" strike="noStrike" u="none">
                <a:solidFill>
                  <a:srgbClr val="191e35"/>
                </a:solidFill>
                <a:effectLst/>
                <a:uFillTx/>
                <a:latin typeface="Arial-BoldMT"/>
                <a:ea typeface="Arial-BoldMT"/>
              </a:rPr>
              <a:t>Step 3: Normalize</a:t>
            </a:r>
            <a:endParaRPr b="0" lang="en-US" sz="12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inter_norm = inter / einsum('bij→b', inter)</a:t>
            </a:r>
            <a:endParaRPr b="0" lang="en-US" sz="1000" strike="noStrike" u="none">
              <a:solidFill>
                <a:srgbClr val="000000"/>
              </a:solidFill>
              <a:effectLst/>
              <a:uFillTx/>
              <a:latin typeface="Arial"/>
            </a:endParaRPr>
          </a:p>
          <a:p>
            <a:r>
              <a:rPr b="1" lang="en-US" sz="1200" strike="noStrike" u="none">
                <a:solidFill>
                  <a:srgbClr val="191e35"/>
                </a:solidFill>
                <a:effectLst/>
                <a:uFillTx/>
                <a:latin typeface="Arial-BoldMT"/>
                <a:ea typeface="Arial-BoldMT"/>
              </a:rPr>
              <a:t>Step 4: Joint embedding</a:t>
            </a:r>
            <a:endParaRPr b="0" lang="en-US" sz="12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joint = tanh(einsum('bij,bkj→bikj', protein_feats, compound_feats))</a:t>
            </a:r>
            <a:endParaRPr b="0" lang="en-US" sz="1000" strike="noStrike" u="none">
              <a:solidFill>
                <a:srgbClr val="000000"/>
              </a:solidFill>
              <a:effectLst/>
              <a:uFillTx/>
              <a:latin typeface="Arial"/>
            </a:endParaRPr>
          </a:p>
          <a:p>
            <a:r>
              <a:rPr b="1" lang="en-US" sz="1000" strike="noStrike" u="none">
                <a:solidFill>
                  <a:srgbClr val="0097a7"/>
                </a:solidFill>
                <a:effectLst/>
                <a:uFillTx/>
                <a:latin typeface="Arial-BoldMT"/>
                <a:ea typeface="Arial-BoldMT"/>
              </a:rPr>
              <a:t>cp_embedding = einsum('bijk,bij→bk', joint, inter_norm)  → [B, 128]</a:t>
            </a:r>
            <a:endParaRPr b="0" lang="en-US" sz="1000" strike="noStrike" u="none">
              <a:solidFill>
                <a:srgbClr val="000000"/>
              </a:solidFill>
              <a:effectLst/>
              <a:uFillTx/>
              <a:latin typeface="Arial"/>
            </a:endParaRPr>
          </a:p>
        </p:txBody>
      </p:sp>
      <p:sp>
        <p:nvSpPr>
          <p:cNvPr id="320" name=""/>
          <p:cNvSpPr txBox="1"/>
          <p:nvPr/>
        </p:nvSpPr>
        <p:spPr>
          <a:xfrm>
            <a:off x="640080" y="4434840"/>
            <a:ext cx="795528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 Single 128-dim vector per drug-protein pair capturing weighted interactions across all atom-residue pairs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321"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Regression Head &amp; Training</a:t>
            </a:r>
            <a:endParaRPr b="0" lang="en-US" sz="2800" strike="noStrike" u="none">
              <a:solidFill>
                <a:srgbClr val="000000"/>
              </a:solidFill>
              <a:effectLst/>
              <a:uFillTx/>
              <a:latin typeface="Arial"/>
            </a:endParaRPr>
          </a:p>
        </p:txBody>
      </p:sp>
      <p:sp>
        <p:nvSpPr>
          <p:cNvPr id="322"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323"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Final affinity prediction from cp_embedding</a:t>
            </a:r>
            <a:endParaRPr b="0" lang="en-US" sz="1100" strike="noStrike" u="none">
              <a:solidFill>
                <a:srgbClr val="000000"/>
              </a:solidFill>
              <a:effectLst/>
              <a:uFillTx/>
              <a:latin typeface="Arial"/>
            </a:endParaRPr>
          </a:p>
        </p:txBody>
      </p:sp>
      <p:sp>
        <p:nvSpPr>
          <p:cNvPr id="324" name=""/>
          <p:cNvSpPr/>
          <p:nvPr/>
        </p:nvSpPr>
        <p:spPr>
          <a:xfrm>
            <a:off x="457200" y="1143000"/>
            <a:ext cx="3932280" cy="2286360"/>
          </a:xfrm>
          <a:custGeom>
            <a:avLst/>
            <a:gdLst/>
            <a:ahLst/>
            <a:rect l="0" t="0" r="r" b="b"/>
            <a:pathLst>
              <a:path w="10923" h="6351">
                <a:moveTo>
                  <a:pt x="0" y="0"/>
                </a:moveTo>
                <a:lnTo>
                  <a:pt x="10923" y="0"/>
                </a:lnTo>
                <a:lnTo>
                  <a:pt x="10923" y="6351"/>
                </a:lnTo>
                <a:lnTo>
                  <a:pt x="0" y="635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25" name=""/>
          <p:cNvSpPr/>
          <p:nvPr/>
        </p:nvSpPr>
        <p:spPr>
          <a:xfrm>
            <a:off x="457200" y="1143000"/>
            <a:ext cx="46080" cy="2286360"/>
          </a:xfrm>
          <a:custGeom>
            <a:avLst/>
            <a:gdLst/>
            <a:ahLst/>
            <a:rect l="0" t="0" r="r" b="b"/>
            <a:pathLst>
              <a:path w="128" h="6351">
                <a:moveTo>
                  <a:pt x="0" y="0"/>
                </a:moveTo>
                <a:lnTo>
                  <a:pt x="128" y="0"/>
                </a:lnTo>
                <a:lnTo>
                  <a:pt x="128" y="6351"/>
                </a:lnTo>
                <a:lnTo>
                  <a:pt x="0" y="6351"/>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26" name=""/>
          <p:cNvSpPr txBox="1"/>
          <p:nvPr/>
        </p:nvSpPr>
        <p:spPr>
          <a:xfrm>
            <a:off x="640080" y="1234440"/>
            <a:ext cx="2743200" cy="332640"/>
          </a:xfrm>
          <a:prstGeom prst="rect">
            <a:avLst/>
          </a:prstGeom>
          <a:noFill/>
          <a:ln w="0">
            <a:noFill/>
          </a:ln>
        </p:spPr>
        <p:txBody>
          <a:bodyPr lIns="90000" rIns="90000" tIns="45000" bIns="45000" anchor="t">
            <a:spAutoFit/>
          </a:bodyPr>
          <a:p>
            <a:r>
              <a:rPr b="1" lang="en-US" sz="1400" strike="noStrike" u="none">
                <a:solidFill>
                  <a:srgbClr val="c62727"/>
                </a:solidFill>
                <a:effectLst/>
                <a:uFillTx/>
                <a:latin typeface="Arial-BoldMT"/>
                <a:ea typeface="Arial-BoldMT"/>
              </a:rPr>
              <a:t>Classifier</a:t>
            </a:r>
            <a:endParaRPr b="0" lang="en-US" sz="1400" strike="noStrike" u="none">
              <a:solidFill>
                <a:srgbClr val="000000"/>
              </a:solidFill>
              <a:effectLst/>
              <a:uFillTx/>
              <a:latin typeface="Arial"/>
            </a:endParaRPr>
          </a:p>
        </p:txBody>
      </p:sp>
      <p:sp>
        <p:nvSpPr>
          <p:cNvPr id="327" name=""/>
          <p:cNvSpPr txBox="1"/>
          <p:nvPr/>
        </p:nvSpPr>
        <p:spPr>
          <a:xfrm>
            <a:off x="640080" y="1554480"/>
            <a:ext cx="3566160" cy="164592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cp_embedding [B, 128]</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Linear(128→1024) + ReLU + Dropout(0.1)</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Linear(1024→1024) + ReLU + Dropout(0.1)</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Linear(1024→256) + ReLU + Dropout(0.1)</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Linear(256→1)</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Predicted pKd</a:t>
            </a:r>
            <a:endParaRPr b="0" lang="en-US" sz="1000" strike="noStrike" u="none">
              <a:solidFill>
                <a:srgbClr val="000000"/>
              </a:solidFill>
              <a:effectLst/>
              <a:uFillTx/>
              <a:latin typeface="Arial"/>
            </a:endParaRPr>
          </a:p>
        </p:txBody>
      </p:sp>
      <p:sp>
        <p:nvSpPr>
          <p:cNvPr id="328" name=""/>
          <p:cNvSpPr/>
          <p:nvPr/>
        </p:nvSpPr>
        <p:spPr>
          <a:xfrm>
            <a:off x="4754880" y="1143000"/>
            <a:ext cx="4023720" cy="2286360"/>
          </a:xfrm>
          <a:custGeom>
            <a:avLst/>
            <a:gdLst/>
            <a:ahLst/>
            <a:rect l="0" t="0" r="r" b="b"/>
            <a:pathLst>
              <a:path w="11177" h="6351">
                <a:moveTo>
                  <a:pt x="0" y="0"/>
                </a:moveTo>
                <a:lnTo>
                  <a:pt x="11177" y="0"/>
                </a:lnTo>
                <a:lnTo>
                  <a:pt x="11177" y="6351"/>
                </a:lnTo>
                <a:lnTo>
                  <a:pt x="0" y="6351"/>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29" name=""/>
          <p:cNvSpPr/>
          <p:nvPr/>
        </p:nvSpPr>
        <p:spPr>
          <a:xfrm>
            <a:off x="4754880" y="1143000"/>
            <a:ext cx="46080" cy="2286360"/>
          </a:xfrm>
          <a:custGeom>
            <a:avLst/>
            <a:gdLst/>
            <a:ahLst/>
            <a:rect l="0" t="0" r="r" b="b"/>
            <a:pathLst>
              <a:path w="128" h="6351">
                <a:moveTo>
                  <a:pt x="0" y="0"/>
                </a:moveTo>
                <a:lnTo>
                  <a:pt x="128" y="0"/>
                </a:lnTo>
                <a:lnTo>
                  <a:pt x="128" y="6351"/>
                </a:lnTo>
                <a:lnTo>
                  <a:pt x="0" y="6351"/>
                </a:lnTo>
                <a:lnTo>
                  <a:pt x="0" y="0"/>
                </a:lnTo>
                <a:close/>
              </a:path>
            </a:pathLst>
          </a:custGeom>
          <a:solidFill>
            <a:srgbClr val="0097a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30" name=""/>
          <p:cNvSpPr txBox="1"/>
          <p:nvPr/>
        </p:nvSpPr>
        <p:spPr>
          <a:xfrm>
            <a:off x="4937760" y="1234440"/>
            <a:ext cx="2743200" cy="332640"/>
          </a:xfrm>
          <a:prstGeom prst="rect">
            <a:avLst/>
          </a:prstGeom>
          <a:noFill/>
          <a:ln w="0">
            <a:noFill/>
          </a:ln>
        </p:spPr>
        <p:txBody>
          <a:bodyPr lIns="90000" rIns="90000" tIns="45000" bIns="45000" anchor="t">
            <a:spAutoFit/>
          </a:bodyPr>
          <a:p>
            <a:r>
              <a:rPr b="1" lang="en-US" sz="1400" strike="noStrike" u="none">
                <a:solidFill>
                  <a:srgbClr val="0097a7"/>
                </a:solidFill>
                <a:effectLst/>
                <a:uFillTx/>
                <a:latin typeface="Arial-BoldMT"/>
                <a:ea typeface="Arial-BoldMT"/>
              </a:rPr>
              <a:t>Training Config</a:t>
            </a:r>
            <a:endParaRPr b="0" lang="en-US" sz="1400" strike="noStrike" u="none">
              <a:solidFill>
                <a:srgbClr val="000000"/>
              </a:solidFill>
              <a:effectLst/>
              <a:uFillTx/>
              <a:latin typeface="Arial"/>
            </a:endParaRPr>
          </a:p>
        </p:txBody>
      </p:sp>
      <p:sp>
        <p:nvSpPr>
          <p:cNvPr id="331" name=""/>
          <p:cNvSpPr txBox="1"/>
          <p:nvPr/>
        </p:nvSpPr>
        <p:spPr>
          <a:xfrm>
            <a:off x="4937760" y="1554480"/>
            <a:ext cx="3657600" cy="164592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Loss: MSE</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Optimizer: Adam (lr=1e-4)</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Scheduler: ReduceLROnPlateau</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 factor=0.8, patience=10</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Batch: 32  |  Epochs: 30-50</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Init: Stage 1 pretrained weights</a:t>
            </a:r>
            <a:endParaRPr b="0" lang="en-US" sz="1000" strike="noStrike" u="none">
              <a:solidFill>
                <a:srgbClr val="000000"/>
              </a:solidFill>
              <a:effectLst/>
              <a:uFillTx/>
              <a:latin typeface="Arial"/>
            </a:endParaRPr>
          </a:p>
          <a:p>
            <a:r>
              <a:rPr b="0" lang="en-US" sz="1000" strike="noStrike" u="none">
                <a:solidFill>
                  <a:srgbClr val="536d79"/>
                </a:solidFill>
                <a:effectLst/>
                <a:uFillTx/>
                <a:latin typeface="ArialMT"/>
                <a:ea typeface="ArialMT"/>
              </a:rPr>
              <a:t>Total params: ~6.2M</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332"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Step 5: Evaluation Metrics &amp; Scenarios</a:t>
            </a:r>
            <a:endParaRPr b="0" lang="en-US" sz="2800" strike="noStrike" u="none">
              <a:solidFill>
                <a:srgbClr val="000000"/>
              </a:solidFill>
              <a:effectLst/>
              <a:uFillTx/>
              <a:latin typeface="Arial"/>
            </a:endParaRPr>
          </a:p>
        </p:txBody>
      </p:sp>
      <p:sp>
        <p:nvSpPr>
          <p:cNvPr id="333"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pic>
        <p:nvPicPr>
          <p:cNvPr id="334" name="" descr=""/>
          <p:cNvPicPr/>
          <p:nvPr/>
        </p:nvPicPr>
        <p:blipFill>
          <a:blip r:embed="rId1"/>
          <a:stretch/>
        </p:blipFill>
        <p:spPr>
          <a:xfrm>
            <a:off x="182880" y="1005840"/>
            <a:ext cx="8778240" cy="301752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5"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36"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7</a:t>
            </a:r>
            <a:endParaRPr b="0" lang="en-US" sz="2400" strike="noStrike" u="none">
              <a:solidFill>
                <a:srgbClr val="000000"/>
              </a:solidFill>
              <a:effectLst/>
              <a:uFillTx/>
              <a:latin typeface="Arial"/>
            </a:endParaRPr>
          </a:p>
        </p:txBody>
      </p:sp>
      <p:sp>
        <p:nvSpPr>
          <p:cNvPr id="337" name=""/>
          <p:cNvSpPr txBox="1"/>
          <p:nvPr/>
        </p:nvSpPr>
        <p:spPr>
          <a:xfrm>
            <a:off x="777240" y="2011680"/>
            <a:ext cx="7589520" cy="643680"/>
          </a:xfrm>
          <a:prstGeom prst="rect">
            <a:avLst/>
          </a:prstGeom>
          <a:noFill/>
          <a:ln w="0">
            <a:noFill/>
          </a:ln>
        </p:spPr>
        <p:txBody>
          <a:bodyPr lIns="90000" rIns="90000" tIns="45000" bIns="45000" anchor="t">
            <a:spAutoFit/>
          </a:bodyPr>
          <a:p>
            <a:pPr algn="ctr"/>
            <a:r>
              <a:rPr b="1" lang="en-US" sz="3200" strike="noStrike" u="none">
                <a:solidFill>
                  <a:srgbClr val="000000"/>
                </a:solidFill>
                <a:effectLst/>
                <a:uFillTx/>
                <a:latin typeface="Arial-BoldMT"/>
                <a:ea typeface="Arial-BoldMT"/>
              </a:rPr>
              <a:t>Results &amp; Analysis</a:t>
            </a:r>
            <a:endParaRPr b="0" lang="en-US" sz="3200" strike="noStrike" u="none">
              <a:solidFill>
                <a:srgbClr val="000000"/>
              </a:solidFill>
              <a:effectLst/>
              <a:uFillTx/>
              <a:latin typeface="Arial"/>
            </a:endParaRPr>
          </a:p>
        </p:txBody>
      </p:sp>
      <p:sp>
        <p:nvSpPr>
          <p:cNvPr id="338"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339"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Performance across cold-start scenarios</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340"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Performance Metrics Summary</a:t>
            </a:r>
            <a:endParaRPr b="0" lang="en-US" sz="2800" strike="noStrike" u="none">
              <a:solidFill>
                <a:srgbClr val="000000"/>
              </a:solidFill>
              <a:effectLst/>
              <a:uFillTx/>
              <a:latin typeface="Arial"/>
            </a:endParaRPr>
          </a:p>
        </p:txBody>
      </p:sp>
      <p:sp>
        <p:nvSpPr>
          <p:cNvPr id="341"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342" name=""/>
          <p:cNvSpPr/>
          <p:nvPr/>
        </p:nvSpPr>
        <p:spPr>
          <a:xfrm>
            <a:off x="365760" y="1097280"/>
            <a:ext cx="2697840" cy="2103480"/>
          </a:xfrm>
          <a:custGeom>
            <a:avLst/>
            <a:gdLst/>
            <a:ahLst/>
            <a:rect l="0" t="0" r="r" b="b"/>
            <a:pathLst>
              <a:path w="7494" h="5843">
                <a:moveTo>
                  <a:pt x="0" y="0"/>
                </a:moveTo>
                <a:lnTo>
                  <a:pt x="7494" y="0"/>
                </a:lnTo>
                <a:lnTo>
                  <a:pt x="7494" y="5843"/>
                </a:lnTo>
                <a:lnTo>
                  <a:pt x="0" y="584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43" name=""/>
          <p:cNvSpPr/>
          <p:nvPr/>
        </p:nvSpPr>
        <p:spPr>
          <a:xfrm>
            <a:off x="365760" y="1097280"/>
            <a:ext cx="46080" cy="2103480"/>
          </a:xfrm>
          <a:custGeom>
            <a:avLst/>
            <a:gdLst/>
            <a:ahLst/>
            <a:rect l="0" t="0" r="r" b="b"/>
            <a:pathLst>
              <a:path w="128" h="5843">
                <a:moveTo>
                  <a:pt x="0" y="0"/>
                </a:moveTo>
                <a:lnTo>
                  <a:pt x="128" y="0"/>
                </a:lnTo>
                <a:lnTo>
                  <a:pt x="128" y="5843"/>
                </a:lnTo>
                <a:lnTo>
                  <a:pt x="0" y="584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44" name=""/>
          <p:cNvSpPr txBox="1"/>
          <p:nvPr/>
        </p:nvSpPr>
        <p:spPr>
          <a:xfrm>
            <a:off x="457200" y="1188720"/>
            <a:ext cx="2468880" cy="351000"/>
          </a:xfrm>
          <a:prstGeom prst="rect">
            <a:avLst/>
          </a:prstGeom>
          <a:noFill/>
          <a:ln w="0">
            <a:noFill/>
          </a:ln>
        </p:spPr>
        <p:txBody>
          <a:bodyPr lIns="90000" rIns="90000" tIns="45000" bIns="45000" anchor="t">
            <a:spAutoFit/>
          </a:bodyPr>
          <a:p>
            <a:pPr algn="ctr"/>
            <a:r>
              <a:rPr b="1" lang="en-US" sz="1500" strike="noStrike" u="none">
                <a:solidFill>
                  <a:srgbClr val="e65000"/>
                </a:solidFill>
                <a:effectLst/>
                <a:uFillTx/>
                <a:latin typeface="Arial-BoldMT"/>
                <a:ea typeface="Arial-BoldMT"/>
              </a:rPr>
              <a:t>Cold Drug</a:t>
            </a:r>
            <a:endParaRPr b="0" lang="en-US" sz="1500" strike="noStrike" u="none">
              <a:solidFill>
                <a:srgbClr val="000000"/>
              </a:solidFill>
              <a:effectLst/>
              <a:uFillTx/>
              <a:latin typeface="Arial"/>
            </a:endParaRPr>
          </a:p>
        </p:txBody>
      </p:sp>
      <p:sp>
        <p:nvSpPr>
          <p:cNvPr id="345" name=""/>
          <p:cNvSpPr txBox="1"/>
          <p:nvPr/>
        </p:nvSpPr>
        <p:spPr>
          <a:xfrm>
            <a:off x="457200" y="1536120"/>
            <a:ext cx="1188720" cy="262800"/>
          </a:xfrm>
          <a:prstGeom prst="rect">
            <a:avLst/>
          </a:prstGeom>
          <a:noFill/>
          <a:ln w="0">
            <a:noFill/>
          </a:ln>
        </p:spPr>
        <p:txBody>
          <a:bodyPr lIns="90000" rIns="90000" tIns="45000" bIns="45000" anchor="t">
            <a:spAutoFit/>
          </a:bodyPr>
          <a:p>
            <a:pPr algn="ctr"/>
            <a:r>
              <a:rPr b="0" lang="en-US" sz="1000" strike="noStrike" u="none">
                <a:solidFill>
                  <a:srgbClr val="77909c"/>
                </a:solidFill>
                <a:effectLst/>
                <a:uFillTx/>
                <a:latin typeface="ArialMT"/>
                <a:ea typeface="ArialMT"/>
              </a:rPr>
              <a:t>MSE</a:t>
            </a:r>
            <a:endParaRPr b="0" lang="en-US" sz="1000" strike="noStrike" u="none">
              <a:solidFill>
                <a:srgbClr val="000000"/>
              </a:solidFill>
              <a:effectLst/>
              <a:uFillTx/>
              <a:latin typeface="Arial"/>
            </a:endParaRPr>
          </a:p>
        </p:txBody>
      </p:sp>
      <p:sp>
        <p:nvSpPr>
          <p:cNvPr id="346" name=""/>
          <p:cNvSpPr txBox="1"/>
          <p:nvPr/>
        </p:nvSpPr>
        <p:spPr>
          <a:xfrm>
            <a:off x="1691640" y="1536120"/>
            <a:ext cx="1188720" cy="262800"/>
          </a:xfrm>
          <a:prstGeom prst="rect">
            <a:avLst/>
          </a:prstGeom>
          <a:noFill/>
          <a:ln w="0">
            <a:noFill/>
          </a:ln>
        </p:spPr>
        <p:txBody>
          <a:bodyPr lIns="90000" rIns="90000" tIns="45000" bIns="45000" anchor="t">
            <a:spAutoFit/>
          </a:bodyPr>
          <a:p>
            <a:pPr algn="ctr"/>
            <a:r>
              <a:rPr b="0" lang="en-US" sz="1000" strike="noStrike" u="none">
                <a:solidFill>
                  <a:srgbClr val="77909c"/>
                </a:solidFill>
                <a:effectLst/>
                <a:uFillTx/>
                <a:latin typeface="ArialMT"/>
                <a:ea typeface="ArialMT"/>
              </a:rPr>
              <a:t>CI</a:t>
            </a:r>
            <a:endParaRPr b="0" lang="en-US" sz="1000" strike="noStrike" u="none">
              <a:solidFill>
                <a:srgbClr val="000000"/>
              </a:solidFill>
              <a:effectLst/>
              <a:uFillTx/>
              <a:latin typeface="Arial"/>
            </a:endParaRPr>
          </a:p>
        </p:txBody>
      </p:sp>
      <p:sp>
        <p:nvSpPr>
          <p:cNvPr id="347" name=""/>
          <p:cNvSpPr txBox="1"/>
          <p:nvPr/>
        </p:nvSpPr>
        <p:spPr>
          <a:xfrm>
            <a:off x="457200" y="1719000"/>
            <a:ext cx="1188720" cy="541440"/>
          </a:xfrm>
          <a:prstGeom prst="rect">
            <a:avLst/>
          </a:prstGeom>
          <a:noFill/>
          <a:ln w="0">
            <a:noFill/>
          </a:ln>
        </p:spPr>
        <p:txBody>
          <a:bodyPr lIns="90000" rIns="90000" tIns="45000" bIns="45000" anchor="t">
            <a:spAutoFit/>
          </a:bodyPr>
          <a:p>
            <a:pPr algn="ctr"/>
            <a:r>
              <a:rPr b="1" lang="en-US" sz="2600" strike="noStrike" u="none">
                <a:solidFill>
                  <a:srgbClr val="191e35"/>
                </a:solidFill>
                <a:effectLst/>
                <a:uFillTx/>
                <a:latin typeface="Arial-BoldMT"/>
                <a:ea typeface="Arial-BoldMT"/>
              </a:rPr>
              <a:t>0.464</a:t>
            </a:r>
            <a:endParaRPr b="0" lang="en-US" sz="2600" strike="noStrike" u="none">
              <a:solidFill>
                <a:srgbClr val="000000"/>
              </a:solidFill>
              <a:effectLst/>
              <a:uFillTx/>
              <a:latin typeface="Arial"/>
            </a:endParaRPr>
          </a:p>
        </p:txBody>
      </p:sp>
      <p:sp>
        <p:nvSpPr>
          <p:cNvPr id="348" name=""/>
          <p:cNvSpPr txBox="1"/>
          <p:nvPr/>
        </p:nvSpPr>
        <p:spPr>
          <a:xfrm>
            <a:off x="1691640" y="1719000"/>
            <a:ext cx="1188720" cy="541440"/>
          </a:xfrm>
          <a:prstGeom prst="rect">
            <a:avLst/>
          </a:prstGeom>
          <a:noFill/>
          <a:ln w="0">
            <a:noFill/>
          </a:ln>
        </p:spPr>
        <p:txBody>
          <a:bodyPr lIns="90000" rIns="90000" tIns="45000" bIns="45000" anchor="t">
            <a:spAutoFit/>
          </a:bodyPr>
          <a:p>
            <a:pPr algn="ctr"/>
            <a:r>
              <a:rPr b="1" lang="en-US" sz="2600" strike="noStrike" u="none">
                <a:solidFill>
                  <a:srgbClr val="191e35"/>
                </a:solidFill>
                <a:effectLst/>
                <a:uFillTx/>
                <a:latin typeface="Arial-BoldMT"/>
                <a:ea typeface="Arial-BoldMT"/>
              </a:rPr>
              <a:t>0.637</a:t>
            </a:r>
            <a:endParaRPr b="0" lang="en-US" sz="2600" strike="noStrike" u="none">
              <a:solidFill>
                <a:srgbClr val="000000"/>
              </a:solidFill>
              <a:effectLst/>
              <a:uFillTx/>
              <a:latin typeface="Arial"/>
            </a:endParaRPr>
          </a:p>
        </p:txBody>
      </p:sp>
      <p:sp>
        <p:nvSpPr>
          <p:cNvPr id="349" name=""/>
          <p:cNvSpPr/>
          <p:nvPr/>
        </p:nvSpPr>
        <p:spPr>
          <a:xfrm>
            <a:off x="1645920" y="1581840"/>
            <a:ext cx="0" cy="548640"/>
          </a:xfrm>
          <a:prstGeom prst="line">
            <a:avLst/>
          </a:prstGeom>
          <a:ln w="12600">
            <a:solidFill>
              <a:srgbClr val="e8ebf2"/>
            </a:solidFill>
            <a:round/>
          </a:ln>
        </p:spPr>
        <p:style>
          <a:lnRef idx="0"/>
          <a:fillRef idx="0"/>
          <a:effectRef idx="0"/>
          <a:fontRef idx="minor"/>
        </p:style>
        <p:txBody>
          <a:bodyPr lIns="96120" rIns="96120" tIns="51120" bIns="51120" anchor="t">
            <a:noAutofit/>
          </a:bodyPr>
          <a:p>
            <a:endParaRPr b="0" lang="en-US" sz="1800" strike="noStrike" u="none">
              <a:solidFill>
                <a:srgbClr val="000000"/>
              </a:solidFill>
              <a:effectLst/>
              <a:uFillTx/>
              <a:latin typeface="Arial"/>
            </a:endParaRPr>
          </a:p>
        </p:txBody>
      </p:sp>
      <p:sp>
        <p:nvSpPr>
          <p:cNvPr id="350" name=""/>
          <p:cNvSpPr/>
          <p:nvPr/>
        </p:nvSpPr>
        <p:spPr>
          <a:xfrm>
            <a:off x="640080" y="2286000"/>
            <a:ext cx="2103480" cy="228960"/>
          </a:xfrm>
          <a:custGeom>
            <a:avLst/>
            <a:gdLst/>
            <a:ahLst/>
            <a:rect l="0" t="0" r="r" b="b"/>
            <a:pathLst>
              <a:path w="5843" h="636">
                <a:moveTo>
                  <a:pt x="0" y="0"/>
                </a:moveTo>
                <a:lnTo>
                  <a:pt x="5843" y="0"/>
                </a:lnTo>
                <a:lnTo>
                  <a:pt x="5843" y="636"/>
                </a:lnTo>
                <a:lnTo>
                  <a:pt x="0" y="636"/>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51" name=""/>
          <p:cNvSpPr txBox="1"/>
          <p:nvPr/>
        </p:nvSpPr>
        <p:spPr>
          <a:xfrm>
            <a:off x="685800" y="2286000"/>
            <a:ext cx="2011680" cy="245880"/>
          </a:xfrm>
          <a:prstGeom prst="rect">
            <a:avLst/>
          </a:prstGeom>
          <a:noFill/>
          <a:ln w="0">
            <a:noFill/>
          </a:ln>
        </p:spPr>
        <p:txBody>
          <a:bodyPr lIns="90000" rIns="90000" tIns="45000" bIns="45000" anchor="t">
            <a:spAutoFit/>
          </a:bodyPr>
          <a:p>
            <a:pPr algn="ctr"/>
            <a:r>
              <a:rPr b="1" lang="en-US" sz="900" strike="noStrike" u="none">
                <a:solidFill>
                  <a:srgbClr val="ffffff"/>
                </a:solidFill>
                <a:effectLst/>
                <a:uFillTx/>
                <a:latin typeface="Arial-BoldMT"/>
                <a:ea typeface="Arial-BoldMT"/>
              </a:rPr>
              <a:t>Good generalization</a:t>
            </a:r>
            <a:endParaRPr b="0" lang="en-US" sz="900" strike="noStrike" u="none">
              <a:solidFill>
                <a:srgbClr val="000000"/>
              </a:solidFill>
              <a:effectLst/>
              <a:uFillTx/>
              <a:latin typeface="Arial"/>
            </a:endParaRPr>
          </a:p>
        </p:txBody>
      </p:sp>
      <p:sp>
        <p:nvSpPr>
          <p:cNvPr id="352" name=""/>
          <p:cNvSpPr/>
          <p:nvPr/>
        </p:nvSpPr>
        <p:spPr>
          <a:xfrm>
            <a:off x="3246120" y="1097280"/>
            <a:ext cx="2697840" cy="2103480"/>
          </a:xfrm>
          <a:custGeom>
            <a:avLst/>
            <a:gdLst/>
            <a:ahLst/>
            <a:rect l="0" t="0" r="r" b="b"/>
            <a:pathLst>
              <a:path w="7494" h="5843">
                <a:moveTo>
                  <a:pt x="0" y="0"/>
                </a:moveTo>
                <a:lnTo>
                  <a:pt x="7494" y="0"/>
                </a:lnTo>
                <a:lnTo>
                  <a:pt x="7494" y="5843"/>
                </a:lnTo>
                <a:lnTo>
                  <a:pt x="0" y="584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53" name=""/>
          <p:cNvSpPr/>
          <p:nvPr/>
        </p:nvSpPr>
        <p:spPr>
          <a:xfrm>
            <a:off x="3246120" y="1097280"/>
            <a:ext cx="46080" cy="2103480"/>
          </a:xfrm>
          <a:custGeom>
            <a:avLst/>
            <a:gdLst/>
            <a:ahLst/>
            <a:rect l="0" t="0" r="r" b="b"/>
            <a:pathLst>
              <a:path w="128" h="5843">
                <a:moveTo>
                  <a:pt x="0" y="0"/>
                </a:moveTo>
                <a:lnTo>
                  <a:pt x="128" y="0"/>
                </a:lnTo>
                <a:lnTo>
                  <a:pt x="128" y="5843"/>
                </a:lnTo>
                <a:lnTo>
                  <a:pt x="0" y="5843"/>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54" name=""/>
          <p:cNvSpPr txBox="1"/>
          <p:nvPr/>
        </p:nvSpPr>
        <p:spPr>
          <a:xfrm>
            <a:off x="3337560" y="1188720"/>
            <a:ext cx="2468880" cy="351000"/>
          </a:xfrm>
          <a:prstGeom prst="rect">
            <a:avLst/>
          </a:prstGeom>
          <a:noFill/>
          <a:ln w="0">
            <a:noFill/>
          </a:ln>
        </p:spPr>
        <p:txBody>
          <a:bodyPr lIns="90000" rIns="90000" tIns="45000" bIns="45000" anchor="t">
            <a:spAutoFit/>
          </a:bodyPr>
          <a:p>
            <a:pPr algn="ctr"/>
            <a:r>
              <a:rPr b="1" lang="en-US" sz="1500" strike="noStrike" u="none">
                <a:solidFill>
                  <a:srgbClr val="00897a"/>
                </a:solidFill>
                <a:effectLst/>
                <a:uFillTx/>
                <a:latin typeface="Arial-BoldMT"/>
                <a:ea typeface="Arial-BoldMT"/>
              </a:rPr>
              <a:t>Cold Protein</a:t>
            </a:r>
            <a:endParaRPr b="0" lang="en-US" sz="1500" strike="noStrike" u="none">
              <a:solidFill>
                <a:srgbClr val="000000"/>
              </a:solidFill>
              <a:effectLst/>
              <a:uFillTx/>
              <a:latin typeface="Arial"/>
            </a:endParaRPr>
          </a:p>
        </p:txBody>
      </p:sp>
      <p:sp>
        <p:nvSpPr>
          <p:cNvPr id="355" name=""/>
          <p:cNvSpPr txBox="1"/>
          <p:nvPr/>
        </p:nvSpPr>
        <p:spPr>
          <a:xfrm>
            <a:off x="3337560" y="1536120"/>
            <a:ext cx="1188720" cy="262800"/>
          </a:xfrm>
          <a:prstGeom prst="rect">
            <a:avLst/>
          </a:prstGeom>
          <a:noFill/>
          <a:ln w="0">
            <a:noFill/>
          </a:ln>
        </p:spPr>
        <p:txBody>
          <a:bodyPr lIns="90000" rIns="90000" tIns="45000" bIns="45000" anchor="t">
            <a:spAutoFit/>
          </a:bodyPr>
          <a:p>
            <a:pPr algn="ctr"/>
            <a:r>
              <a:rPr b="0" lang="en-US" sz="1000" strike="noStrike" u="none">
                <a:solidFill>
                  <a:srgbClr val="77909c"/>
                </a:solidFill>
                <a:effectLst/>
                <a:uFillTx/>
                <a:latin typeface="ArialMT"/>
                <a:ea typeface="ArialMT"/>
              </a:rPr>
              <a:t>MSE</a:t>
            </a:r>
            <a:endParaRPr b="0" lang="en-US" sz="1000" strike="noStrike" u="none">
              <a:solidFill>
                <a:srgbClr val="000000"/>
              </a:solidFill>
              <a:effectLst/>
              <a:uFillTx/>
              <a:latin typeface="Arial"/>
            </a:endParaRPr>
          </a:p>
        </p:txBody>
      </p:sp>
      <p:sp>
        <p:nvSpPr>
          <p:cNvPr id="356" name=""/>
          <p:cNvSpPr txBox="1"/>
          <p:nvPr/>
        </p:nvSpPr>
        <p:spPr>
          <a:xfrm>
            <a:off x="4572000" y="1536120"/>
            <a:ext cx="1188720" cy="262800"/>
          </a:xfrm>
          <a:prstGeom prst="rect">
            <a:avLst/>
          </a:prstGeom>
          <a:noFill/>
          <a:ln w="0">
            <a:noFill/>
          </a:ln>
        </p:spPr>
        <p:txBody>
          <a:bodyPr lIns="90000" rIns="90000" tIns="45000" bIns="45000" anchor="t">
            <a:spAutoFit/>
          </a:bodyPr>
          <a:p>
            <a:pPr algn="ctr"/>
            <a:r>
              <a:rPr b="0" lang="en-US" sz="1000" strike="noStrike" u="none">
                <a:solidFill>
                  <a:srgbClr val="77909c"/>
                </a:solidFill>
                <a:effectLst/>
                <a:uFillTx/>
                <a:latin typeface="ArialMT"/>
                <a:ea typeface="ArialMT"/>
              </a:rPr>
              <a:t>CI</a:t>
            </a:r>
            <a:endParaRPr b="0" lang="en-US" sz="1000" strike="noStrike" u="none">
              <a:solidFill>
                <a:srgbClr val="000000"/>
              </a:solidFill>
              <a:effectLst/>
              <a:uFillTx/>
              <a:latin typeface="Arial"/>
            </a:endParaRPr>
          </a:p>
        </p:txBody>
      </p:sp>
      <p:sp>
        <p:nvSpPr>
          <p:cNvPr id="357" name=""/>
          <p:cNvSpPr txBox="1"/>
          <p:nvPr/>
        </p:nvSpPr>
        <p:spPr>
          <a:xfrm>
            <a:off x="3337560" y="1719000"/>
            <a:ext cx="1188720" cy="541440"/>
          </a:xfrm>
          <a:prstGeom prst="rect">
            <a:avLst/>
          </a:prstGeom>
          <a:noFill/>
          <a:ln w="0">
            <a:noFill/>
          </a:ln>
        </p:spPr>
        <p:txBody>
          <a:bodyPr lIns="90000" rIns="90000" tIns="45000" bIns="45000" anchor="t">
            <a:spAutoFit/>
          </a:bodyPr>
          <a:p>
            <a:pPr algn="ctr"/>
            <a:r>
              <a:rPr b="1" lang="en-US" sz="2600" strike="noStrike" u="none">
                <a:solidFill>
                  <a:srgbClr val="191e35"/>
                </a:solidFill>
                <a:effectLst/>
                <a:uFillTx/>
                <a:latin typeface="Arial-BoldMT"/>
                <a:ea typeface="Arial-BoldMT"/>
              </a:rPr>
              <a:t>0.414</a:t>
            </a:r>
            <a:endParaRPr b="0" lang="en-US" sz="2600" strike="noStrike" u="none">
              <a:solidFill>
                <a:srgbClr val="000000"/>
              </a:solidFill>
              <a:effectLst/>
              <a:uFillTx/>
              <a:latin typeface="Arial"/>
            </a:endParaRPr>
          </a:p>
        </p:txBody>
      </p:sp>
      <p:sp>
        <p:nvSpPr>
          <p:cNvPr id="358" name=""/>
          <p:cNvSpPr txBox="1"/>
          <p:nvPr/>
        </p:nvSpPr>
        <p:spPr>
          <a:xfrm>
            <a:off x="4572000" y="1719000"/>
            <a:ext cx="1188720" cy="541440"/>
          </a:xfrm>
          <a:prstGeom prst="rect">
            <a:avLst/>
          </a:prstGeom>
          <a:noFill/>
          <a:ln w="0">
            <a:noFill/>
          </a:ln>
        </p:spPr>
        <p:txBody>
          <a:bodyPr lIns="90000" rIns="90000" tIns="45000" bIns="45000" anchor="t">
            <a:spAutoFit/>
          </a:bodyPr>
          <a:p>
            <a:pPr algn="ctr"/>
            <a:r>
              <a:rPr b="1" lang="en-US" sz="2600" strike="noStrike" u="none">
                <a:solidFill>
                  <a:srgbClr val="191e35"/>
                </a:solidFill>
                <a:effectLst/>
                <a:uFillTx/>
                <a:latin typeface="Arial-BoldMT"/>
                <a:ea typeface="Arial-BoldMT"/>
              </a:rPr>
              <a:t>0.767</a:t>
            </a:r>
            <a:endParaRPr b="0" lang="en-US" sz="2600" strike="noStrike" u="none">
              <a:solidFill>
                <a:srgbClr val="000000"/>
              </a:solidFill>
              <a:effectLst/>
              <a:uFillTx/>
              <a:latin typeface="Arial"/>
            </a:endParaRPr>
          </a:p>
        </p:txBody>
      </p:sp>
      <p:sp>
        <p:nvSpPr>
          <p:cNvPr id="359" name=""/>
          <p:cNvSpPr/>
          <p:nvPr/>
        </p:nvSpPr>
        <p:spPr>
          <a:xfrm>
            <a:off x="4526280" y="1581840"/>
            <a:ext cx="0" cy="548640"/>
          </a:xfrm>
          <a:prstGeom prst="line">
            <a:avLst/>
          </a:prstGeom>
          <a:ln w="12600">
            <a:solidFill>
              <a:srgbClr val="e8ebf2"/>
            </a:solidFill>
            <a:round/>
          </a:ln>
        </p:spPr>
        <p:style>
          <a:lnRef idx="0"/>
          <a:fillRef idx="0"/>
          <a:effectRef idx="0"/>
          <a:fontRef idx="minor"/>
        </p:style>
        <p:txBody>
          <a:bodyPr lIns="96120" rIns="96120" tIns="51120" bIns="51120" anchor="t">
            <a:noAutofit/>
          </a:bodyPr>
          <a:p>
            <a:endParaRPr b="0" lang="en-US" sz="1800" strike="noStrike" u="none">
              <a:solidFill>
                <a:srgbClr val="000000"/>
              </a:solidFill>
              <a:effectLst/>
              <a:uFillTx/>
              <a:latin typeface="Arial"/>
            </a:endParaRPr>
          </a:p>
        </p:txBody>
      </p:sp>
      <p:sp>
        <p:nvSpPr>
          <p:cNvPr id="360" name=""/>
          <p:cNvSpPr/>
          <p:nvPr/>
        </p:nvSpPr>
        <p:spPr>
          <a:xfrm>
            <a:off x="3520440" y="2286000"/>
            <a:ext cx="2103480" cy="228960"/>
          </a:xfrm>
          <a:custGeom>
            <a:avLst/>
            <a:gdLst/>
            <a:ahLst/>
            <a:rect l="0" t="0" r="r" b="b"/>
            <a:pathLst>
              <a:path w="5843" h="636">
                <a:moveTo>
                  <a:pt x="0" y="0"/>
                </a:moveTo>
                <a:lnTo>
                  <a:pt x="5843" y="0"/>
                </a:lnTo>
                <a:lnTo>
                  <a:pt x="5843" y="636"/>
                </a:lnTo>
                <a:lnTo>
                  <a:pt x="0" y="636"/>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61" name=""/>
          <p:cNvSpPr txBox="1"/>
          <p:nvPr/>
        </p:nvSpPr>
        <p:spPr>
          <a:xfrm>
            <a:off x="3566160" y="2286000"/>
            <a:ext cx="2011680" cy="245880"/>
          </a:xfrm>
          <a:prstGeom prst="rect">
            <a:avLst/>
          </a:prstGeom>
          <a:noFill/>
          <a:ln w="0">
            <a:noFill/>
          </a:ln>
        </p:spPr>
        <p:txBody>
          <a:bodyPr lIns="90000" rIns="90000" tIns="45000" bIns="45000" anchor="t">
            <a:spAutoFit/>
          </a:bodyPr>
          <a:p>
            <a:pPr algn="ctr"/>
            <a:r>
              <a:rPr b="1" lang="en-US" sz="900" strike="noStrike" u="none">
                <a:solidFill>
                  <a:srgbClr val="ffffff"/>
                </a:solidFill>
                <a:effectLst/>
                <a:uFillTx/>
                <a:latin typeface="Arial-BoldMT"/>
                <a:ea typeface="Arial-BoldMT"/>
              </a:rPr>
              <a:t>Best performance ★</a:t>
            </a:r>
            <a:endParaRPr b="0" lang="en-US" sz="900" strike="noStrike" u="none">
              <a:solidFill>
                <a:srgbClr val="000000"/>
              </a:solidFill>
              <a:effectLst/>
              <a:uFillTx/>
              <a:latin typeface="Arial"/>
            </a:endParaRPr>
          </a:p>
        </p:txBody>
      </p:sp>
      <p:sp>
        <p:nvSpPr>
          <p:cNvPr id="362" name=""/>
          <p:cNvSpPr/>
          <p:nvPr/>
        </p:nvSpPr>
        <p:spPr>
          <a:xfrm>
            <a:off x="6126480" y="1097280"/>
            <a:ext cx="2697840" cy="2103480"/>
          </a:xfrm>
          <a:custGeom>
            <a:avLst/>
            <a:gdLst/>
            <a:ahLst/>
            <a:rect l="0" t="0" r="r" b="b"/>
            <a:pathLst>
              <a:path w="7494" h="5843">
                <a:moveTo>
                  <a:pt x="0" y="0"/>
                </a:moveTo>
                <a:lnTo>
                  <a:pt x="7494" y="0"/>
                </a:lnTo>
                <a:lnTo>
                  <a:pt x="7494" y="5843"/>
                </a:lnTo>
                <a:lnTo>
                  <a:pt x="0" y="584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63" name=""/>
          <p:cNvSpPr/>
          <p:nvPr/>
        </p:nvSpPr>
        <p:spPr>
          <a:xfrm>
            <a:off x="6126480" y="1097280"/>
            <a:ext cx="46080" cy="2103480"/>
          </a:xfrm>
          <a:custGeom>
            <a:avLst/>
            <a:gdLst/>
            <a:ahLst/>
            <a:rect l="0" t="0" r="r" b="b"/>
            <a:pathLst>
              <a:path w="128" h="5843">
                <a:moveTo>
                  <a:pt x="0" y="0"/>
                </a:moveTo>
                <a:lnTo>
                  <a:pt x="128" y="0"/>
                </a:lnTo>
                <a:lnTo>
                  <a:pt x="128" y="5843"/>
                </a:lnTo>
                <a:lnTo>
                  <a:pt x="0" y="5843"/>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64" name=""/>
          <p:cNvSpPr txBox="1"/>
          <p:nvPr/>
        </p:nvSpPr>
        <p:spPr>
          <a:xfrm>
            <a:off x="6217920" y="1188720"/>
            <a:ext cx="2468880" cy="351000"/>
          </a:xfrm>
          <a:prstGeom prst="rect">
            <a:avLst/>
          </a:prstGeom>
          <a:noFill/>
          <a:ln w="0">
            <a:noFill/>
          </a:ln>
        </p:spPr>
        <p:txBody>
          <a:bodyPr lIns="90000" rIns="90000" tIns="45000" bIns="45000" anchor="t">
            <a:spAutoFit/>
          </a:bodyPr>
          <a:p>
            <a:pPr algn="ctr"/>
            <a:r>
              <a:rPr b="1" lang="en-US" sz="1500" strike="noStrike" u="none">
                <a:solidFill>
                  <a:srgbClr val="c62727"/>
                </a:solidFill>
                <a:effectLst/>
                <a:uFillTx/>
                <a:latin typeface="Arial-BoldMT"/>
                <a:ea typeface="Arial-BoldMT"/>
              </a:rPr>
              <a:t>Cold Both</a:t>
            </a:r>
            <a:endParaRPr b="0" lang="en-US" sz="1500" strike="noStrike" u="none">
              <a:solidFill>
                <a:srgbClr val="000000"/>
              </a:solidFill>
              <a:effectLst/>
              <a:uFillTx/>
              <a:latin typeface="Arial"/>
            </a:endParaRPr>
          </a:p>
        </p:txBody>
      </p:sp>
      <p:sp>
        <p:nvSpPr>
          <p:cNvPr id="365" name=""/>
          <p:cNvSpPr txBox="1"/>
          <p:nvPr/>
        </p:nvSpPr>
        <p:spPr>
          <a:xfrm>
            <a:off x="6217920" y="1536120"/>
            <a:ext cx="1188720" cy="262800"/>
          </a:xfrm>
          <a:prstGeom prst="rect">
            <a:avLst/>
          </a:prstGeom>
          <a:noFill/>
          <a:ln w="0">
            <a:noFill/>
          </a:ln>
        </p:spPr>
        <p:txBody>
          <a:bodyPr lIns="90000" rIns="90000" tIns="45000" bIns="45000" anchor="t">
            <a:spAutoFit/>
          </a:bodyPr>
          <a:p>
            <a:pPr algn="ctr"/>
            <a:r>
              <a:rPr b="0" lang="en-US" sz="1000" strike="noStrike" u="none">
                <a:solidFill>
                  <a:srgbClr val="77909c"/>
                </a:solidFill>
                <a:effectLst/>
                <a:uFillTx/>
                <a:latin typeface="ArialMT"/>
                <a:ea typeface="ArialMT"/>
              </a:rPr>
              <a:t>MSE</a:t>
            </a:r>
            <a:endParaRPr b="0" lang="en-US" sz="1000" strike="noStrike" u="none">
              <a:solidFill>
                <a:srgbClr val="000000"/>
              </a:solidFill>
              <a:effectLst/>
              <a:uFillTx/>
              <a:latin typeface="Arial"/>
            </a:endParaRPr>
          </a:p>
        </p:txBody>
      </p:sp>
      <p:sp>
        <p:nvSpPr>
          <p:cNvPr id="366" name=""/>
          <p:cNvSpPr txBox="1"/>
          <p:nvPr/>
        </p:nvSpPr>
        <p:spPr>
          <a:xfrm>
            <a:off x="7452360" y="1536120"/>
            <a:ext cx="1188720" cy="262800"/>
          </a:xfrm>
          <a:prstGeom prst="rect">
            <a:avLst/>
          </a:prstGeom>
          <a:noFill/>
          <a:ln w="0">
            <a:noFill/>
          </a:ln>
        </p:spPr>
        <p:txBody>
          <a:bodyPr lIns="90000" rIns="90000" tIns="45000" bIns="45000" anchor="t">
            <a:spAutoFit/>
          </a:bodyPr>
          <a:p>
            <a:pPr algn="ctr"/>
            <a:r>
              <a:rPr b="0" lang="en-US" sz="1000" strike="noStrike" u="none">
                <a:solidFill>
                  <a:srgbClr val="77909c"/>
                </a:solidFill>
                <a:effectLst/>
                <a:uFillTx/>
                <a:latin typeface="ArialMT"/>
                <a:ea typeface="ArialMT"/>
              </a:rPr>
              <a:t>CI</a:t>
            </a:r>
            <a:endParaRPr b="0" lang="en-US" sz="1000" strike="noStrike" u="none">
              <a:solidFill>
                <a:srgbClr val="000000"/>
              </a:solidFill>
              <a:effectLst/>
              <a:uFillTx/>
              <a:latin typeface="Arial"/>
            </a:endParaRPr>
          </a:p>
        </p:txBody>
      </p:sp>
      <p:sp>
        <p:nvSpPr>
          <p:cNvPr id="367" name=""/>
          <p:cNvSpPr txBox="1"/>
          <p:nvPr/>
        </p:nvSpPr>
        <p:spPr>
          <a:xfrm>
            <a:off x="6217920" y="1719000"/>
            <a:ext cx="1188720" cy="541440"/>
          </a:xfrm>
          <a:prstGeom prst="rect">
            <a:avLst/>
          </a:prstGeom>
          <a:noFill/>
          <a:ln w="0">
            <a:noFill/>
          </a:ln>
        </p:spPr>
        <p:txBody>
          <a:bodyPr lIns="90000" rIns="90000" tIns="45000" bIns="45000" anchor="t">
            <a:spAutoFit/>
          </a:bodyPr>
          <a:p>
            <a:pPr algn="ctr"/>
            <a:r>
              <a:rPr b="1" lang="en-US" sz="2600" strike="noStrike" u="none">
                <a:solidFill>
                  <a:srgbClr val="191e35"/>
                </a:solidFill>
                <a:effectLst/>
                <a:uFillTx/>
                <a:latin typeface="Arial-BoldMT"/>
                <a:ea typeface="Arial-BoldMT"/>
              </a:rPr>
              <a:t>0.558</a:t>
            </a:r>
            <a:endParaRPr b="0" lang="en-US" sz="2600" strike="noStrike" u="none">
              <a:solidFill>
                <a:srgbClr val="000000"/>
              </a:solidFill>
              <a:effectLst/>
              <a:uFillTx/>
              <a:latin typeface="Arial"/>
            </a:endParaRPr>
          </a:p>
        </p:txBody>
      </p:sp>
      <p:sp>
        <p:nvSpPr>
          <p:cNvPr id="368" name=""/>
          <p:cNvSpPr txBox="1"/>
          <p:nvPr/>
        </p:nvSpPr>
        <p:spPr>
          <a:xfrm>
            <a:off x="7452360" y="1719000"/>
            <a:ext cx="1188720" cy="541440"/>
          </a:xfrm>
          <a:prstGeom prst="rect">
            <a:avLst/>
          </a:prstGeom>
          <a:noFill/>
          <a:ln w="0">
            <a:noFill/>
          </a:ln>
        </p:spPr>
        <p:txBody>
          <a:bodyPr lIns="90000" rIns="90000" tIns="45000" bIns="45000" anchor="t">
            <a:spAutoFit/>
          </a:bodyPr>
          <a:p>
            <a:pPr algn="ctr"/>
            <a:r>
              <a:rPr b="1" lang="en-US" sz="2600" strike="noStrike" u="none">
                <a:solidFill>
                  <a:srgbClr val="191e35"/>
                </a:solidFill>
                <a:effectLst/>
                <a:uFillTx/>
                <a:latin typeface="Arial-BoldMT"/>
                <a:ea typeface="Arial-BoldMT"/>
              </a:rPr>
              <a:t>0.413</a:t>
            </a:r>
            <a:endParaRPr b="0" lang="en-US" sz="2600" strike="noStrike" u="none">
              <a:solidFill>
                <a:srgbClr val="000000"/>
              </a:solidFill>
              <a:effectLst/>
              <a:uFillTx/>
              <a:latin typeface="Arial"/>
            </a:endParaRPr>
          </a:p>
        </p:txBody>
      </p:sp>
      <p:sp>
        <p:nvSpPr>
          <p:cNvPr id="369" name=""/>
          <p:cNvSpPr/>
          <p:nvPr/>
        </p:nvSpPr>
        <p:spPr>
          <a:xfrm>
            <a:off x="7406640" y="1581840"/>
            <a:ext cx="0" cy="548640"/>
          </a:xfrm>
          <a:prstGeom prst="line">
            <a:avLst/>
          </a:prstGeom>
          <a:ln w="12600">
            <a:solidFill>
              <a:srgbClr val="e8ebf2"/>
            </a:solidFill>
            <a:round/>
          </a:ln>
        </p:spPr>
        <p:style>
          <a:lnRef idx="0"/>
          <a:fillRef idx="0"/>
          <a:effectRef idx="0"/>
          <a:fontRef idx="minor"/>
        </p:style>
        <p:txBody>
          <a:bodyPr lIns="96120" rIns="96120" tIns="51120" bIns="51120" anchor="t">
            <a:noAutofit/>
          </a:bodyPr>
          <a:p>
            <a:endParaRPr b="0" lang="en-US" sz="1800" strike="noStrike" u="none">
              <a:solidFill>
                <a:srgbClr val="000000"/>
              </a:solidFill>
              <a:effectLst/>
              <a:uFillTx/>
              <a:latin typeface="Arial"/>
            </a:endParaRPr>
          </a:p>
        </p:txBody>
      </p:sp>
      <p:sp>
        <p:nvSpPr>
          <p:cNvPr id="370" name=""/>
          <p:cNvSpPr/>
          <p:nvPr/>
        </p:nvSpPr>
        <p:spPr>
          <a:xfrm>
            <a:off x="6400800" y="2286000"/>
            <a:ext cx="2103480" cy="228960"/>
          </a:xfrm>
          <a:custGeom>
            <a:avLst/>
            <a:gdLst/>
            <a:ahLst/>
            <a:rect l="0" t="0" r="r" b="b"/>
            <a:pathLst>
              <a:path w="5843" h="636">
                <a:moveTo>
                  <a:pt x="0" y="0"/>
                </a:moveTo>
                <a:lnTo>
                  <a:pt x="5843" y="0"/>
                </a:lnTo>
                <a:lnTo>
                  <a:pt x="5843" y="636"/>
                </a:lnTo>
                <a:lnTo>
                  <a:pt x="0" y="636"/>
                </a:lnTo>
                <a:lnTo>
                  <a:pt x="0" y="0"/>
                </a:lnTo>
                <a:close/>
              </a:path>
            </a:pathLst>
          </a:custGeom>
          <a:solidFill>
            <a:srgbClr val="77909c"/>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71" name=""/>
          <p:cNvSpPr txBox="1"/>
          <p:nvPr/>
        </p:nvSpPr>
        <p:spPr>
          <a:xfrm>
            <a:off x="6446520" y="2286000"/>
            <a:ext cx="2011680" cy="245880"/>
          </a:xfrm>
          <a:prstGeom prst="rect">
            <a:avLst/>
          </a:prstGeom>
          <a:noFill/>
          <a:ln w="0">
            <a:noFill/>
          </a:ln>
        </p:spPr>
        <p:txBody>
          <a:bodyPr lIns="90000" rIns="90000" tIns="45000" bIns="45000" anchor="t">
            <a:spAutoFit/>
          </a:bodyPr>
          <a:p>
            <a:pPr algn="ctr"/>
            <a:r>
              <a:rPr b="1" lang="en-US" sz="900" strike="noStrike" u="none">
                <a:solidFill>
                  <a:srgbClr val="ffffff"/>
                </a:solidFill>
                <a:effectLst/>
                <a:uFillTx/>
                <a:latin typeface="Arial-BoldMT"/>
                <a:ea typeface="Arial-BoldMT"/>
              </a:rPr>
              <a:t>Most challenging</a:t>
            </a:r>
            <a:endParaRPr b="0" lang="en-US" sz="900" strike="noStrike" u="none">
              <a:solidFill>
                <a:srgbClr val="000000"/>
              </a:solidFill>
              <a:effectLst/>
              <a:uFillTx/>
              <a:latin typeface="Arial"/>
            </a:endParaRPr>
          </a:p>
        </p:txBody>
      </p:sp>
      <p:sp>
        <p:nvSpPr>
          <p:cNvPr id="372" name=""/>
          <p:cNvSpPr/>
          <p:nvPr/>
        </p:nvSpPr>
        <p:spPr>
          <a:xfrm>
            <a:off x="365760" y="3474720"/>
            <a:ext cx="8412840" cy="1280520"/>
          </a:xfrm>
          <a:custGeom>
            <a:avLst/>
            <a:gdLst/>
            <a:ahLst/>
            <a:rect l="0" t="0" r="r" b="b"/>
            <a:pathLst>
              <a:path w="23369" h="3557">
                <a:moveTo>
                  <a:pt x="0" y="0"/>
                </a:moveTo>
                <a:lnTo>
                  <a:pt x="23369" y="0"/>
                </a:lnTo>
                <a:lnTo>
                  <a:pt x="23369" y="3557"/>
                </a:lnTo>
                <a:lnTo>
                  <a:pt x="0" y="3557"/>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73" name=""/>
          <p:cNvSpPr txBox="1"/>
          <p:nvPr/>
        </p:nvSpPr>
        <p:spPr>
          <a:xfrm>
            <a:off x="548640" y="3566160"/>
            <a:ext cx="2743200" cy="314280"/>
          </a:xfrm>
          <a:prstGeom prst="rect">
            <a:avLst/>
          </a:prstGeom>
          <a:noFill/>
          <a:ln w="0">
            <a:noFill/>
          </a:ln>
        </p:spPr>
        <p:txBody>
          <a:bodyPr lIns="90000" rIns="90000" tIns="45000" bIns="45000" anchor="t">
            <a:spAutoFit/>
          </a:bodyPr>
          <a:p>
            <a:r>
              <a:rPr b="1" lang="en-US" sz="1300" strike="noStrike" u="none">
                <a:solidFill>
                  <a:srgbClr val="191e35"/>
                </a:solidFill>
                <a:effectLst/>
                <a:uFillTx/>
                <a:latin typeface="Arial-BoldMT"/>
                <a:ea typeface="Arial-BoldMT"/>
              </a:rPr>
              <a:t>Metric Definitions</a:t>
            </a:r>
            <a:endParaRPr b="0" lang="en-US" sz="1300" strike="noStrike" u="none">
              <a:solidFill>
                <a:srgbClr val="000000"/>
              </a:solidFill>
              <a:effectLst/>
              <a:uFillTx/>
              <a:latin typeface="Arial"/>
            </a:endParaRPr>
          </a:p>
        </p:txBody>
      </p:sp>
      <p:sp>
        <p:nvSpPr>
          <p:cNvPr id="374" name=""/>
          <p:cNvSpPr txBox="1"/>
          <p:nvPr/>
        </p:nvSpPr>
        <p:spPr>
          <a:xfrm>
            <a:off x="548640" y="3840480"/>
            <a:ext cx="8046720" cy="471240"/>
          </a:xfrm>
          <a:prstGeom prst="rect">
            <a:avLst/>
          </a:prstGeom>
          <a:noFill/>
          <a:ln w="0">
            <a:noFill/>
          </a:ln>
        </p:spPr>
        <p:txBody>
          <a:bodyPr lIns="90000" rIns="90000" tIns="45000" bIns="45000" anchor="t">
            <a:spAutoFit/>
          </a:bodyPr>
          <a:p>
            <a:r>
              <a:rPr b="1" lang="en-US" sz="1100" strike="noStrike" u="none">
                <a:solidFill>
                  <a:srgbClr val="536d79"/>
                </a:solidFill>
                <a:effectLst/>
                <a:uFillTx/>
                <a:latin typeface="Arial-BoldMT"/>
                <a:ea typeface="Arial-BoldMT"/>
              </a:rPr>
              <a:t>MSE: </a:t>
            </a:r>
            <a:r>
              <a:rPr b="0" lang="en-US" sz="1100" strike="noStrike" u="none">
                <a:solidFill>
                  <a:srgbClr val="536d79"/>
                </a:solidFill>
                <a:effectLst/>
                <a:uFillTx/>
                <a:latin typeface="ArialMT"/>
                <a:ea typeface="ArialMT"/>
              </a:rPr>
              <a:t>Lower is better — prediction accuracy in pKd units.</a:t>
            </a:r>
            <a:endParaRPr b="0" lang="en-US" sz="1100" strike="noStrike" u="none">
              <a:solidFill>
                <a:srgbClr val="000000"/>
              </a:solidFill>
              <a:effectLst/>
              <a:uFillTx/>
              <a:latin typeface="Arial"/>
            </a:endParaRPr>
          </a:p>
          <a:p>
            <a:r>
              <a:rPr b="1" lang="en-US" sz="1100" strike="noStrike" u="none">
                <a:solidFill>
                  <a:srgbClr val="536d79"/>
                </a:solidFill>
                <a:effectLst/>
                <a:uFillTx/>
                <a:latin typeface="Arial-BoldMT"/>
                <a:ea typeface="Arial-BoldMT"/>
              </a:rPr>
              <a:t>CI: </a:t>
            </a:r>
            <a:r>
              <a:rPr b="0" lang="en-US" sz="1100" strike="noStrike" u="none">
                <a:solidFill>
                  <a:srgbClr val="536d79"/>
                </a:solidFill>
                <a:effectLst/>
                <a:uFillTx/>
                <a:latin typeface="ArialMT"/>
                <a:ea typeface="ArialMT"/>
              </a:rPr>
              <a:t>Higher is better — ranking quality (0.5 = random, 1.0 = perfect).</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375"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SOTA Comparison (Davis)</a:t>
            </a:r>
            <a:endParaRPr b="0" lang="en-US" sz="2800" strike="noStrike" u="none">
              <a:solidFill>
                <a:srgbClr val="000000"/>
              </a:solidFill>
              <a:effectLst/>
              <a:uFillTx/>
              <a:latin typeface="Arial"/>
            </a:endParaRPr>
          </a:p>
        </p:txBody>
      </p:sp>
      <p:sp>
        <p:nvSpPr>
          <p:cNvPr id="376"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377" name=""/>
          <p:cNvSpPr txBox="1"/>
          <p:nvPr/>
        </p:nvSpPr>
        <p:spPr>
          <a:xfrm>
            <a:off x="473040" y="77724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Our model vs. 7 baseline methods across all cold-start scenarios</a:t>
            </a:r>
            <a:endParaRPr b="0" lang="en-US" sz="1100" strike="noStrike" u="none">
              <a:solidFill>
                <a:srgbClr val="000000"/>
              </a:solidFill>
              <a:effectLst/>
              <a:uFillTx/>
              <a:latin typeface="Arial"/>
            </a:endParaRPr>
          </a:p>
        </p:txBody>
      </p:sp>
      <p:grpSp>
        <p:nvGrpSpPr>
          <p:cNvPr id="378" name=""/>
          <p:cNvGrpSpPr/>
          <p:nvPr/>
        </p:nvGrpSpPr>
        <p:grpSpPr>
          <a:xfrm>
            <a:off x="274320" y="1097280"/>
            <a:ext cx="8595720" cy="3100320"/>
            <a:chOff x="274320" y="1097280"/>
            <a:chExt cx="8595720" cy="3100320"/>
          </a:xfrm>
        </p:grpSpPr>
        <p:sp>
          <p:nvSpPr>
            <p:cNvPr id="379" name=""/>
            <p:cNvSpPr/>
            <p:nvPr/>
          </p:nvSpPr>
          <p:spPr>
            <a:xfrm>
              <a:off x="274320" y="132588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191e35"/>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380" name=""/>
            <p:cNvSpPr/>
            <p:nvPr/>
          </p:nvSpPr>
          <p:spPr>
            <a:xfrm>
              <a:off x="274320" y="166428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1" name=""/>
            <p:cNvSpPr/>
            <p:nvPr/>
          </p:nvSpPr>
          <p:spPr>
            <a:xfrm>
              <a:off x="274320" y="198432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eef0f6"/>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2" name=""/>
            <p:cNvSpPr/>
            <p:nvPr/>
          </p:nvSpPr>
          <p:spPr>
            <a:xfrm>
              <a:off x="274320" y="230436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3" name=""/>
            <p:cNvSpPr/>
            <p:nvPr/>
          </p:nvSpPr>
          <p:spPr>
            <a:xfrm>
              <a:off x="274320" y="262440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eef0f6"/>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4" name=""/>
            <p:cNvSpPr/>
            <p:nvPr/>
          </p:nvSpPr>
          <p:spPr>
            <a:xfrm>
              <a:off x="274320" y="294444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5" name=""/>
            <p:cNvSpPr/>
            <p:nvPr/>
          </p:nvSpPr>
          <p:spPr>
            <a:xfrm>
              <a:off x="274320" y="326448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eef0f6"/>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6" name=""/>
            <p:cNvSpPr/>
            <p:nvPr/>
          </p:nvSpPr>
          <p:spPr>
            <a:xfrm>
              <a:off x="274320" y="358452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387" name=""/>
            <p:cNvSpPr/>
            <p:nvPr/>
          </p:nvSpPr>
          <p:spPr>
            <a:xfrm>
              <a:off x="274320" y="3904560"/>
              <a:ext cx="8595720" cy="293040"/>
            </a:xfrm>
            <a:custGeom>
              <a:avLst/>
              <a:gdLst/>
              <a:ahLst/>
              <a:rect l="0" t="0" r="r" b="b"/>
              <a:pathLst>
                <a:path w="23877" h="814">
                  <a:moveTo>
                    <a:pt x="0" y="0"/>
                  </a:moveTo>
                  <a:lnTo>
                    <a:pt x="23877" y="0"/>
                  </a:lnTo>
                  <a:lnTo>
                    <a:pt x="23877" y="814"/>
                  </a:lnTo>
                  <a:lnTo>
                    <a:pt x="0" y="814"/>
                  </a:lnTo>
                  <a:lnTo>
                    <a:pt x="0" y="0"/>
                  </a:lnTo>
                  <a:close/>
                </a:path>
              </a:pathLst>
            </a:custGeom>
            <a:solidFill>
              <a:srgbClr val="e8f5e9"/>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grpSp>
          <p:nvGrpSpPr>
            <p:cNvPr id="388" name=""/>
            <p:cNvGrpSpPr/>
            <p:nvPr/>
          </p:nvGrpSpPr>
          <p:grpSpPr>
            <a:xfrm>
              <a:off x="320040" y="1097280"/>
              <a:ext cx="6858360" cy="3099960"/>
              <a:chOff x="320040" y="1097280"/>
              <a:chExt cx="6858360" cy="3099960"/>
            </a:xfrm>
          </p:grpSpPr>
          <p:grpSp>
            <p:nvGrpSpPr>
              <p:cNvPr id="389" name=""/>
              <p:cNvGrpSpPr/>
              <p:nvPr/>
            </p:nvGrpSpPr>
            <p:grpSpPr>
              <a:xfrm>
                <a:off x="320040" y="1097280"/>
                <a:ext cx="6858360" cy="1819800"/>
                <a:chOff x="320040" y="1097280"/>
                <a:chExt cx="6858360" cy="1819800"/>
              </a:xfrm>
            </p:grpSpPr>
            <p:sp>
              <p:nvSpPr>
                <p:cNvPr id="390" name=""/>
                <p:cNvSpPr txBox="1"/>
                <p:nvPr/>
              </p:nvSpPr>
              <p:spPr>
                <a:xfrm>
                  <a:off x="320040" y="1325880"/>
                  <a:ext cx="109728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Model</a:t>
                  </a:r>
                  <a:endParaRPr b="0" lang="en-US" sz="800" strike="noStrike" u="none">
                    <a:solidFill>
                      <a:srgbClr val="000000"/>
                    </a:solidFill>
                    <a:effectLst/>
                    <a:uFillTx/>
                    <a:latin typeface="Arial"/>
                  </a:endParaRPr>
                </a:p>
              </p:txBody>
            </p:sp>
            <p:sp>
              <p:nvSpPr>
                <p:cNvPr id="391" name=""/>
                <p:cNvSpPr txBox="1"/>
                <p:nvPr/>
              </p:nvSpPr>
              <p:spPr>
                <a:xfrm>
                  <a:off x="1463040" y="1325880"/>
                  <a:ext cx="59436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MSE ↓</a:t>
                  </a:r>
                  <a:endParaRPr b="0" lang="en-US" sz="800" strike="noStrike" u="none">
                    <a:solidFill>
                      <a:srgbClr val="000000"/>
                    </a:solidFill>
                    <a:effectLst/>
                    <a:uFillTx/>
                    <a:latin typeface="Arial"/>
                  </a:endParaRPr>
                </a:p>
              </p:txBody>
            </p:sp>
            <p:sp>
              <p:nvSpPr>
                <p:cNvPr id="392" name=""/>
                <p:cNvSpPr txBox="1"/>
                <p:nvPr/>
              </p:nvSpPr>
              <p:spPr>
                <a:xfrm>
                  <a:off x="2103120" y="1325880"/>
                  <a:ext cx="54864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CI ↑</a:t>
                  </a:r>
                  <a:endParaRPr b="0" lang="en-US" sz="800" strike="noStrike" u="none">
                    <a:solidFill>
                      <a:srgbClr val="000000"/>
                    </a:solidFill>
                    <a:effectLst/>
                    <a:uFillTx/>
                    <a:latin typeface="Arial"/>
                  </a:endParaRPr>
                </a:p>
              </p:txBody>
            </p:sp>
            <p:sp>
              <p:nvSpPr>
                <p:cNvPr id="393" name=""/>
                <p:cNvSpPr txBox="1"/>
                <p:nvPr/>
              </p:nvSpPr>
              <p:spPr>
                <a:xfrm>
                  <a:off x="2697480" y="1325880"/>
                  <a:ext cx="64008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r²_m ↑</a:t>
                  </a:r>
                  <a:endParaRPr b="0" lang="en-US" sz="800" strike="noStrike" u="none">
                    <a:solidFill>
                      <a:srgbClr val="000000"/>
                    </a:solidFill>
                    <a:effectLst/>
                    <a:uFillTx/>
                    <a:latin typeface="Arial"/>
                  </a:endParaRPr>
                </a:p>
              </p:txBody>
            </p:sp>
            <p:sp>
              <p:nvSpPr>
                <p:cNvPr id="394" name=""/>
                <p:cNvSpPr txBox="1"/>
                <p:nvPr/>
              </p:nvSpPr>
              <p:spPr>
                <a:xfrm>
                  <a:off x="3383280" y="1325880"/>
                  <a:ext cx="59436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MSE ↓</a:t>
                  </a:r>
                  <a:endParaRPr b="0" lang="en-US" sz="800" strike="noStrike" u="none">
                    <a:solidFill>
                      <a:srgbClr val="000000"/>
                    </a:solidFill>
                    <a:effectLst/>
                    <a:uFillTx/>
                    <a:latin typeface="Arial"/>
                  </a:endParaRPr>
                </a:p>
              </p:txBody>
            </p:sp>
            <p:sp>
              <p:nvSpPr>
                <p:cNvPr id="395" name=""/>
                <p:cNvSpPr txBox="1"/>
                <p:nvPr/>
              </p:nvSpPr>
              <p:spPr>
                <a:xfrm>
                  <a:off x="4023360" y="1325880"/>
                  <a:ext cx="54864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CI ↑</a:t>
                  </a:r>
                  <a:endParaRPr b="0" lang="en-US" sz="800" strike="noStrike" u="none">
                    <a:solidFill>
                      <a:srgbClr val="000000"/>
                    </a:solidFill>
                    <a:effectLst/>
                    <a:uFillTx/>
                    <a:latin typeface="Arial"/>
                  </a:endParaRPr>
                </a:p>
              </p:txBody>
            </p:sp>
            <p:sp>
              <p:nvSpPr>
                <p:cNvPr id="396" name=""/>
                <p:cNvSpPr txBox="1"/>
                <p:nvPr/>
              </p:nvSpPr>
              <p:spPr>
                <a:xfrm>
                  <a:off x="4617720" y="1325880"/>
                  <a:ext cx="64008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r²_m ↑</a:t>
                  </a:r>
                  <a:endParaRPr b="0" lang="en-US" sz="800" strike="noStrike" u="none">
                    <a:solidFill>
                      <a:srgbClr val="000000"/>
                    </a:solidFill>
                    <a:effectLst/>
                    <a:uFillTx/>
                    <a:latin typeface="Arial"/>
                  </a:endParaRPr>
                </a:p>
              </p:txBody>
            </p:sp>
            <p:sp>
              <p:nvSpPr>
                <p:cNvPr id="397" name=""/>
                <p:cNvSpPr txBox="1"/>
                <p:nvPr/>
              </p:nvSpPr>
              <p:spPr>
                <a:xfrm>
                  <a:off x="5303520" y="1325880"/>
                  <a:ext cx="59436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MSE ↓</a:t>
                  </a:r>
                  <a:endParaRPr b="0" lang="en-US" sz="800" strike="noStrike" u="none">
                    <a:solidFill>
                      <a:srgbClr val="000000"/>
                    </a:solidFill>
                    <a:effectLst/>
                    <a:uFillTx/>
                    <a:latin typeface="Arial"/>
                  </a:endParaRPr>
                </a:p>
              </p:txBody>
            </p:sp>
            <p:sp>
              <p:nvSpPr>
                <p:cNvPr id="398" name=""/>
                <p:cNvSpPr txBox="1"/>
                <p:nvPr/>
              </p:nvSpPr>
              <p:spPr>
                <a:xfrm>
                  <a:off x="5943600" y="1325880"/>
                  <a:ext cx="54864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CI ↑</a:t>
                  </a:r>
                  <a:endParaRPr b="0" lang="en-US" sz="800" strike="noStrike" u="none">
                    <a:solidFill>
                      <a:srgbClr val="000000"/>
                    </a:solidFill>
                    <a:effectLst/>
                    <a:uFillTx/>
                    <a:latin typeface="Arial"/>
                  </a:endParaRPr>
                </a:p>
              </p:txBody>
            </p:sp>
            <p:sp>
              <p:nvSpPr>
                <p:cNvPr id="399" name=""/>
                <p:cNvSpPr txBox="1"/>
                <p:nvPr/>
              </p:nvSpPr>
              <p:spPr>
                <a:xfrm>
                  <a:off x="6537960" y="1325880"/>
                  <a:ext cx="640080" cy="292680"/>
                </a:xfrm>
                <a:prstGeom prst="rect">
                  <a:avLst/>
                </a:prstGeom>
                <a:noFill/>
                <a:ln w="0">
                  <a:noFill/>
                </a:ln>
              </p:spPr>
              <p:txBody>
                <a:bodyPr lIns="90000" rIns="90000" tIns="45000" bIns="45000" anchor="t">
                  <a:spAutoFit/>
                </a:bodyPr>
                <a:p>
                  <a:r>
                    <a:rPr b="1" lang="en-US" sz="800" strike="noStrike" u="none">
                      <a:solidFill>
                        <a:srgbClr val="ffffff"/>
                      </a:solidFill>
                      <a:effectLst/>
                      <a:uFillTx/>
                      <a:latin typeface="Arial-BoldMT"/>
                      <a:ea typeface="Arial-BoldMT"/>
                    </a:rPr>
                    <a:t>r²_m ↑</a:t>
                  </a:r>
                  <a:endParaRPr b="0" lang="en-US" sz="800" strike="noStrike" u="none">
                    <a:solidFill>
                      <a:srgbClr val="000000"/>
                    </a:solidFill>
                    <a:effectLst/>
                    <a:uFillTx/>
                    <a:latin typeface="Arial"/>
                  </a:endParaRPr>
                </a:p>
              </p:txBody>
            </p:sp>
            <p:sp>
              <p:nvSpPr>
                <p:cNvPr id="400" name=""/>
                <p:cNvSpPr/>
                <p:nvPr/>
              </p:nvSpPr>
              <p:spPr>
                <a:xfrm>
                  <a:off x="1417320" y="1097280"/>
                  <a:ext cx="1920600" cy="228960"/>
                </a:xfrm>
                <a:custGeom>
                  <a:avLst/>
                  <a:gdLst/>
                  <a:ahLst/>
                  <a:rect l="0" t="0" r="r" b="b"/>
                  <a:pathLst>
                    <a:path w="5335" h="636">
                      <a:moveTo>
                        <a:pt x="0" y="0"/>
                      </a:moveTo>
                      <a:lnTo>
                        <a:pt x="5335" y="0"/>
                      </a:lnTo>
                      <a:lnTo>
                        <a:pt x="5335" y="636"/>
                      </a:lnTo>
                      <a:lnTo>
                        <a:pt x="0" y="636"/>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401" name=""/>
                <p:cNvSpPr txBox="1"/>
                <p:nvPr/>
              </p:nvSpPr>
              <p:spPr>
                <a:xfrm>
                  <a:off x="1463040" y="1097280"/>
                  <a:ext cx="1828800" cy="245880"/>
                </a:xfrm>
                <a:prstGeom prst="rect">
                  <a:avLst/>
                </a:prstGeom>
                <a:noFill/>
                <a:ln w="0">
                  <a:noFill/>
                </a:ln>
              </p:spPr>
              <p:txBody>
                <a:bodyPr lIns="90000" rIns="90000" tIns="45000" bIns="45000" anchor="t">
                  <a:spAutoFit/>
                </a:bodyPr>
                <a:p>
                  <a:pPr algn="ctr"/>
                  <a:r>
                    <a:rPr b="1" lang="en-US" sz="900" strike="noStrike" u="none">
                      <a:solidFill>
                        <a:srgbClr val="ffffff"/>
                      </a:solidFill>
                      <a:effectLst/>
                      <a:uFillTx/>
                      <a:latin typeface="Arial-BoldMT"/>
                      <a:ea typeface="Arial-BoldMT"/>
                    </a:rPr>
                    <a:t>Cold Drug</a:t>
                  </a:r>
                  <a:endParaRPr b="0" lang="en-US" sz="900" strike="noStrike" u="none">
                    <a:solidFill>
                      <a:srgbClr val="000000"/>
                    </a:solidFill>
                    <a:effectLst/>
                    <a:uFillTx/>
                    <a:latin typeface="Arial"/>
                  </a:endParaRPr>
                </a:p>
              </p:txBody>
            </p:sp>
            <p:sp>
              <p:nvSpPr>
                <p:cNvPr id="402" name=""/>
                <p:cNvSpPr/>
                <p:nvPr/>
              </p:nvSpPr>
              <p:spPr>
                <a:xfrm>
                  <a:off x="3337560" y="1097280"/>
                  <a:ext cx="1920600" cy="228960"/>
                </a:xfrm>
                <a:custGeom>
                  <a:avLst/>
                  <a:gdLst/>
                  <a:ahLst/>
                  <a:rect l="0" t="0" r="r" b="b"/>
                  <a:pathLst>
                    <a:path w="5335" h="636">
                      <a:moveTo>
                        <a:pt x="0" y="0"/>
                      </a:moveTo>
                      <a:lnTo>
                        <a:pt x="5335" y="0"/>
                      </a:lnTo>
                      <a:lnTo>
                        <a:pt x="5335" y="636"/>
                      </a:lnTo>
                      <a:lnTo>
                        <a:pt x="0" y="636"/>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403" name=""/>
                <p:cNvSpPr txBox="1"/>
                <p:nvPr/>
              </p:nvSpPr>
              <p:spPr>
                <a:xfrm>
                  <a:off x="3383280" y="1097280"/>
                  <a:ext cx="1828800" cy="245880"/>
                </a:xfrm>
                <a:prstGeom prst="rect">
                  <a:avLst/>
                </a:prstGeom>
                <a:noFill/>
                <a:ln w="0">
                  <a:noFill/>
                </a:ln>
              </p:spPr>
              <p:txBody>
                <a:bodyPr lIns="90000" rIns="90000" tIns="45000" bIns="45000" anchor="t">
                  <a:spAutoFit/>
                </a:bodyPr>
                <a:p>
                  <a:pPr algn="ctr"/>
                  <a:r>
                    <a:rPr b="1" lang="en-US" sz="900" strike="noStrike" u="none">
                      <a:solidFill>
                        <a:srgbClr val="ffffff"/>
                      </a:solidFill>
                      <a:effectLst/>
                      <a:uFillTx/>
                      <a:latin typeface="Arial-BoldMT"/>
                      <a:ea typeface="Arial-BoldMT"/>
                    </a:rPr>
                    <a:t>Cold Protein</a:t>
                  </a:r>
                  <a:endParaRPr b="0" lang="en-US" sz="900" strike="noStrike" u="none">
                    <a:solidFill>
                      <a:srgbClr val="000000"/>
                    </a:solidFill>
                    <a:effectLst/>
                    <a:uFillTx/>
                    <a:latin typeface="Arial"/>
                  </a:endParaRPr>
                </a:p>
              </p:txBody>
            </p:sp>
            <p:sp>
              <p:nvSpPr>
                <p:cNvPr id="404" name=""/>
                <p:cNvSpPr/>
                <p:nvPr/>
              </p:nvSpPr>
              <p:spPr>
                <a:xfrm>
                  <a:off x="5257800" y="1097280"/>
                  <a:ext cx="1920600" cy="228960"/>
                </a:xfrm>
                <a:custGeom>
                  <a:avLst/>
                  <a:gdLst/>
                  <a:ahLst/>
                  <a:rect l="0" t="0" r="r" b="b"/>
                  <a:pathLst>
                    <a:path w="5335" h="636">
                      <a:moveTo>
                        <a:pt x="0" y="0"/>
                      </a:moveTo>
                      <a:lnTo>
                        <a:pt x="5335" y="0"/>
                      </a:lnTo>
                      <a:lnTo>
                        <a:pt x="5335" y="636"/>
                      </a:lnTo>
                      <a:lnTo>
                        <a:pt x="0" y="636"/>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405" name=""/>
                <p:cNvSpPr txBox="1"/>
                <p:nvPr/>
              </p:nvSpPr>
              <p:spPr>
                <a:xfrm>
                  <a:off x="5303520" y="1097280"/>
                  <a:ext cx="1828800" cy="245880"/>
                </a:xfrm>
                <a:prstGeom prst="rect">
                  <a:avLst/>
                </a:prstGeom>
                <a:noFill/>
                <a:ln w="0">
                  <a:noFill/>
                </a:ln>
              </p:spPr>
              <p:txBody>
                <a:bodyPr lIns="90000" rIns="90000" tIns="45000" bIns="45000" anchor="t">
                  <a:spAutoFit/>
                </a:bodyPr>
                <a:p>
                  <a:pPr algn="ctr"/>
                  <a:r>
                    <a:rPr b="1" lang="en-US" sz="900" strike="noStrike" u="none">
                      <a:solidFill>
                        <a:srgbClr val="ffffff"/>
                      </a:solidFill>
                      <a:effectLst/>
                      <a:uFillTx/>
                      <a:latin typeface="Arial-BoldMT"/>
                      <a:ea typeface="Arial-BoldMT"/>
                    </a:rPr>
                    <a:t>Cold Both</a:t>
                  </a:r>
                  <a:endParaRPr b="0" lang="en-US" sz="900" strike="noStrike" u="none">
                    <a:solidFill>
                      <a:srgbClr val="000000"/>
                    </a:solidFill>
                    <a:effectLst/>
                    <a:uFillTx/>
                    <a:latin typeface="Arial"/>
                  </a:endParaRPr>
                </a:p>
              </p:txBody>
            </p:sp>
            <p:sp>
              <p:nvSpPr>
                <p:cNvPr id="406" name=""/>
                <p:cNvSpPr txBox="1"/>
                <p:nvPr/>
              </p:nvSpPr>
              <p:spPr>
                <a:xfrm>
                  <a:off x="320040" y="166428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DeepDTA</a:t>
                  </a:r>
                  <a:endParaRPr b="0" lang="en-US" sz="800" strike="noStrike" u="none">
                    <a:solidFill>
                      <a:srgbClr val="000000"/>
                    </a:solidFill>
                    <a:effectLst/>
                    <a:uFillTx/>
                    <a:latin typeface="Arial"/>
                  </a:endParaRPr>
                </a:p>
              </p:txBody>
            </p:sp>
            <p:sp>
              <p:nvSpPr>
                <p:cNvPr id="407" name=""/>
                <p:cNvSpPr txBox="1"/>
                <p:nvPr/>
              </p:nvSpPr>
              <p:spPr>
                <a:xfrm>
                  <a:off x="1463040" y="166428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0.985</a:t>
                  </a:r>
                  <a:endParaRPr b="0" lang="en-US" sz="800" strike="noStrike" u="none">
                    <a:solidFill>
                      <a:srgbClr val="000000"/>
                    </a:solidFill>
                    <a:effectLst/>
                    <a:uFillTx/>
                    <a:latin typeface="Arial"/>
                  </a:endParaRPr>
                </a:p>
              </p:txBody>
            </p:sp>
            <p:sp>
              <p:nvSpPr>
                <p:cNvPr id="408" name=""/>
                <p:cNvSpPr txBox="1"/>
                <p:nvPr/>
              </p:nvSpPr>
              <p:spPr>
                <a:xfrm>
                  <a:off x="2103120" y="166428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0.548</a:t>
                  </a:r>
                  <a:endParaRPr b="0" lang="en-US" sz="800" strike="noStrike" u="none">
                    <a:solidFill>
                      <a:srgbClr val="000000"/>
                    </a:solidFill>
                    <a:effectLst/>
                    <a:uFillTx/>
                    <a:latin typeface="Arial"/>
                  </a:endParaRPr>
                </a:p>
              </p:txBody>
            </p:sp>
            <p:sp>
              <p:nvSpPr>
                <p:cNvPr id="409" name=""/>
                <p:cNvSpPr txBox="1"/>
                <p:nvPr/>
              </p:nvSpPr>
              <p:spPr>
                <a:xfrm>
                  <a:off x="2697480" y="166428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0.027</a:t>
                  </a:r>
                  <a:endParaRPr b="0" lang="en-US" sz="800" strike="noStrike" u="none">
                    <a:solidFill>
                      <a:srgbClr val="000000"/>
                    </a:solidFill>
                    <a:effectLst/>
                    <a:uFillTx/>
                    <a:latin typeface="Arial"/>
                  </a:endParaRPr>
                </a:p>
              </p:txBody>
            </p:sp>
            <p:sp>
              <p:nvSpPr>
                <p:cNvPr id="410" name=""/>
                <p:cNvSpPr txBox="1"/>
                <p:nvPr/>
              </p:nvSpPr>
              <p:spPr>
                <a:xfrm>
                  <a:off x="3383280" y="166428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0.552</a:t>
                  </a:r>
                  <a:endParaRPr b="0" lang="en-US" sz="800" strike="noStrike" u="none">
                    <a:solidFill>
                      <a:srgbClr val="000000"/>
                    </a:solidFill>
                    <a:effectLst/>
                    <a:uFillTx/>
                    <a:latin typeface="Arial"/>
                  </a:endParaRPr>
                </a:p>
              </p:txBody>
            </p:sp>
            <p:sp>
              <p:nvSpPr>
                <p:cNvPr id="411" name=""/>
                <p:cNvSpPr txBox="1"/>
                <p:nvPr/>
              </p:nvSpPr>
              <p:spPr>
                <a:xfrm>
                  <a:off x="4023360" y="166428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0.729</a:t>
                  </a:r>
                  <a:endParaRPr b="0" lang="en-US" sz="800" strike="noStrike" u="none">
                    <a:solidFill>
                      <a:srgbClr val="000000"/>
                    </a:solidFill>
                    <a:effectLst/>
                    <a:uFillTx/>
                    <a:latin typeface="Arial"/>
                  </a:endParaRPr>
                </a:p>
              </p:txBody>
            </p:sp>
            <p:sp>
              <p:nvSpPr>
                <p:cNvPr id="412" name=""/>
                <p:cNvSpPr txBox="1"/>
                <p:nvPr/>
              </p:nvSpPr>
              <p:spPr>
                <a:xfrm>
                  <a:off x="4617720" y="166428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0.258</a:t>
                  </a:r>
                  <a:endParaRPr b="0" lang="en-US" sz="800" strike="noStrike" u="none">
                    <a:solidFill>
                      <a:srgbClr val="000000"/>
                    </a:solidFill>
                    <a:effectLst/>
                    <a:uFillTx/>
                    <a:latin typeface="Arial"/>
                  </a:endParaRPr>
                </a:p>
              </p:txBody>
            </p:sp>
            <p:sp>
              <p:nvSpPr>
                <p:cNvPr id="413" name=""/>
                <p:cNvSpPr txBox="1"/>
                <p:nvPr/>
              </p:nvSpPr>
              <p:spPr>
                <a:xfrm>
                  <a:off x="5303520" y="166428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0.767</a:t>
                  </a:r>
                  <a:endParaRPr b="0" lang="en-US" sz="800" strike="noStrike" u="none">
                    <a:solidFill>
                      <a:srgbClr val="000000"/>
                    </a:solidFill>
                    <a:effectLst/>
                    <a:uFillTx/>
                    <a:latin typeface="Arial"/>
                  </a:endParaRPr>
                </a:p>
              </p:txBody>
            </p:sp>
            <p:sp>
              <p:nvSpPr>
                <p:cNvPr id="414" name=""/>
                <p:cNvSpPr txBox="1"/>
                <p:nvPr/>
              </p:nvSpPr>
              <p:spPr>
                <a:xfrm>
                  <a:off x="5943600" y="166428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0.508</a:t>
                  </a:r>
                  <a:endParaRPr b="0" lang="en-US" sz="800" strike="noStrike" u="none">
                    <a:solidFill>
                      <a:srgbClr val="000000"/>
                    </a:solidFill>
                    <a:effectLst/>
                    <a:uFillTx/>
                    <a:latin typeface="Arial"/>
                  </a:endParaRPr>
                </a:p>
              </p:txBody>
            </p:sp>
            <p:sp>
              <p:nvSpPr>
                <p:cNvPr id="415" name=""/>
                <p:cNvSpPr txBox="1"/>
                <p:nvPr/>
              </p:nvSpPr>
              <p:spPr>
                <a:xfrm>
                  <a:off x="6537960" y="166428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0.009</a:t>
                  </a:r>
                  <a:endParaRPr b="0" lang="en-US" sz="800" strike="noStrike" u="none">
                    <a:solidFill>
                      <a:srgbClr val="000000"/>
                    </a:solidFill>
                    <a:effectLst/>
                    <a:uFillTx/>
                    <a:latin typeface="Arial"/>
                  </a:endParaRPr>
                </a:p>
              </p:txBody>
            </p:sp>
            <p:sp>
              <p:nvSpPr>
                <p:cNvPr id="416" name=""/>
                <p:cNvSpPr txBox="1"/>
                <p:nvPr/>
              </p:nvSpPr>
              <p:spPr>
                <a:xfrm>
                  <a:off x="320040" y="198432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AttentionDTA</a:t>
                  </a:r>
                  <a:endParaRPr b="0" lang="en-US" sz="800" strike="noStrike" u="none">
                    <a:solidFill>
                      <a:srgbClr val="000000"/>
                    </a:solidFill>
                    <a:effectLst/>
                    <a:uFillTx/>
                    <a:latin typeface="Arial"/>
                  </a:endParaRPr>
                </a:p>
              </p:txBody>
            </p:sp>
            <p:sp>
              <p:nvSpPr>
                <p:cNvPr id="417" name=""/>
                <p:cNvSpPr txBox="1"/>
                <p:nvPr/>
              </p:nvSpPr>
              <p:spPr>
                <a:xfrm>
                  <a:off x="1463040" y="198432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0.869</a:t>
                  </a:r>
                  <a:endParaRPr b="0" lang="en-US" sz="800" strike="noStrike" u="none">
                    <a:solidFill>
                      <a:srgbClr val="000000"/>
                    </a:solidFill>
                    <a:effectLst/>
                    <a:uFillTx/>
                    <a:latin typeface="Arial"/>
                  </a:endParaRPr>
                </a:p>
              </p:txBody>
            </p:sp>
            <p:sp>
              <p:nvSpPr>
                <p:cNvPr id="418" name=""/>
                <p:cNvSpPr txBox="1"/>
                <p:nvPr/>
              </p:nvSpPr>
              <p:spPr>
                <a:xfrm>
                  <a:off x="2103120" y="198432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0.642</a:t>
                  </a:r>
                  <a:endParaRPr b="0" lang="en-US" sz="800" strike="noStrike" u="none">
                    <a:solidFill>
                      <a:srgbClr val="000000"/>
                    </a:solidFill>
                    <a:effectLst/>
                    <a:uFillTx/>
                    <a:latin typeface="Arial"/>
                  </a:endParaRPr>
                </a:p>
              </p:txBody>
            </p:sp>
            <p:sp>
              <p:nvSpPr>
                <p:cNvPr id="419" name=""/>
                <p:cNvSpPr txBox="1"/>
                <p:nvPr/>
              </p:nvSpPr>
              <p:spPr>
                <a:xfrm>
                  <a:off x="2697480" y="198432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0.079</a:t>
                  </a:r>
                  <a:endParaRPr b="0" lang="en-US" sz="800" strike="noStrike" u="none">
                    <a:solidFill>
                      <a:srgbClr val="000000"/>
                    </a:solidFill>
                    <a:effectLst/>
                    <a:uFillTx/>
                    <a:latin typeface="Arial"/>
                  </a:endParaRPr>
                </a:p>
              </p:txBody>
            </p:sp>
            <p:sp>
              <p:nvSpPr>
                <p:cNvPr id="420" name=""/>
                <p:cNvSpPr txBox="1"/>
                <p:nvPr/>
              </p:nvSpPr>
              <p:spPr>
                <a:xfrm>
                  <a:off x="3383280" y="198432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0.436</a:t>
                  </a:r>
                  <a:endParaRPr b="0" lang="en-US" sz="800" strike="noStrike" u="none">
                    <a:solidFill>
                      <a:srgbClr val="000000"/>
                    </a:solidFill>
                    <a:effectLst/>
                    <a:uFillTx/>
                    <a:latin typeface="Arial"/>
                  </a:endParaRPr>
                </a:p>
              </p:txBody>
            </p:sp>
            <p:sp>
              <p:nvSpPr>
                <p:cNvPr id="421" name=""/>
                <p:cNvSpPr txBox="1"/>
                <p:nvPr/>
              </p:nvSpPr>
              <p:spPr>
                <a:xfrm>
                  <a:off x="4023360" y="198432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0.787</a:t>
                  </a:r>
                  <a:endParaRPr b="0" lang="en-US" sz="800" strike="noStrike" u="none">
                    <a:solidFill>
                      <a:srgbClr val="000000"/>
                    </a:solidFill>
                    <a:effectLst/>
                    <a:uFillTx/>
                    <a:latin typeface="Arial"/>
                  </a:endParaRPr>
                </a:p>
              </p:txBody>
            </p:sp>
            <p:sp>
              <p:nvSpPr>
                <p:cNvPr id="422" name=""/>
                <p:cNvSpPr txBox="1"/>
                <p:nvPr/>
              </p:nvSpPr>
              <p:spPr>
                <a:xfrm>
                  <a:off x="4617720" y="198432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0.304</a:t>
                  </a:r>
                  <a:endParaRPr b="0" lang="en-US" sz="800" strike="noStrike" u="none">
                    <a:solidFill>
                      <a:srgbClr val="000000"/>
                    </a:solidFill>
                    <a:effectLst/>
                    <a:uFillTx/>
                    <a:latin typeface="Arial"/>
                  </a:endParaRPr>
                </a:p>
              </p:txBody>
            </p:sp>
            <p:sp>
              <p:nvSpPr>
                <p:cNvPr id="423" name=""/>
                <p:cNvSpPr txBox="1"/>
                <p:nvPr/>
              </p:nvSpPr>
              <p:spPr>
                <a:xfrm>
                  <a:off x="5303520" y="198432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0.679</a:t>
                  </a:r>
                  <a:endParaRPr b="0" lang="en-US" sz="800" strike="noStrike" u="none">
                    <a:solidFill>
                      <a:srgbClr val="000000"/>
                    </a:solidFill>
                    <a:effectLst/>
                    <a:uFillTx/>
                    <a:latin typeface="Arial"/>
                  </a:endParaRPr>
                </a:p>
              </p:txBody>
            </p:sp>
            <p:sp>
              <p:nvSpPr>
                <p:cNvPr id="424" name=""/>
                <p:cNvSpPr txBox="1"/>
                <p:nvPr/>
              </p:nvSpPr>
              <p:spPr>
                <a:xfrm>
                  <a:off x="5943600" y="198432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0.554</a:t>
                  </a:r>
                  <a:endParaRPr b="0" lang="en-US" sz="800" strike="noStrike" u="none">
                    <a:solidFill>
                      <a:srgbClr val="000000"/>
                    </a:solidFill>
                    <a:effectLst/>
                    <a:uFillTx/>
                    <a:latin typeface="Arial"/>
                  </a:endParaRPr>
                </a:p>
              </p:txBody>
            </p:sp>
            <p:sp>
              <p:nvSpPr>
                <p:cNvPr id="425" name=""/>
                <p:cNvSpPr txBox="1"/>
                <p:nvPr/>
              </p:nvSpPr>
              <p:spPr>
                <a:xfrm>
                  <a:off x="6537960" y="198432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0.005</a:t>
                  </a:r>
                  <a:endParaRPr b="0" lang="en-US" sz="800" strike="noStrike" u="none">
                    <a:solidFill>
                      <a:srgbClr val="000000"/>
                    </a:solidFill>
                    <a:effectLst/>
                    <a:uFillTx/>
                    <a:latin typeface="Arial"/>
                  </a:endParaRPr>
                </a:p>
              </p:txBody>
            </p:sp>
            <p:sp>
              <p:nvSpPr>
                <p:cNvPr id="426" name=""/>
                <p:cNvSpPr txBox="1"/>
                <p:nvPr/>
              </p:nvSpPr>
              <p:spPr>
                <a:xfrm>
                  <a:off x="320040" y="230436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GraphDTA</a:t>
                  </a:r>
                  <a:endParaRPr b="0" lang="en-US" sz="800" strike="noStrike" u="none">
                    <a:solidFill>
                      <a:srgbClr val="000000"/>
                    </a:solidFill>
                    <a:effectLst/>
                    <a:uFillTx/>
                    <a:latin typeface="Arial"/>
                  </a:endParaRPr>
                </a:p>
              </p:txBody>
            </p:sp>
            <p:sp>
              <p:nvSpPr>
                <p:cNvPr id="427" name=""/>
                <p:cNvSpPr txBox="1"/>
                <p:nvPr/>
              </p:nvSpPr>
              <p:spPr>
                <a:xfrm>
                  <a:off x="1463040" y="230436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0.801</a:t>
                  </a:r>
                  <a:endParaRPr b="0" lang="en-US" sz="800" strike="noStrike" u="none">
                    <a:solidFill>
                      <a:srgbClr val="000000"/>
                    </a:solidFill>
                    <a:effectLst/>
                    <a:uFillTx/>
                    <a:latin typeface="Arial"/>
                  </a:endParaRPr>
                </a:p>
              </p:txBody>
            </p:sp>
            <p:sp>
              <p:nvSpPr>
                <p:cNvPr id="428" name=""/>
                <p:cNvSpPr txBox="1"/>
                <p:nvPr/>
              </p:nvSpPr>
              <p:spPr>
                <a:xfrm>
                  <a:off x="2103120" y="230436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0.659</a:t>
                  </a:r>
                  <a:endParaRPr b="0" lang="en-US" sz="800" strike="noStrike" u="none">
                    <a:solidFill>
                      <a:srgbClr val="000000"/>
                    </a:solidFill>
                    <a:effectLst/>
                    <a:uFillTx/>
                    <a:latin typeface="Arial"/>
                  </a:endParaRPr>
                </a:p>
              </p:txBody>
            </p:sp>
            <p:sp>
              <p:nvSpPr>
                <p:cNvPr id="429" name=""/>
                <p:cNvSpPr txBox="1"/>
                <p:nvPr/>
              </p:nvSpPr>
              <p:spPr>
                <a:xfrm>
                  <a:off x="2697480" y="230436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0.160</a:t>
                  </a:r>
                  <a:endParaRPr b="0" lang="en-US" sz="800" strike="noStrike" u="none">
                    <a:solidFill>
                      <a:srgbClr val="000000"/>
                    </a:solidFill>
                    <a:effectLst/>
                    <a:uFillTx/>
                    <a:latin typeface="Arial"/>
                  </a:endParaRPr>
                </a:p>
              </p:txBody>
            </p:sp>
            <p:sp>
              <p:nvSpPr>
                <p:cNvPr id="430" name=""/>
                <p:cNvSpPr txBox="1"/>
                <p:nvPr/>
              </p:nvSpPr>
              <p:spPr>
                <a:xfrm>
                  <a:off x="3383280" y="230436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0.860</a:t>
                  </a:r>
                  <a:endParaRPr b="0" lang="en-US" sz="800" strike="noStrike" u="none">
                    <a:solidFill>
                      <a:srgbClr val="000000"/>
                    </a:solidFill>
                    <a:effectLst/>
                    <a:uFillTx/>
                    <a:latin typeface="Arial"/>
                  </a:endParaRPr>
                </a:p>
              </p:txBody>
            </p:sp>
            <p:sp>
              <p:nvSpPr>
                <p:cNvPr id="431" name=""/>
                <p:cNvSpPr txBox="1"/>
                <p:nvPr/>
              </p:nvSpPr>
              <p:spPr>
                <a:xfrm>
                  <a:off x="4023360" y="230436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0.666</a:t>
                  </a:r>
                  <a:endParaRPr b="0" lang="en-US" sz="800" strike="noStrike" u="none">
                    <a:solidFill>
                      <a:srgbClr val="000000"/>
                    </a:solidFill>
                    <a:effectLst/>
                    <a:uFillTx/>
                    <a:latin typeface="Arial"/>
                  </a:endParaRPr>
                </a:p>
              </p:txBody>
            </p:sp>
            <p:sp>
              <p:nvSpPr>
                <p:cNvPr id="432" name=""/>
                <p:cNvSpPr txBox="1"/>
                <p:nvPr/>
              </p:nvSpPr>
              <p:spPr>
                <a:xfrm>
                  <a:off x="4617720" y="230436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0.134</a:t>
                  </a:r>
                  <a:endParaRPr b="0" lang="en-US" sz="800" strike="noStrike" u="none">
                    <a:solidFill>
                      <a:srgbClr val="000000"/>
                    </a:solidFill>
                    <a:effectLst/>
                    <a:uFillTx/>
                    <a:latin typeface="Arial"/>
                  </a:endParaRPr>
                </a:p>
              </p:txBody>
            </p:sp>
            <p:sp>
              <p:nvSpPr>
                <p:cNvPr id="433" name=""/>
                <p:cNvSpPr txBox="1"/>
                <p:nvPr/>
              </p:nvSpPr>
              <p:spPr>
                <a:xfrm>
                  <a:off x="5303520" y="230436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0.988</a:t>
                  </a:r>
                  <a:endParaRPr b="0" lang="en-US" sz="800" strike="noStrike" u="none">
                    <a:solidFill>
                      <a:srgbClr val="000000"/>
                    </a:solidFill>
                    <a:effectLst/>
                    <a:uFillTx/>
                    <a:latin typeface="Arial"/>
                  </a:endParaRPr>
                </a:p>
              </p:txBody>
            </p:sp>
            <p:sp>
              <p:nvSpPr>
                <p:cNvPr id="434" name=""/>
                <p:cNvSpPr txBox="1"/>
                <p:nvPr/>
              </p:nvSpPr>
              <p:spPr>
                <a:xfrm>
                  <a:off x="5943600" y="230436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0.569</a:t>
                  </a:r>
                  <a:endParaRPr b="0" lang="en-US" sz="800" strike="noStrike" u="none">
                    <a:solidFill>
                      <a:srgbClr val="000000"/>
                    </a:solidFill>
                    <a:effectLst/>
                    <a:uFillTx/>
                    <a:latin typeface="Arial"/>
                  </a:endParaRPr>
                </a:p>
              </p:txBody>
            </p:sp>
            <p:sp>
              <p:nvSpPr>
                <p:cNvPr id="435" name=""/>
                <p:cNvSpPr txBox="1"/>
                <p:nvPr/>
              </p:nvSpPr>
              <p:spPr>
                <a:xfrm>
                  <a:off x="6537960" y="230436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0.020</a:t>
                  </a:r>
                  <a:endParaRPr b="0" lang="en-US" sz="800" strike="noStrike" u="none">
                    <a:solidFill>
                      <a:srgbClr val="000000"/>
                    </a:solidFill>
                    <a:effectLst/>
                    <a:uFillTx/>
                    <a:latin typeface="Arial"/>
                  </a:endParaRPr>
                </a:p>
              </p:txBody>
            </p:sp>
            <p:sp>
              <p:nvSpPr>
                <p:cNvPr id="436" name=""/>
                <p:cNvSpPr txBox="1"/>
                <p:nvPr/>
              </p:nvSpPr>
              <p:spPr>
                <a:xfrm>
                  <a:off x="320040" y="262440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DGraphDTA</a:t>
                  </a:r>
                  <a:endParaRPr b="0" lang="en-US" sz="800" strike="noStrike" u="none">
                    <a:solidFill>
                      <a:srgbClr val="000000"/>
                    </a:solidFill>
                    <a:effectLst/>
                    <a:uFillTx/>
                    <a:latin typeface="Arial"/>
                  </a:endParaRPr>
                </a:p>
              </p:txBody>
            </p:sp>
            <p:sp>
              <p:nvSpPr>
                <p:cNvPr id="437" name=""/>
                <p:cNvSpPr txBox="1"/>
                <p:nvPr/>
              </p:nvSpPr>
              <p:spPr>
                <a:xfrm>
                  <a:off x="1463040" y="262440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0.818</a:t>
                  </a:r>
                  <a:endParaRPr b="0" lang="en-US" sz="800" strike="noStrike" u="none">
                    <a:solidFill>
                      <a:srgbClr val="000000"/>
                    </a:solidFill>
                    <a:effectLst/>
                    <a:uFillTx/>
                    <a:latin typeface="Arial"/>
                  </a:endParaRPr>
                </a:p>
              </p:txBody>
            </p:sp>
            <p:sp>
              <p:nvSpPr>
                <p:cNvPr id="438" name=""/>
                <p:cNvSpPr txBox="1"/>
                <p:nvPr/>
              </p:nvSpPr>
              <p:spPr>
                <a:xfrm>
                  <a:off x="2103120" y="262440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0.646</a:t>
                  </a:r>
                  <a:endParaRPr b="0" lang="en-US" sz="800" strike="noStrike" u="none">
                    <a:solidFill>
                      <a:srgbClr val="000000"/>
                    </a:solidFill>
                    <a:effectLst/>
                    <a:uFillTx/>
                    <a:latin typeface="Arial"/>
                  </a:endParaRPr>
                </a:p>
              </p:txBody>
            </p:sp>
            <p:sp>
              <p:nvSpPr>
                <p:cNvPr id="439" name=""/>
                <p:cNvSpPr txBox="1"/>
                <p:nvPr/>
              </p:nvSpPr>
              <p:spPr>
                <a:xfrm>
                  <a:off x="2697480" y="262440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0.114</a:t>
                  </a:r>
                  <a:endParaRPr b="0" lang="en-US" sz="800" strike="noStrike" u="none">
                    <a:solidFill>
                      <a:srgbClr val="000000"/>
                    </a:solidFill>
                    <a:effectLst/>
                    <a:uFillTx/>
                    <a:latin typeface="Arial"/>
                  </a:endParaRPr>
                </a:p>
              </p:txBody>
            </p:sp>
            <p:sp>
              <p:nvSpPr>
                <p:cNvPr id="440" name=""/>
                <p:cNvSpPr txBox="1"/>
                <p:nvPr/>
              </p:nvSpPr>
              <p:spPr>
                <a:xfrm>
                  <a:off x="3383280" y="262440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0.445</a:t>
                  </a:r>
                  <a:endParaRPr b="0" lang="en-US" sz="800" strike="noStrike" u="none">
                    <a:solidFill>
                      <a:srgbClr val="000000"/>
                    </a:solidFill>
                    <a:effectLst/>
                    <a:uFillTx/>
                    <a:latin typeface="Arial"/>
                  </a:endParaRPr>
                </a:p>
              </p:txBody>
            </p:sp>
            <p:sp>
              <p:nvSpPr>
                <p:cNvPr id="441" name=""/>
                <p:cNvSpPr txBox="1"/>
                <p:nvPr/>
              </p:nvSpPr>
              <p:spPr>
                <a:xfrm>
                  <a:off x="4023360" y="262440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0.788</a:t>
                  </a:r>
                  <a:endParaRPr b="0" lang="en-US" sz="800" strike="noStrike" u="none">
                    <a:solidFill>
                      <a:srgbClr val="000000"/>
                    </a:solidFill>
                    <a:effectLst/>
                    <a:uFillTx/>
                    <a:latin typeface="Arial"/>
                  </a:endParaRPr>
                </a:p>
              </p:txBody>
            </p:sp>
            <p:sp>
              <p:nvSpPr>
                <p:cNvPr id="442" name=""/>
                <p:cNvSpPr txBox="1"/>
                <p:nvPr/>
              </p:nvSpPr>
              <p:spPr>
                <a:xfrm>
                  <a:off x="4617720" y="262440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0.289</a:t>
                  </a:r>
                  <a:endParaRPr b="0" lang="en-US" sz="800" strike="noStrike" u="none">
                    <a:solidFill>
                      <a:srgbClr val="000000"/>
                    </a:solidFill>
                    <a:effectLst/>
                    <a:uFillTx/>
                    <a:latin typeface="Arial"/>
                  </a:endParaRPr>
                </a:p>
              </p:txBody>
            </p:sp>
            <p:sp>
              <p:nvSpPr>
                <p:cNvPr id="443" name=""/>
                <p:cNvSpPr txBox="1"/>
                <p:nvPr/>
              </p:nvSpPr>
              <p:spPr>
                <a:xfrm>
                  <a:off x="5303520" y="262440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0.658</a:t>
                  </a:r>
                  <a:endParaRPr b="0" lang="en-US" sz="800" strike="noStrike" u="none">
                    <a:solidFill>
                      <a:srgbClr val="000000"/>
                    </a:solidFill>
                    <a:effectLst/>
                    <a:uFillTx/>
                    <a:latin typeface="Arial"/>
                  </a:endParaRPr>
                </a:p>
              </p:txBody>
            </p:sp>
            <p:sp>
              <p:nvSpPr>
                <p:cNvPr id="444" name=""/>
                <p:cNvSpPr txBox="1"/>
                <p:nvPr/>
              </p:nvSpPr>
              <p:spPr>
                <a:xfrm>
                  <a:off x="5943600" y="262440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0.569</a:t>
                  </a:r>
                  <a:endParaRPr b="0" lang="en-US" sz="800" strike="noStrike" u="none">
                    <a:solidFill>
                      <a:srgbClr val="000000"/>
                    </a:solidFill>
                    <a:effectLst/>
                    <a:uFillTx/>
                    <a:latin typeface="Arial"/>
                  </a:endParaRPr>
                </a:p>
              </p:txBody>
            </p:sp>
            <p:sp>
              <p:nvSpPr>
                <p:cNvPr id="445" name=""/>
                <p:cNvSpPr txBox="1"/>
                <p:nvPr/>
              </p:nvSpPr>
              <p:spPr>
                <a:xfrm>
                  <a:off x="6537960" y="262440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0.020</a:t>
                  </a:r>
                  <a:endParaRPr b="0" lang="en-US" sz="800" strike="noStrike" u="none">
                    <a:solidFill>
                      <a:srgbClr val="000000"/>
                    </a:solidFill>
                    <a:effectLst/>
                    <a:uFillTx/>
                    <a:latin typeface="Arial"/>
                  </a:endParaRPr>
                </a:p>
              </p:txBody>
            </p:sp>
          </p:grpSp>
          <p:sp>
            <p:nvSpPr>
              <p:cNvPr id="446" name=""/>
              <p:cNvSpPr txBox="1"/>
              <p:nvPr/>
            </p:nvSpPr>
            <p:spPr>
              <a:xfrm>
                <a:off x="320040" y="294444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MGraphDTA</a:t>
                </a:r>
                <a:endParaRPr b="0" lang="en-US" sz="800" strike="noStrike" u="none">
                  <a:solidFill>
                    <a:srgbClr val="000000"/>
                  </a:solidFill>
                  <a:effectLst/>
                  <a:uFillTx/>
                  <a:latin typeface="Arial"/>
                </a:endParaRPr>
              </a:p>
            </p:txBody>
          </p:sp>
          <p:sp>
            <p:nvSpPr>
              <p:cNvPr id="447" name=""/>
              <p:cNvSpPr txBox="1"/>
              <p:nvPr/>
            </p:nvSpPr>
            <p:spPr>
              <a:xfrm>
                <a:off x="1463040" y="294444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0.907</a:t>
                </a:r>
                <a:endParaRPr b="0" lang="en-US" sz="800" strike="noStrike" u="none">
                  <a:solidFill>
                    <a:srgbClr val="000000"/>
                  </a:solidFill>
                  <a:effectLst/>
                  <a:uFillTx/>
                  <a:latin typeface="Arial"/>
                </a:endParaRPr>
              </a:p>
            </p:txBody>
          </p:sp>
          <p:sp>
            <p:nvSpPr>
              <p:cNvPr id="448" name=""/>
              <p:cNvSpPr txBox="1"/>
              <p:nvPr/>
            </p:nvSpPr>
            <p:spPr>
              <a:xfrm>
                <a:off x="2103120" y="294444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0.599</a:t>
                </a:r>
                <a:endParaRPr b="0" lang="en-US" sz="800" strike="noStrike" u="none">
                  <a:solidFill>
                    <a:srgbClr val="000000"/>
                  </a:solidFill>
                  <a:effectLst/>
                  <a:uFillTx/>
                  <a:latin typeface="Arial"/>
                </a:endParaRPr>
              </a:p>
            </p:txBody>
          </p:sp>
          <p:sp>
            <p:nvSpPr>
              <p:cNvPr id="449" name=""/>
              <p:cNvSpPr txBox="1"/>
              <p:nvPr/>
            </p:nvSpPr>
            <p:spPr>
              <a:xfrm>
                <a:off x="2697480" y="294444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0.082</a:t>
                </a:r>
                <a:endParaRPr b="0" lang="en-US" sz="800" strike="noStrike" u="none">
                  <a:solidFill>
                    <a:srgbClr val="000000"/>
                  </a:solidFill>
                  <a:effectLst/>
                  <a:uFillTx/>
                  <a:latin typeface="Arial"/>
                </a:endParaRPr>
              </a:p>
            </p:txBody>
          </p:sp>
          <p:sp>
            <p:nvSpPr>
              <p:cNvPr id="450" name=""/>
              <p:cNvSpPr txBox="1"/>
              <p:nvPr/>
            </p:nvSpPr>
            <p:spPr>
              <a:xfrm>
                <a:off x="3383280" y="294444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0.359</a:t>
                </a:r>
                <a:endParaRPr b="0" lang="en-US" sz="800" strike="noStrike" u="none">
                  <a:solidFill>
                    <a:srgbClr val="000000"/>
                  </a:solidFill>
                  <a:effectLst/>
                  <a:uFillTx/>
                  <a:latin typeface="Arial"/>
                </a:endParaRPr>
              </a:p>
            </p:txBody>
          </p:sp>
          <p:sp>
            <p:nvSpPr>
              <p:cNvPr id="451" name=""/>
              <p:cNvSpPr txBox="1"/>
              <p:nvPr/>
            </p:nvSpPr>
            <p:spPr>
              <a:xfrm>
                <a:off x="4023360" y="294444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0.813</a:t>
                </a:r>
                <a:endParaRPr b="0" lang="en-US" sz="800" strike="noStrike" u="none">
                  <a:solidFill>
                    <a:srgbClr val="000000"/>
                  </a:solidFill>
                  <a:effectLst/>
                  <a:uFillTx/>
                  <a:latin typeface="Arial"/>
                </a:endParaRPr>
              </a:p>
            </p:txBody>
          </p:sp>
          <p:sp>
            <p:nvSpPr>
              <p:cNvPr id="452" name=""/>
              <p:cNvSpPr txBox="1"/>
              <p:nvPr/>
            </p:nvSpPr>
            <p:spPr>
              <a:xfrm>
                <a:off x="4617720" y="294444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0.415</a:t>
                </a:r>
                <a:endParaRPr b="0" lang="en-US" sz="800" strike="noStrike" u="none">
                  <a:solidFill>
                    <a:srgbClr val="000000"/>
                  </a:solidFill>
                  <a:effectLst/>
                  <a:uFillTx/>
                  <a:latin typeface="Arial"/>
                </a:endParaRPr>
              </a:p>
            </p:txBody>
          </p:sp>
          <p:sp>
            <p:nvSpPr>
              <p:cNvPr id="453" name=""/>
              <p:cNvSpPr txBox="1"/>
              <p:nvPr/>
            </p:nvSpPr>
            <p:spPr>
              <a:xfrm>
                <a:off x="5303520" y="294444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0.764</a:t>
                </a:r>
                <a:endParaRPr b="0" lang="en-US" sz="800" strike="noStrike" u="none">
                  <a:solidFill>
                    <a:srgbClr val="000000"/>
                  </a:solidFill>
                  <a:effectLst/>
                  <a:uFillTx/>
                  <a:latin typeface="Arial"/>
                </a:endParaRPr>
              </a:p>
            </p:txBody>
          </p:sp>
          <p:sp>
            <p:nvSpPr>
              <p:cNvPr id="454" name=""/>
              <p:cNvSpPr txBox="1"/>
              <p:nvPr/>
            </p:nvSpPr>
            <p:spPr>
              <a:xfrm>
                <a:off x="5943600" y="294444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0.507</a:t>
                </a:r>
                <a:endParaRPr b="0" lang="en-US" sz="800" strike="noStrike" u="none">
                  <a:solidFill>
                    <a:srgbClr val="000000"/>
                  </a:solidFill>
                  <a:effectLst/>
                  <a:uFillTx/>
                  <a:latin typeface="Arial"/>
                </a:endParaRPr>
              </a:p>
            </p:txBody>
          </p:sp>
          <p:sp>
            <p:nvSpPr>
              <p:cNvPr id="455" name=""/>
              <p:cNvSpPr txBox="1"/>
              <p:nvPr/>
            </p:nvSpPr>
            <p:spPr>
              <a:xfrm>
                <a:off x="6537960" y="294444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0.001</a:t>
                </a:r>
                <a:endParaRPr b="0" lang="en-US" sz="800" strike="noStrike" u="none">
                  <a:solidFill>
                    <a:srgbClr val="000000"/>
                  </a:solidFill>
                  <a:effectLst/>
                  <a:uFillTx/>
                  <a:latin typeface="Arial"/>
                </a:endParaRPr>
              </a:p>
            </p:txBody>
          </p:sp>
          <p:sp>
            <p:nvSpPr>
              <p:cNvPr id="456" name=""/>
              <p:cNvSpPr txBox="1"/>
              <p:nvPr/>
            </p:nvSpPr>
            <p:spPr>
              <a:xfrm>
                <a:off x="320040" y="326448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HGRL-DTA</a:t>
                </a:r>
                <a:endParaRPr b="0" lang="en-US" sz="800" strike="noStrike" u="none">
                  <a:solidFill>
                    <a:srgbClr val="000000"/>
                  </a:solidFill>
                  <a:effectLst/>
                  <a:uFillTx/>
                  <a:latin typeface="Arial"/>
                </a:endParaRPr>
              </a:p>
            </p:txBody>
          </p:sp>
          <p:sp>
            <p:nvSpPr>
              <p:cNvPr id="457" name=""/>
              <p:cNvSpPr txBox="1"/>
              <p:nvPr/>
            </p:nvSpPr>
            <p:spPr>
              <a:xfrm>
                <a:off x="1463040" y="326448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0.776</a:t>
                </a:r>
                <a:endParaRPr b="0" lang="en-US" sz="800" strike="noStrike" u="none">
                  <a:solidFill>
                    <a:srgbClr val="000000"/>
                  </a:solidFill>
                  <a:effectLst/>
                  <a:uFillTx/>
                  <a:latin typeface="Arial"/>
                </a:endParaRPr>
              </a:p>
            </p:txBody>
          </p:sp>
          <p:sp>
            <p:nvSpPr>
              <p:cNvPr id="458" name=""/>
              <p:cNvSpPr txBox="1"/>
              <p:nvPr/>
            </p:nvSpPr>
            <p:spPr>
              <a:xfrm>
                <a:off x="2103120" y="326448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0.684</a:t>
                </a:r>
                <a:endParaRPr b="0" lang="en-US" sz="800" strike="noStrike" u="none">
                  <a:solidFill>
                    <a:srgbClr val="000000"/>
                  </a:solidFill>
                  <a:effectLst/>
                  <a:uFillTx/>
                  <a:latin typeface="Arial"/>
                </a:endParaRPr>
              </a:p>
            </p:txBody>
          </p:sp>
          <p:sp>
            <p:nvSpPr>
              <p:cNvPr id="459" name=""/>
              <p:cNvSpPr txBox="1"/>
              <p:nvPr/>
            </p:nvSpPr>
            <p:spPr>
              <a:xfrm>
                <a:off x="2697480" y="326448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0.163</a:t>
                </a:r>
                <a:endParaRPr b="0" lang="en-US" sz="800" strike="noStrike" u="none">
                  <a:solidFill>
                    <a:srgbClr val="000000"/>
                  </a:solidFill>
                  <a:effectLst/>
                  <a:uFillTx/>
                  <a:latin typeface="Arial"/>
                </a:endParaRPr>
              </a:p>
            </p:txBody>
          </p:sp>
          <p:sp>
            <p:nvSpPr>
              <p:cNvPr id="460" name=""/>
              <p:cNvSpPr txBox="1"/>
              <p:nvPr/>
            </p:nvSpPr>
            <p:spPr>
              <a:xfrm>
                <a:off x="3383280" y="326448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0.383</a:t>
                </a:r>
                <a:endParaRPr b="0" lang="en-US" sz="800" strike="noStrike" u="none">
                  <a:solidFill>
                    <a:srgbClr val="000000"/>
                  </a:solidFill>
                  <a:effectLst/>
                  <a:uFillTx/>
                  <a:latin typeface="Arial"/>
                </a:endParaRPr>
              </a:p>
            </p:txBody>
          </p:sp>
          <p:sp>
            <p:nvSpPr>
              <p:cNvPr id="461" name=""/>
              <p:cNvSpPr txBox="1"/>
              <p:nvPr/>
            </p:nvSpPr>
            <p:spPr>
              <a:xfrm>
                <a:off x="4023360" y="326448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0.816</a:t>
                </a:r>
                <a:endParaRPr b="0" lang="en-US" sz="800" strike="noStrike" u="none">
                  <a:solidFill>
                    <a:srgbClr val="000000"/>
                  </a:solidFill>
                  <a:effectLst/>
                  <a:uFillTx/>
                  <a:latin typeface="Arial"/>
                </a:endParaRPr>
              </a:p>
            </p:txBody>
          </p:sp>
          <p:sp>
            <p:nvSpPr>
              <p:cNvPr id="462" name=""/>
              <p:cNvSpPr txBox="1"/>
              <p:nvPr/>
            </p:nvSpPr>
            <p:spPr>
              <a:xfrm>
                <a:off x="4617720" y="326448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0.375</a:t>
                </a:r>
                <a:endParaRPr b="0" lang="en-US" sz="800" strike="noStrike" u="none">
                  <a:solidFill>
                    <a:srgbClr val="000000"/>
                  </a:solidFill>
                  <a:effectLst/>
                  <a:uFillTx/>
                  <a:latin typeface="Arial"/>
                </a:endParaRPr>
              </a:p>
            </p:txBody>
          </p:sp>
          <p:sp>
            <p:nvSpPr>
              <p:cNvPr id="463" name=""/>
              <p:cNvSpPr txBox="1"/>
              <p:nvPr/>
            </p:nvSpPr>
            <p:spPr>
              <a:xfrm>
                <a:off x="5303520" y="326448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0.642</a:t>
                </a:r>
                <a:endParaRPr b="0" lang="en-US" sz="800" strike="noStrike" u="none">
                  <a:solidFill>
                    <a:srgbClr val="000000"/>
                  </a:solidFill>
                  <a:effectLst/>
                  <a:uFillTx/>
                  <a:latin typeface="Arial"/>
                </a:endParaRPr>
              </a:p>
            </p:txBody>
          </p:sp>
          <p:sp>
            <p:nvSpPr>
              <p:cNvPr id="464" name=""/>
              <p:cNvSpPr txBox="1"/>
              <p:nvPr/>
            </p:nvSpPr>
            <p:spPr>
              <a:xfrm>
                <a:off x="5943600" y="326448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0.602</a:t>
                </a:r>
                <a:endParaRPr b="0" lang="en-US" sz="800" strike="noStrike" u="none">
                  <a:solidFill>
                    <a:srgbClr val="000000"/>
                  </a:solidFill>
                  <a:effectLst/>
                  <a:uFillTx/>
                  <a:latin typeface="Arial"/>
                </a:endParaRPr>
              </a:p>
            </p:txBody>
          </p:sp>
          <p:sp>
            <p:nvSpPr>
              <p:cNvPr id="465" name=""/>
              <p:cNvSpPr txBox="1"/>
              <p:nvPr/>
            </p:nvSpPr>
            <p:spPr>
              <a:xfrm>
                <a:off x="6537960" y="326448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0.044</a:t>
                </a:r>
                <a:endParaRPr b="0" lang="en-US" sz="800" strike="noStrike" u="none">
                  <a:solidFill>
                    <a:srgbClr val="000000"/>
                  </a:solidFill>
                  <a:effectLst/>
                  <a:uFillTx/>
                  <a:latin typeface="Arial"/>
                </a:endParaRPr>
              </a:p>
            </p:txBody>
          </p:sp>
          <p:sp>
            <p:nvSpPr>
              <p:cNvPr id="466" name=""/>
              <p:cNvSpPr txBox="1"/>
              <p:nvPr/>
            </p:nvSpPr>
            <p:spPr>
              <a:xfrm>
                <a:off x="320040" y="3584520"/>
                <a:ext cx="10972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GAS-DTA</a:t>
                </a:r>
                <a:endParaRPr b="0" lang="en-US" sz="800" strike="noStrike" u="none">
                  <a:solidFill>
                    <a:srgbClr val="000000"/>
                  </a:solidFill>
                  <a:effectLst/>
                  <a:uFillTx/>
                  <a:latin typeface="Arial"/>
                </a:endParaRPr>
              </a:p>
            </p:txBody>
          </p:sp>
          <p:sp>
            <p:nvSpPr>
              <p:cNvPr id="467" name=""/>
              <p:cNvSpPr txBox="1"/>
              <p:nvPr/>
            </p:nvSpPr>
            <p:spPr>
              <a:xfrm>
                <a:off x="1463040" y="358452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0.765</a:t>
                </a:r>
                <a:endParaRPr b="0" lang="en-US" sz="800" strike="noStrike" u="none">
                  <a:solidFill>
                    <a:srgbClr val="000000"/>
                  </a:solidFill>
                  <a:effectLst/>
                  <a:uFillTx/>
                  <a:latin typeface="Arial"/>
                </a:endParaRPr>
              </a:p>
            </p:txBody>
          </p:sp>
          <p:sp>
            <p:nvSpPr>
              <p:cNvPr id="468" name=""/>
              <p:cNvSpPr txBox="1"/>
              <p:nvPr/>
            </p:nvSpPr>
            <p:spPr>
              <a:xfrm>
                <a:off x="2103120" y="358452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0.674</a:t>
                </a:r>
                <a:endParaRPr b="0" lang="en-US" sz="800" strike="noStrike" u="none">
                  <a:solidFill>
                    <a:srgbClr val="000000"/>
                  </a:solidFill>
                  <a:effectLst/>
                  <a:uFillTx/>
                  <a:latin typeface="Arial"/>
                </a:endParaRPr>
              </a:p>
            </p:txBody>
          </p:sp>
          <p:sp>
            <p:nvSpPr>
              <p:cNvPr id="469" name=""/>
              <p:cNvSpPr txBox="1"/>
              <p:nvPr/>
            </p:nvSpPr>
            <p:spPr>
              <a:xfrm>
                <a:off x="2697480" y="358452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0.164</a:t>
                </a:r>
                <a:endParaRPr b="0" lang="en-US" sz="800" strike="noStrike" u="none">
                  <a:solidFill>
                    <a:srgbClr val="000000"/>
                  </a:solidFill>
                  <a:effectLst/>
                  <a:uFillTx/>
                  <a:latin typeface="Arial"/>
                </a:endParaRPr>
              </a:p>
            </p:txBody>
          </p:sp>
          <p:sp>
            <p:nvSpPr>
              <p:cNvPr id="470" name=""/>
              <p:cNvSpPr txBox="1"/>
              <p:nvPr/>
            </p:nvSpPr>
            <p:spPr>
              <a:xfrm>
                <a:off x="3383280" y="358452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0.386</a:t>
                </a:r>
                <a:endParaRPr b="0" lang="en-US" sz="800" strike="noStrike" u="none">
                  <a:solidFill>
                    <a:srgbClr val="000000"/>
                  </a:solidFill>
                  <a:effectLst/>
                  <a:uFillTx/>
                  <a:latin typeface="Arial"/>
                </a:endParaRPr>
              </a:p>
            </p:txBody>
          </p:sp>
          <p:sp>
            <p:nvSpPr>
              <p:cNvPr id="471" name=""/>
              <p:cNvSpPr txBox="1"/>
              <p:nvPr/>
            </p:nvSpPr>
            <p:spPr>
              <a:xfrm>
                <a:off x="4023360" y="358452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0.817</a:t>
                </a:r>
                <a:endParaRPr b="0" lang="en-US" sz="800" strike="noStrike" u="none">
                  <a:solidFill>
                    <a:srgbClr val="000000"/>
                  </a:solidFill>
                  <a:effectLst/>
                  <a:uFillTx/>
                  <a:latin typeface="Arial"/>
                </a:endParaRPr>
              </a:p>
            </p:txBody>
          </p:sp>
          <p:sp>
            <p:nvSpPr>
              <p:cNvPr id="472" name=""/>
              <p:cNvSpPr txBox="1"/>
              <p:nvPr/>
            </p:nvSpPr>
            <p:spPr>
              <a:xfrm>
                <a:off x="4617720" y="358452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0.349</a:t>
                </a:r>
                <a:endParaRPr b="0" lang="en-US" sz="800" strike="noStrike" u="none">
                  <a:solidFill>
                    <a:srgbClr val="000000"/>
                  </a:solidFill>
                  <a:effectLst/>
                  <a:uFillTx/>
                  <a:latin typeface="Arial"/>
                </a:endParaRPr>
              </a:p>
            </p:txBody>
          </p:sp>
          <p:sp>
            <p:nvSpPr>
              <p:cNvPr id="473" name=""/>
              <p:cNvSpPr txBox="1"/>
              <p:nvPr/>
            </p:nvSpPr>
            <p:spPr>
              <a:xfrm>
                <a:off x="5303520" y="3584520"/>
                <a:ext cx="59436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0.616</a:t>
                </a:r>
                <a:endParaRPr b="0" lang="en-US" sz="800" strike="noStrike" u="none">
                  <a:solidFill>
                    <a:srgbClr val="000000"/>
                  </a:solidFill>
                  <a:effectLst/>
                  <a:uFillTx/>
                  <a:latin typeface="Arial"/>
                </a:endParaRPr>
              </a:p>
            </p:txBody>
          </p:sp>
          <p:sp>
            <p:nvSpPr>
              <p:cNvPr id="474" name=""/>
              <p:cNvSpPr txBox="1"/>
              <p:nvPr/>
            </p:nvSpPr>
            <p:spPr>
              <a:xfrm>
                <a:off x="5943600" y="3584520"/>
                <a:ext cx="54864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0.610</a:t>
                </a:r>
                <a:endParaRPr b="0" lang="en-US" sz="800" strike="noStrike" u="none">
                  <a:solidFill>
                    <a:srgbClr val="000000"/>
                  </a:solidFill>
                  <a:effectLst/>
                  <a:uFillTx/>
                  <a:latin typeface="Arial"/>
                </a:endParaRPr>
              </a:p>
            </p:txBody>
          </p:sp>
          <p:sp>
            <p:nvSpPr>
              <p:cNvPr id="475" name=""/>
              <p:cNvSpPr txBox="1"/>
              <p:nvPr/>
            </p:nvSpPr>
            <p:spPr>
              <a:xfrm>
                <a:off x="6537960" y="3584520"/>
                <a:ext cx="640080" cy="292680"/>
              </a:xfrm>
              <a:prstGeom prst="rect">
                <a:avLst/>
              </a:prstGeom>
              <a:noFill/>
              <a:ln w="0">
                <a:noFill/>
              </a:ln>
            </p:spPr>
            <p:txBody>
              <a:bodyPr lIns="90000" rIns="90000" tIns="45000" bIns="45000" anchor="t">
                <a:spAutoFit/>
              </a:bodyPr>
              <a:p>
                <a:r>
                  <a:rPr b="0" lang="en-US" sz="800" strike="noStrike" u="none">
                    <a:solidFill>
                      <a:srgbClr val="536d79"/>
                    </a:solidFill>
                    <a:effectLst/>
                    <a:uFillTx/>
                    <a:latin typeface="ArialMT"/>
                    <a:ea typeface="ArialMT"/>
                  </a:rPr>
                  <a:t>0.041</a:t>
                </a:r>
                <a:endParaRPr b="0" lang="en-US" sz="800" strike="noStrike" u="none">
                  <a:solidFill>
                    <a:srgbClr val="000000"/>
                  </a:solidFill>
                  <a:effectLst/>
                  <a:uFillTx/>
                  <a:latin typeface="Arial"/>
                </a:endParaRPr>
              </a:p>
            </p:txBody>
          </p:sp>
          <p:sp>
            <p:nvSpPr>
              <p:cNvPr id="476" name=""/>
              <p:cNvSpPr txBox="1"/>
              <p:nvPr/>
            </p:nvSpPr>
            <p:spPr>
              <a:xfrm>
                <a:off x="320040" y="3904560"/>
                <a:ext cx="109728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Proposed</a:t>
                </a:r>
                <a:endParaRPr b="0" lang="en-US" sz="900" strike="noStrike" u="none">
                  <a:solidFill>
                    <a:srgbClr val="000000"/>
                  </a:solidFill>
                  <a:effectLst/>
                  <a:uFillTx/>
                  <a:latin typeface="Arial"/>
                </a:endParaRPr>
              </a:p>
            </p:txBody>
          </p:sp>
          <p:sp>
            <p:nvSpPr>
              <p:cNvPr id="477" name=""/>
              <p:cNvSpPr txBox="1"/>
              <p:nvPr/>
            </p:nvSpPr>
            <p:spPr>
              <a:xfrm>
                <a:off x="1463040" y="3904560"/>
                <a:ext cx="59436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0.463</a:t>
                </a:r>
                <a:endParaRPr b="0" lang="en-US" sz="900" strike="noStrike" u="none">
                  <a:solidFill>
                    <a:srgbClr val="000000"/>
                  </a:solidFill>
                  <a:effectLst/>
                  <a:uFillTx/>
                  <a:latin typeface="Arial"/>
                </a:endParaRPr>
              </a:p>
            </p:txBody>
          </p:sp>
          <p:sp>
            <p:nvSpPr>
              <p:cNvPr id="478" name=""/>
              <p:cNvSpPr txBox="1"/>
              <p:nvPr/>
            </p:nvSpPr>
            <p:spPr>
              <a:xfrm>
                <a:off x="2103120" y="3904560"/>
                <a:ext cx="54864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0.639</a:t>
                </a:r>
                <a:endParaRPr b="0" lang="en-US" sz="900" strike="noStrike" u="none">
                  <a:solidFill>
                    <a:srgbClr val="000000"/>
                  </a:solidFill>
                  <a:effectLst/>
                  <a:uFillTx/>
                  <a:latin typeface="Arial"/>
                </a:endParaRPr>
              </a:p>
            </p:txBody>
          </p:sp>
          <p:sp>
            <p:nvSpPr>
              <p:cNvPr id="479" name=""/>
              <p:cNvSpPr txBox="1"/>
              <p:nvPr/>
            </p:nvSpPr>
            <p:spPr>
              <a:xfrm>
                <a:off x="2697480" y="3904560"/>
                <a:ext cx="64008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-0.053</a:t>
                </a:r>
                <a:endParaRPr b="0" lang="en-US" sz="900" strike="noStrike" u="none">
                  <a:solidFill>
                    <a:srgbClr val="000000"/>
                  </a:solidFill>
                  <a:effectLst/>
                  <a:uFillTx/>
                  <a:latin typeface="Arial"/>
                </a:endParaRPr>
              </a:p>
            </p:txBody>
          </p:sp>
          <p:sp>
            <p:nvSpPr>
              <p:cNvPr id="480" name=""/>
              <p:cNvSpPr txBox="1"/>
              <p:nvPr/>
            </p:nvSpPr>
            <p:spPr>
              <a:xfrm>
                <a:off x="3383280" y="3904560"/>
                <a:ext cx="59436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0.415</a:t>
                </a:r>
                <a:endParaRPr b="0" lang="en-US" sz="900" strike="noStrike" u="none">
                  <a:solidFill>
                    <a:srgbClr val="000000"/>
                  </a:solidFill>
                  <a:effectLst/>
                  <a:uFillTx/>
                  <a:latin typeface="Arial"/>
                </a:endParaRPr>
              </a:p>
            </p:txBody>
          </p:sp>
          <p:sp>
            <p:nvSpPr>
              <p:cNvPr id="481" name=""/>
              <p:cNvSpPr txBox="1"/>
              <p:nvPr/>
            </p:nvSpPr>
            <p:spPr>
              <a:xfrm>
                <a:off x="4023360" y="3904560"/>
                <a:ext cx="54864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0.764</a:t>
                </a:r>
                <a:endParaRPr b="0" lang="en-US" sz="900" strike="noStrike" u="none">
                  <a:solidFill>
                    <a:srgbClr val="000000"/>
                  </a:solidFill>
                  <a:effectLst/>
                  <a:uFillTx/>
                  <a:latin typeface="Arial"/>
                </a:endParaRPr>
              </a:p>
            </p:txBody>
          </p:sp>
          <p:sp>
            <p:nvSpPr>
              <p:cNvPr id="482" name=""/>
              <p:cNvSpPr txBox="1"/>
              <p:nvPr/>
            </p:nvSpPr>
            <p:spPr>
              <a:xfrm>
                <a:off x="4617720" y="3904560"/>
                <a:ext cx="64008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-0.067</a:t>
                </a:r>
                <a:endParaRPr b="0" lang="en-US" sz="900" strike="noStrike" u="none">
                  <a:solidFill>
                    <a:srgbClr val="000000"/>
                  </a:solidFill>
                  <a:effectLst/>
                  <a:uFillTx/>
                  <a:latin typeface="Arial"/>
                </a:endParaRPr>
              </a:p>
            </p:txBody>
          </p:sp>
          <p:sp>
            <p:nvSpPr>
              <p:cNvPr id="483" name=""/>
              <p:cNvSpPr txBox="1"/>
              <p:nvPr/>
            </p:nvSpPr>
            <p:spPr>
              <a:xfrm>
                <a:off x="5303520" y="3904560"/>
                <a:ext cx="59436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0.556</a:t>
                </a:r>
                <a:endParaRPr b="0" lang="en-US" sz="900" strike="noStrike" u="none">
                  <a:solidFill>
                    <a:srgbClr val="000000"/>
                  </a:solidFill>
                  <a:effectLst/>
                  <a:uFillTx/>
                  <a:latin typeface="Arial"/>
                </a:endParaRPr>
              </a:p>
            </p:txBody>
          </p:sp>
          <p:sp>
            <p:nvSpPr>
              <p:cNvPr id="484" name=""/>
              <p:cNvSpPr txBox="1"/>
              <p:nvPr/>
            </p:nvSpPr>
            <p:spPr>
              <a:xfrm>
                <a:off x="5943600" y="3904560"/>
                <a:ext cx="54864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0.431</a:t>
                </a:r>
                <a:endParaRPr b="0" lang="en-US" sz="900" strike="noStrike" u="none">
                  <a:solidFill>
                    <a:srgbClr val="000000"/>
                  </a:solidFill>
                  <a:effectLst/>
                  <a:uFillTx/>
                  <a:latin typeface="Arial"/>
                </a:endParaRPr>
              </a:p>
            </p:txBody>
          </p:sp>
          <p:sp>
            <p:nvSpPr>
              <p:cNvPr id="485" name=""/>
              <p:cNvSpPr txBox="1"/>
              <p:nvPr/>
            </p:nvSpPr>
            <p:spPr>
              <a:xfrm>
                <a:off x="6537960" y="3904560"/>
                <a:ext cx="640080" cy="292680"/>
              </a:xfrm>
              <a:prstGeom prst="rect">
                <a:avLst/>
              </a:prstGeom>
              <a:noFill/>
              <a:ln w="0">
                <a:noFill/>
              </a:ln>
            </p:spPr>
            <p:txBody>
              <a:bodyPr lIns="90000" rIns="90000" tIns="45000" bIns="45000" anchor="t">
                <a:spAutoFit/>
              </a:bodyPr>
              <a:p>
                <a:r>
                  <a:rPr b="1" lang="en-US" sz="900" strike="noStrike" u="none">
                    <a:solidFill>
                      <a:srgbClr val="2d7c31"/>
                    </a:solidFill>
                    <a:effectLst/>
                    <a:uFillTx/>
                    <a:latin typeface="Arial-BoldMT"/>
                    <a:ea typeface="Arial-BoldMT"/>
                  </a:rPr>
                  <a:t>0.309</a:t>
                </a:r>
                <a:endParaRPr b="0" lang="en-US" sz="900" strike="noStrike" u="none">
                  <a:solidFill>
                    <a:srgbClr val="000000"/>
                  </a:solidFill>
                  <a:effectLst/>
                  <a:uFillTx/>
                  <a:latin typeface="Arial"/>
                </a:endParaRPr>
              </a:p>
            </p:txBody>
          </p:sp>
        </p:grpSp>
      </p:grpSp>
      <p:sp>
        <p:nvSpPr>
          <p:cNvPr id="486" name=""/>
          <p:cNvSpPr txBox="1"/>
          <p:nvPr/>
        </p:nvSpPr>
        <p:spPr>
          <a:xfrm>
            <a:off x="457200" y="4297680"/>
            <a:ext cx="8229600" cy="274320"/>
          </a:xfrm>
          <a:prstGeom prst="rect">
            <a:avLst/>
          </a:prstGeom>
          <a:noFill/>
          <a:ln w="0">
            <a:noFill/>
          </a:ln>
        </p:spPr>
        <p:txBody>
          <a:bodyPr lIns="90000" rIns="90000" tIns="45000" bIns="45000" anchor="t">
            <a:spAutoFit/>
          </a:bodyPr>
          <a:p>
            <a:r>
              <a:rPr b="0" i="1" lang="en-US" sz="1000" strike="noStrike" u="none">
                <a:solidFill>
                  <a:srgbClr val="0097a7"/>
                </a:solidFill>
                <a:effectLst/>
                <a:uFillTx/>
                <a:latin typeface="Arial-ItalicMT"/>
                <a:ea typeface="Arial-ItalicMT"/>
              </a:rPr>
              <a:t>Our model achieves best MSE on Cold Drug (0.463) and Cold Both (0.556). Cold Protein CI (0.764) is competitive with SOTA.</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487"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Cold-Drug: Analysis</a:t>
            </a:r>
            <a:endParaRPr b="0" lang="en-US" sz="2800" strike="noStrike" u="none">
              <a:solidFill>
                <a:srgbClr val="000000"/>
              </a:solidFill>
              <a:effectLst/>
              <a:uFillTx/>
              <a:latin typeface="Arial"/>
            </a:endParaRPr>
          </a:p>
        </p:txBody>
      </p:sp>
      <p:sp>
        <p:nvSpPr>
          <p:cNvPr id="488"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489"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Novel drugs against known proteins — MSE: 0.464 | CI: 0.637</a:t>
            </a:r>
            <a:endParaRPr b="0" lang="en-US" sz="1100" strike="noStrike" u="none">
              <a:solidFill>
                <a:srgbClr val="000000"/>
              </a:solidFill>
              <a:effectLst/>
              <a:uFillTx/>
              <a:latin typeface="Arial"/>
            </a:endParaRPr>
          </a:p>
        </p:txBody>
      </p:sp>
      <p:sp>
        <p:nvSpPr>
          <p:cNvPr id="490" name=""/>
          <p:cNvSpPr/>
          <p:nvPr/>
        </p:nvSpPr>
        <p:spPr>
          <a:xfrm>
            <a:off x="457200" y="1143000"/>
            <a:ext cx="8321400" cy="3475080"/>
          </a:xfrm>
          <a:custGeom>
            <a:avLst/>
            <a:gdLst/>
            <a:ahLst/>
            <a:rect l="0" t="0" r="r" b="b"/>
            <a:pathLst>
              <a:path w="23115" h="9653">
                <a:moveTo>
                  <a:pt x="0" y="0"/>
                </a:moveTo>
                <a:lnTo>
                  <a:pt x="23115" y="0"/>
                </a:lnTo>
                <a:lnTo>
                  <a:pt x="23115"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491" name=""/>
          <p:cNvSpPr/>
          <p:nvPr/>
        </p:nvSpPr>
        <p:spPr>
          <a:xfrm>
            <a:off x="45720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492" name=""/>
          <p:cNvSpPr txBox="1"/>
          <p:nvPr/>
        </p:nvSpPr>
        <p:spPr>
          <a:xfrm>
            <a:off x="640080" y="1325880"/>
            <a:ext cx="7955280" cy="2926080"/>
          </a:xfrm>
          <a:prstGeom prst="rect">
            <a:avLst/>
          </a:prstGeom>
          <a:noFill/>
          <a:ln w="0">
            <a:noFill/>
          </a:ln>
        </p:spPr>
        <p:txBody>
          <a:bodyPr lIns="90000" rIns="90000" tIns="45000" bIns="45000" anchor="t">
            <a:spAutoFit/>
          </a:bodyPr>
          <a:p>
            <a:pPr defTabSz="914400">
              <a:lnSpc>
                <a:spcPct val="100000"/>
              </a:lnSpc>
              <a:tabLst>
                <a:tab algn="l" pos="0"/>
              </a:tabLst>
            </a:pPr>
            <a:r>
              <a:rPr b="1" lang="en-US" sz="1300" strike="noStrike" u="none">
                <a:solidFill>
                  <a:srgbClr val="3465a4"/>
                </a:solidFill>
                <a:effectLst/>
                <a:uFillTx/>
                <a:latin typeface="ArialMt"/>
                <a:ea typeface="Arial"/>
              </a:rPr>
              <a:t>What this scenario tests:</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3465a4"/>
                </a:solidFill>
                <a:effectLst/>
                <a:uFillTx/>
                <a:latin typeface="ArialMt"/>
                <a:ea typeface="Arial"/>
              </a:rPr>
              <a:t>The model must predict binding affinity for drug molecules it has never seen during training. All 365 proteins are seen in training, so the protein encoder has full coverage. The challenge is entirely on the drug side — can the compound_gt encoder generalize to novel molecular structures?</a:t>
            </a:r>
            <a:endParaRPr b="0" lang="en-US" sz="1100" strike="noStrike" u="none">
              <a:solidFill>
                <a:srgbClr val="000000"/>
              </a:solidFill>
              <a:effectLst/>
              <a:uFillTx/>
              <a:latin typeface="Arial"/>
            </a:endParaRPr>
          </a:p>
          <a:p>
            <a:pPr defTabSz="914400">
              <a:lnSpc>
                <a:spcPct val="100000"/>
              </a:lnSpc>
              <a:tabLst>
                <a:tab algn="l" pos="0"/>
              </a:tabLst>
            </a:pPr>
            <a:endParaRPr b="0" lang="en-US" sz="11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3465a4"/>
                </a:solidFill>
                <a:effectLst/>
                <a:uFillTx/>
                <a:latin typeface="ArialMt"/>
                <a:ea typeface="Arial"/>
              </a:rPr>
              <a:t>Results interpretation:</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3465a4"/>
                </a:solidFill>
                <a:effectLst/>
                <a:uFillTx/>
                <a:latin typeface="ArialMt"/>
                <a:ea typeface="Arial"/>
              </a:rPr>
              <a:t>CI of 0.637 (vs 0.5 random) shows meaningful ranking ability. The X-CLR pretraining helps because ChemBERTa soft targets teach the drug encoder to place structurally similar drugs together — so even novel drugs with substructures seen in training get reasonable embeddings.</a:t>
            </a:r>
            <a:endParaRPr b="0" lang="en-US" sz="1100" strike="noStrike" u="none">
              <a:solidFill>
                <a:srgbClr val="000000"/>
              </a:solidFill>
              <a:effectLst/>
              <a:uFillTx/>
              <a:latin typeface="Arial"/>
            </a:endParaRPr>
          </a:p>
          <a:p>
            <a:pPr defTabSz="914400">
              <a:lnSpc>
                <a:spcPct val="100000"/>
              </a:lnSpc>
              <a:tabLst>
                <a:tab algn="l" pos="0"/>
              </a:tabLst>
            </a:pPr>
            <a:endParaRPr b="0" lang="en-US" sz="11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ffc107"/>
                </a:solidFill>
                <a:effectLst/>
                <a:uFillTx/>
                <a:latin typeface="ArialMt"/>
                <a:ea typeface="Arial"/>
              </a:rPr>
              <a:t>Key challenge:</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3465a4"/>
                </a:solidFill>
                <a:effectLst/>
                <a:uFillTx/>
                <a:latin typeface="ArialMt"/>
                <a:ea typeface="Arial"/>
              </a:rPr>
              <a:t>With only 68 drugs in Davis (42 in training), the structural diversity is limited. Drugs with entirely novel scaffolds may still pose difficulties.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493"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Cold-Protein: Analysis</a:t>
            </a:r>
            <a:endParaRPr b="0" lang="en-US" sz="2800" strike="noStrike" u="none">
              <a:solidFill>
                <a:srgbClr val="000000"/>
              </a:solidFill>
              <a:effectLst/>
              <a:uFillTx/>
              <a:latin typeface="Arial"/>
            </a:endParaRPr>
          </a:p>
        </p:txBody>
      </p:sp>
      <p:sp>
        <p:nvSpPr>
          <p:cNvPr id="494"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495"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Known drugs against novel proteins — MSE: 0.414 | CI: 0.767 ★</a:t>
            </a:r>
            <a:endParaRPr b="0" lang="en-US" sz="1100" strike="noStrike" u="none">
              <a:solidFill>
                <a:srgbClr val="000000"/>
              </a:solidFill>
              <a:effectLst/>
              <a:uFillTx/>
              <a:latin typeface="Arial"/>
            </a:endParaRPr>
          </a:p>
        </p:txBody>
      </p:sp>
      <p:sp>
        <p:nvSpPr>
          <p:cNvPr id="496" name=""/>
          <p:cNvSpPr/>
          <p:nvPr/>
        </p:nvSpPr>
        <p:spPr>
          <a:xfrm>
            <a:off x="457200" y="1143000"/>
            <a:ext cx="8321400" cy="3475080"/>
          </a:xfrm>
          <a:custGeom>
            <a:avLst/>
            <a:gdLst/>
            <a:ahLst/>
            <a:rect l="0" t="0" r="r" b="b"/>
            <a:pathLst>
              <a:path w="23115" h="9653">
                <a:moveTo>
                  <a:pt x="0" y="0"/>
                </a:moveTo>
                <a:lnTo>
                  <a:pt x="23115" y="0"/>
                </a:lnTo>
                <a:lnTo>
                  <a:pt x="23115"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497" name=""/>
          <p:cNvSpPr/>
          <p:nvPr/>
        </p:nvSpPr>
        <p:spPr>
          <a:xfrm>
            <a:off x="45720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00897a"/>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498" name=""/>
          <p:cNvSpPr txBox="1"/>
          <p:nvPr/>
        </p:nvSpPr>
        <p:spPr>
          <a:xfrm>
            <a:off x="640080" y="1325880"/>
            <a:ext cx="7955280" cy="2926080"/>
          </a:xfrm>
          <a:prstGeom prst="rect">
            <a:avLst/>
          </a:prstGeom>
          <a:noFill/>
          <a:ln w="0">
            <a:noFill/>
          </a:ln>
        </p:spPr>
        <p:txBody>
          <a:bodyPr lIns="90000" rIns="90000" tIns="45000" bIns="45000" anchor="t">
            <a:spAutoFit/>
          </a:bodyPr>
          <a:p>
            <a:pPr defTabSz="914400">
              <a:lnSpc>
                <a:spcPct val="100000"/>
              </a:lnSpc>
              <a:tabLst>
                <a:tab algn="l" pos="0"/>
              </a:tabLst>
            </a:pPr>
            <a:r>
              <a:rPr b="1" lang="en-US" sz="1300" strike="noStrike" u="none">
                <a:solidFill>
                  <a:srgbClr val="5983b0"/>
                </a:solidFill>
                <a:effectLst/>
                <a:uFillTx/>
                <a:latin typeface="ArialMt"/>
                <a:ea typeface="Arial"/>
              </a:rPr>
              <a:t>Why this is the best scenario:</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5983b0"/>
                </a:solidFill>
                <a:effectLst/>
                <a:uFillTx/>
                <a:latin typeface="ArialMt"/>
                <a:ea typeface="Arial"/>
              </a:rPr>
              <a:t>All 68 drugs are seen during training, giving the compound_gt encoder complete coverage. The protein_gt must generalize to 73 unseen proteins, but proteins within the same kinase family share significant structural similarity. The ESM-2 embeddings provide strong evolutionary priors even for novel proteins.</a:t>
            </a:r>
            <a:endParaRPr b="0" lang="en-US" sz="1100" strike="noStrike" u="none">
              <a:solidFill>
                <a:srgbClr val="000000"/>
              </a:solidFill>
              <a:effectLst/>
              <a:uFillTx/>
              <a:latin typeface="Arial"/>
            </a:endParaRPr>
          </a:p>
          <a:p>
            <a:pPr defTabSz="914400">
              <a:lnSpc>
                <a:spcPct val="100000"/>
              </a:lnSpc>
              <a:tabLst>
                <a:tab algn="l" pos="0"/>
              </a:tabLst>
            </a:pPr>
            <a:endParaRPr b="0" lang="en-US" sz="11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5983b0"/>
                </a:solidFill>
                <a:effectLst/>
                <a:uFillTx/>
                <a:latin typeface="ArialMt"/>
                <a:ea typeface="Arial"/>
              </a:rPr>
              <a:t>CI = 0.767 — strong ranking performance:</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5983b0"/>
                </a:solidFill>
                <a:effectLst/>
                <a:uFillTx/>
                <a:latin typeface="ArialMt"/>
                <a:ea typeface="Arial"/>
              </a:rPr>
              <a:t>The model can reliably rank which drugs bind more strongly to a novel protein. This is directly useful for target-based virtual screening — testing a library of known drugs against a newly identified disease target.</a:t>
            </a:r>
            <a:endParaRPr b="0" lang="en-US" sz="1100" strike="noStrike" u="none">
              <a:solidFill>
                <a:srgbClr val="000000"/>
              </a:solidFill>
              <a:effectLst/>
              <a:uFillTx/>
              <a:latin typeface="Arial"/>
            </a:endParaRPr>
          </a:p>
          <a:p>
            <a:pPr defTabSz="914400">
              <a:lnSpc>
                <a:spcPct val="100000"/>
              </a:lnSpc>
              <a:tabLst>
                <a:tab algn="l" pos="0"/>
              </a:tabLst>
            </a:pPr>
            <a:endParaRPr b="0" lang="en-US" sz="11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ffc107"/>
                </a:solidFill>
                <a:effectLst/>
                <a:uFillTx/>
                <a:latin typeface="ArialMt"/>
                <a:ea typeface="Arial"/>
              </a:rPr>
              <a:t>Why proteins generalize better than drugs:</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5983b0"/>
                </a:solidFill>
                <a:effectLst/>
                <a:uFillTx/>
                <a:latin typeface="ArialMt"/>
                <a:ea typeface="Arial"/>
              </a:rPr>
              <a:t>365 proteins provide much more structural diversity than 68 drugs. ESM-2 pretraining on millions of protein sequences gives the protein branch a strong initialization. Cross-attention fusion adds another layer of robustness.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499"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Cold-Both: Analysis</a:t>
            </a:r>
            <a:endParaRPr b="0" lang="en-US" sz="2800" strike="noStrike" u="none">
              <a:solidFill>
                <a:srgbClr val="000000"/>
              </a:solidFill>
              <a:effectLst/>
              <a:uFillTx/>
              <a:latin typeface="Arial"/>
            </a:endParaRPr>
          </a:p>
        </p:txBody>
      </p:sp>
      <p:sp>
        <p:nvSpPr>
          <p:cNvPr id="500"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501" name=""/>
          <p:cNvSpPr txBox="1"/>
          <p:nvPr/>
        </p:nvSpPr>
        <p:spPr>
          <a:xfrm>
            <a:off x="548640" y="822960"/>
            <a:ext cx="8046720" cy="280800"/>
          </a:xfrm>
          <a:prstGeom prst="rect">
            <a:avLst/>
          </a:prstGeom>
          <a:noFill/>
          <a:ln w="0">
            <a:noFill/>
          </a:ln>
        </p:spPr>
        <p:txBody>
          <a:bodyPr lIns="90000" rIns="90000" tIns="45000" bIns="45000" anchor="t">
            <a:spAutoFit/>
          </a:bodyPr>
          <a:p>
            <a:r>
              <a:rPr b="0" i="1" lang="en-US" sz="1100" strike="noStrike" u="none">
                <a:solidFill>
                  <a:srgbClr val="0097a7"/>
                </a:solidFill>
                <a:effectLst/>
                <a:uFillTx/>
                <a:latin typeface="Arial-ItalicMT"/>
                <a:ea typeface="Arial-ItalicMT"/>
              </a:rPr>
              <a:t>Novel drugs AND proteins — MSE: 0.558 | CI: 0.413</a:t>
            </a:r>
            <a:endParaRPr b="0" lang="en-US" sz="1100" strike="noStrike" u="none">
              <a:solidFill>
                <a:srgbClr val="000000"/>
              </a:solidFill>
              <a:effectLst/>
              <a:uFillTx/>
              <a:latin typeface="Arial"/>
            </a:endParaRPr>
          </a:p>
        </p:txBody>
      </p:sp>
      <p:sp>
        <p:nvSpPr>
          <p:cNvPr id="502" name=""/>
          <p:cNvSpPr/>
          <p:nvPr/>
        </p:nvSpPr>
        <p:spPr>
          <a:xfrm>
            <a:off x="457200" y="1143000"/>
            <a:ext cx="8321400" cy="3475080"/>
          </a:xfrm>
          <a:custGeom>
            <a:avLst/>
            <a:gdLst/>
            <a:ahLst/>
            <a:rect l="0" t="0" r="r" b="b"/>
            <a:pathLst>
              <a:path w="23115" h="9653">
                <a:moveTo>
                  <a:pt x="0" y="0"/>
                </a:moveTo>
                <a:lnTo>
                  <a:pt x="23115" y="0"/>
                </a:lnTo>
                <a:lnTo>
                  <a:pt x="23115"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03" name=""/>
          <p:cNvSpPr/>
          <p:nvPr/>
        </p:nvSpPr>
        <p:spPr>
          <a:xfrm>
            <a:off x="457200" y="114300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c62727"/>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504" name=""/>
          <p:cNvSpPr txBox="1"/>
          <p:nvPr/>
        </p:nvSpPr>
        <p:spPr>
          <a:xfrm>
            <a:off x="640080" y="1325880"/>
            <a:ext cx="7955280" cy="2926080"/>
          </a:xfrm>
          <a:prstGeom prst="rect">
            <a:avLst/>
          </a:prstGeom>
          <a:noFill/>
          <a:ln w="0">
            <a:noFill/>
          </a:ln>
        </p:spPr>
        <p:txBody>
          <a:bodyPr lIns="90000" rIns="90000" tIns="45000" bIns="45000" anchor="t">
            <a:spAutoFit/>
          </a:bodyPr>
          <a:p>
            <a:pPr defTabSz="914400">
              <a:lnSpc>
                <a:spcPct val="100000"/>
              </a:lnSpc>
              <a:tabLst>
                <a:tab algn="l" pos="0"/>
              </a:tabLst>
            </a:pPr>
            <a:r>
              <a:rPr b="1" lang="en-US" sz="1300" strike="noStrike" u="none">
                <a:solidFill>
                  <a:srgbClr val="5983b0"/>
                </a:solidFill>
                <a:effectLst/>
                <a:uFillTx/>
                <a:latin typeface="ArialMT"/>
                <a:ea typeface="Arial"/>
              </a:rPr>
              <a:t>The hardest setting in DTA literature:</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5983b0"/>
                </a:solidFill>
                <a:effectLst/>
                <a:uFillTx/>
                <a:latin typeface="ArialMT"/>
                <a:ea typeface="Arial"/>
              </a:rPr>
              <a:t>Neither the drug nor the protein has been seen during training. With only 42 training drugs × 219 training proteins (~9k pairs), the model must learn generalizable representations from very limited data and apply them to entirely novel entities.</a:t>
            </a:r>
            <a:endParaRPr b="0" lang="en-US" sz="1100" strike="noStrike" u="none">
              <a:solidFill>
                <a:srgbClr val="000000"/>
              </a:solidFill>
              <a:effectLst/>
              <a:uFillTx/>
              <a:latin typeface="Arial"/>
            </a:endParaRPr>
          </a:p>
          <a:p>
            <a:pPr defTabSz="914400">
              <a:lnSpc>
                <a:spcPct val="100000"/>
              </a:lnSpc>
              <a:tabLst>
                <a:tab algn="l" pos="0"/>
              </a:tabLst>
            </a:pPr>
            <a:endParaRPr b="0" lang="en-US" sz="11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5983b0"/>
                </a:solidFill>
                <a:effectLst/>
                <a:uFillTx/>
                <a:latin typeface="ArialMT"/>
                <a:ea typeface="Arial"/>
              </a:rPr>
              <a:t>CI = 0.413 — below random (0.5):</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5983b0"/>
                </a:solidFill>
                <a:effectLst/>
                <a:uFillTx/>
                <a:latin typeface="ArialMT"/>
                <a:ea typeface="Arial"/>
              </a:rPr>
              <a:t>This indicates the model struggles to rank novel drug-protein pairs correctly. The combined uncertainty from both unseen modalities overwhelms the learned representations. This is consistent with literature — most methods that report cold-both achieve CI 0.45-0.55.</a:t>
            </a:r>
            <a:endParaRPr b="0" lang="en-US" sz="1100" strike="noStrike" u="none">
              <a:solidFill>
                <a:srgbClr val="000000"/>
              </a:solidFill>
              <a:effectLst/>
              <a:uFillTx/>
              <a:latin typeface="Arial"/>
            </a:endParaRPr>
          </a:p>
          <a:p>
            <a:pPr defTabSz="914400">
              <a:lnSpc>
                <a:spcPct val="100000"/>
              </a:lnSpc>
              <a:tabLst>
                <a:tab algn="l" pos="0"/>
              </a:tabLst>
            </a:pPr>
            <a:endParaRPr b="0" lang="en-US" sz="11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ffc107"/>
                </a:solidFill>
                <a:effectLst/>
                <a:uFillTx/>
                <a:latin typeface="ArialMT"/>
                <a:ea typeface="Arial"/>
              </a:rPr>
              <a:t>What helps / what doesn't:</a:t>
            </a:r>
            <a:endParaRPr b="0" lang="en-US" sz="13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5983b0"/>
                </a:solidFill>
                <a:effectLst/>
                <a:uFillTx/>
                <a:latin typeface="ArialMT"/>
                <a:ea typeface="Arial"/>
              </a:rPr>
              <a:t>X-CLR pretraining provides some benefit (vs random init), but the contrastive signal is weaker when both modalities are novel. The bilinear interaction module tends to memorize training drug-protein combinations rather than learning generalizable interaction patterns.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5" name=""/>
          <p:cNvSpPr/>
          <p:nvPr/>
        </p:nvSpPr>
        <p:spPr>
          <a:xfrm>
            <a:off x="4114800" y="1280160"/>
            <a:ext cx="594720" cy="594720"/>
          </a:xfrm>
          <a:custGeom>
            <a:avLst/>
            <a:gdLst/>
            <a:ahLst/>
            <a:rect l="0" t="0" r="r" b="b"/>
            <a:pathLst>
              <a:path w="1652" h="1652">
                <a:moveTo>
                  <a:pt x="1411" y="241"/>
                </a:moveTo>
                <a:cubicBezTo>
                  <a:pt x="1733" y="565"/>
                  <a:pt x="1733" y="1087"/>
                  <a:pt x="1411" y="1411"/>
                </a:cubicBezTo>
                <a:cubicBezTo>
                  <a:pt x="1087" y="1733"/>
                  <a:pt x="565" y="1733"/>
                  <a:pt x="241" y="1411"/>
                </a:cubicBezTo>
                <a:cubicBezTo>
                  <a:pt x="-80" y="1087"/>
                  <a:pt x="-80" y="565"/>
                  <a:pt x="241" y="241"/>
                </a:cubicBezTo>
                <a:cubicBezTo>
                  <a:pt x="565" y="-80"/>
                  <a:pt x="1087" y="-80"/>
                  <a:pt x="1411" y="241"/>
                </a:cubicBez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06" name=""/>
          <p:cNvSpPr txBox="1"/>
          <p:nvPr/>
        </p:nvSpPr>
        <p:spPr>
          <a:xfrm>
            <a:off x="4160520" y="1280160"/>
            <a:ext cx="502920" cy="594360"/>
          </a:xfrm>
          <a:prstGeom prst="rect">
            <a:avLst/>
          </a:prstGeom>
          <a:noFill/>
          <a:ln w="0">
            <a:noFill/>
          </a:ln>
        </p:spPr>
        <p:txBody>
          <a:bodyPr lIns="90000" rIns="90000" tIns="45000" bIns="45000" anchor="t">
            <a:spAutoFit/>
          </a:bodyPr>
          <a:p>
            <a:pPr algn="ctr"/>
            <a:r>
              <a:rPr b="1" lang="en-US" sz="2400" strike="noStrike" u="none">
                <a:solidFill>
                  <a:srgbClr val="191e35"/>
                </a:solidFill>
                <a:effectLst/>
                <a:uFillTx/>
                <a:latin typeface="Arial-BoldMT"/>
                <a:ea typeface="Arial-BoldMT"/>
              </a:rPr>
              <a:t>8</a:t>
            </a:r>
            <a:endParaRPr b="0" lang="en-US" sz="2400" strike="noStrike" u="none">
              <a:solidFill>
                <a:srgbClr val="000000"/>
              </a:solidFill>
              <a:effectLst/>
              <a:uFillTx/>
              <a:latin typeface="Arial"/>
            </a:endParaRPr>
          </a:p>
        </p:txBody>
      </p:sp>
      <p:sp>
        <p:nvSpPr>
          <p:cNvPr id="507" name=""/>
          <p:cNvSpPr txBox="1"/>
          <p:nvPr/>
        </p:nvSpPr>
        <p:spPr>
          <a:xfrm>
            <a:off x="777240" y="2011680"/>
            <a:ext cx="7589520" cy="655920"/>
          </a:xfrm>
          <a:prstGeom prst="rect">
            <a:avLst/>
          </a:prstGeom>
          <a:solidFill>
            <a:srgbClr val="ffffff"/>
          </a:solidFill>
          <a:ln w="12600">
            <a:solidFill>
              <a:srgbClr val="000000"/>
            </a:solidFill>
            <a:miter/>
          </a:ln>
          <a:effectLst>
            <a:outerShdw dist="0" dir="0" blurRad="0" rotWithShape="0">
              <a:srgbClr val="000000">
                <a:alpha val="0"/>
              </a:srgbClr>
            </a:outerShdw>
          </a:effectLst>
        </p:spPr>
        <p:txBody>
          <a:bodyPr lIns="96120" rIns="96120" tIns="51120" bIns="51120" anchor="t">
            <a:spAutoFit/>
          </a:bodyPr>
          <a:p>
            <a:pPr algn="ctr"/>
            <a:r>
              <a:rPr b="1" lang="en-US" sz="3200" strike="noStrike" u="none">
                <a:solidFill>
                  <a:srgbClr val="000000"/>
                </a:solidFill>
                <a:effectLst/>
                <a:uFillTx/>
                <a:latin typeface="Arial-BoldMT"/>
                <a:ea typeface="Arial-BoldMT"/>
              </a:rPr>
              <a:t>Conclusions &amp; Future Work</a:t>
            </a:r>
            <a:endParaRPr b="0" lang="en-US" sz="3200" strike="noStrike" u="none">
              <a:solidFill>
                <a:srgbClr val="000000"/>
              </a:solidFill>
              <a:effectLst/>
              <a:uFillTx/>
              <a:latin typeface="Arial"/>
            </a:endParaRPr>
          </a:p>
        </p:txBody>
      </p:sp>
      <p:sp>
        <p:nvSpPr>
          <p:cNvPr id="508" name=""/>
          <p:cNvSpPr/>
          <p:nvPr/>
        </p:nvSpPr>
        <p:spPr>
          <a:xfrm>
            <a:off x="3931920" y="269748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509" name=""/>
          <p:cNvSpPr txBox="1"/>
          <p:nvPr/>
        </p:nvSpPr>
        <p:spPr>
          <a:xfrm>
            <a:off x="1417320" y="2880360"/>
            <a:ext cx="6309360" cy="365760"/>
          </a:xfrm>
          <a:prstGeom prst="rect">
            <a:avLst/>
          </a:prstGeom>
          <a:noFill/>
          <a:ln w="0">
            <a:noFill/>
          </a:ln>
        </p:spPr>
        <p:txBody>
          <a:bodyPr lIns="90000" rIns="90000" tIns="45000" bIns="45000" anchor="t">
            <a:spAutoFit/>
          </a:bodyPr>
          <a:p>
            <a:pPr algn="ctr"/>
            <a:r>
              <a:rPr b="0" i="1" lang="en-US" sz="1300" strike="noStrike" u="none">
                <a:solidFill>
                  <a:srgbClr val="000000"/>
                </a:solidFill>
                <a:effectLst/>
                <a:uFillTx/>
                <a:latin typeface="Arial-ItalicMT"/>
                <a:ea typeface="Arial-ItalicMT"/>
              </a:rPr>
              <a:t>Key findings and next steps</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510"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Key Findings</a:t>
            </a:r>
            <a:endParaRPr b="0" lang="en-US" sz="2800" strike="noStrike" u="none">
              <a:solidFill>
                <a:srgbClr val="000000"/>
              </a:solidFill>
              <a:effectLst/>
              <a:uFillTx/>
              <a:latin typeface="Arial"/>
            </a:endParaRPr>
          </a:p>
        </p:txBody>
      </p:sp>
      <p:sp>
        <p:nvSpPr>
          <p:cNvPr id="511"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512" name=""/>
          <p:cNvSpPr/>
          <p:nvPr/>
        </p:nvSpPr>
        <p:spPr>
          <a:xfrm>
            <a:off x="457200" y="109728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13" name=""/>
          <p:cNvSpPr/>
          <p:nvPr/>
        </p:nvSpPr>
        <p:spPr>
          <a:xfrm>
            <a:off x="457200" y="109728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514" name="" descr=""/>
          <p:cNvPicPr/>
          <p:nvPr/>
        </p:nvPicPr>
        <p:blipFill>
          <a:blip r:embed="rId1"/>
          <a:stretch/>
        </p:blipFill>
        <p:spPr>
          <a:xfrm>
            <a:off x="640080" y="1234440"/>
            <a:ext cx="320040" cy="320040"/>
          </a:xfrm>
          <a:prstGeom prst="rect">
            <a:avLst/>
          </a:prstGeom>
          <a:noFill/>
          <a:ln w="0">
            <a:noFill/>
          </a:ln>
        </p:spPr>
      </p:pic>
      <p:sp>
        <p:nvSpPr>
          <p:cNvPr id="515" name=""/>
          <p:cNvSpPr txBox="1"/>
          <p:nvPr/>
        </p:nvSpPr>
        <p:spPr>
          <a:xfrm>
            <a:off x="1097280" y="1143000"/>
            <a:ext cx="3200400" cy="314280"/>
          </a:xfrm>
          <a:prstGeom prst="rect">
            <a:avLst/>
          </a:prstGeom>
          <a:noFill/>
          <a:ln w="0">
            <a:noFill/>
          </a:ln>
        </p:spPr>
        <p:txBody>
          <a:bodyPr lIns="90000" rIns="90000" tIns="45000" bIns="45000" anchor="t">
            <a:spAutoFit/>
          </a:bodyPr>
          <a:p>
            <a:r>
              <a:rPr b="1" lang="en-US" sz="1300" strike="noStrike" u="none">
                <a:solidFill>
                  <a:srgbClr val="2d7c31"/>
                </a:solidFill>
                <a:effectLst/>
                <a:uFillTx/>
                <a:latin typeface="Arial-BoldMT"/>
                <a:ea typeface="Arial-BoldMT"/>
              </a:rPr>
              <a:t>Best Cold-Drug MSE (0.463)</a:t>
            </a:r>
            <a:endParaRPr b="0" lang="en-US" sz="1300" strike="noStrike" u="none">
              <a:solidFill>
                <a:srgbClr val="000000"/>
              </a:solidFill>
              <a:effectLst/>
              <a:uFillTx/>
              <a:latin typeface="Arial"/>
            </a:endParaRPr>
          </a:p>
        </p:txBody>
      </p:sp>
      <p:sp>
        <p:nvSpPr>
          <p:cNvPr id="516" name=""/>
          <p:cNvSpPr txBox="1"/>
          <p:nvPr/>
        </p:nvSpPr>
        <p:spPr>
          <a:xfrm>
            <a:off x="1097280" y="138996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Outperforms all prior methods on absolute affinity prediction for novel drugs.</a:t>
            </a:r>
            <a:endParaRPr b="0" lang="en-US" sz="1000" strike="noStrike" u="none">
              <a:solidFill>
                <a:srgbClr val="000000"/>
              </a:solidFill>
              <a:effectLst/>
              <a:uFillTx/>
              <a:latin typeface="Arial"/>
            </a:endParaRPr>
          </a:p>
        </p:txBody>
      </p:sp>
      <p:sp>
        <p:nvSpPr>
          <p:cNvPr id="517" name=""/>
          <p:cNvSpPr/>
          <p:nvPr/>
        </p:nvSpPr>
        <p:spPr>
          <a:xfrm>
            <a:off x="457200" y="192024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18" name=""/>
          <p:cNvSpPr/>
          <p:nvPr/>
        </p:nvSpPr>
        <p:spPr>
          <a:xfrm>
            <a:off x="457200" y="192024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519" name="" descr=""/>
          <p:cNvPicPr/>
          <p:nvPr/>
        </p:nvPicPr>
        <p:blipFill>
          <a:blip r:embed="rId2"/>
          <a:stretch/>
        </p:blipFill>
        <p:spPr>
          <a:xfrm>
            <a:off x="640080" y="2057400"/>
            <a:ext cx="320040" cy="320040"/>
          </a:xfrm>
          <a:prstGeom prst="rect">
            <a:avLst/>
          </a:prstGeom>
          <a:noFill/>
          <a:ln w="0">
            <a:noFill/>
          </a:ln>
        </p:spPr>
      </p:pic>
      <p:sp>
        <p:nvSpPr>
          <p:cNvPr id="520" name=""/>
          <p:cNvSpPr txBox="1"/>
          <p:nvPr/>
        </p:nvSpPr>
        <p:spPr>
          <a:xfrm>
            <a:off x="1097280" y="1965960"/>
            <a:ext cx="3200400" cy="314280"/>
          </a:xfrm>
          <a:prstGeom prst="rect">
            <a:avLst/>
          </a:prstGeom>
          <a:noFill/>
          <a:ln w="0">
            <a:noFill/>
          </a:ln>
        </p:spPr>
        <p:txBody>
          <a:bodyPr lIns="90000" rIns="90000" tIns="45000" bIns="45000" anchor="t">
            <a:spAutoFit/>
          </a:bodyPr>
          <a:p>
            <a:r>
              <a:rPr b="1" lang="en-US" sz="1300" strike="noStrike" u="none">
                <a:solidFill>
                  <a:srgbClr val="2d7c31"/>
                </a:solidFill>
                <a:effectLst/>
                <a:uFillTx/>
                <a:latin typeface="Arial-BoldMT"/>
                <a:ea typeface="Arial-BoldMT"/>
              </a:rPr>
              <a:t>Best Cold-Both MSE (0.556)</a:t>
            </a:r>
            <a:endParaRPr b="0" lang="en-US" sz="1300" strike="noStrike" u="none">
              <a:solidFill>
                <a:srgbClr val="000000"/>
              </a:solidFill>
              <a:effectLst/>
              <a:uFillTx/>
              <a:latin typeface="Arial"/>
            </a:endParaRPr>
          </a:p>
        </p:txBody>
      </p:sp>
      <p:sp>
        <p:nvSpPr>
          <p:cNvPr id="521" name=""/>
          <p:cNvSpPr txBox="1"/>
          <p:nvPr/>
        </p:nvSpPr>
        <p:spPr>
          <a:xfrm>
            <a:off x="1097280" y="221292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Even in the hardest setting, our prediction accuracy surpasses all baselines.</a:t>
            </a:r>
            <a:endParaRPr b="0" lang="en-US" sz="1000" strike="noStrike" u="none">
              <a:solidFill>
                <a:srgbClr val="000000"/>
              </a:solidFill>
              <a:effectLst/>
              <a:uFillTx/>
              <a:latin typeface="Arial"/>
            </a:endParaRPr>
          </a:p>
        </p:txBody>
      </p:sp>
      <p:sp>
        <p:nvSpPr>
          <p:cNvPr id="522" name=""/>
          <p:cNvSpPr/>
          <p:nvPr/>
        </p:nvSpPr>
        <p:spPr>
          <a:xfrm>
            <a:off x="457200" y="274320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23" name=""/>
          <p:cNvSpPr/>
          <p:nvPr/>
        </p:nvSpPr>
        <p:spPr>
          <a:xfrm>
            <a:off x="457200" y="274320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f9a82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pic>
        <p:nvPicPr>
          <p:cNvPr id="524" name="" descr=""/>
          <p:cNvPicPr/>
          <p:nvPr/>
        </p:nvPicPr>
        <p:blipFill>
          <a:blip r:embed="rId3"/>
          <a:stretch/>
        </p:blipFill>
        <p:spPr>
          <a:xfrm>
            <a:off x="640080" y="2880360"/>
            <a:ext cx="320040" cy="320040"/>
          </a:xfrm>
          <a:prstGeom prst="rect">
            <a:avLst/>
          </a:prstGeom>
          <a:noFill/>
          <a:ln w="0">
            <a:noFill/>
          </a:ln>
        </p:spPr>
      </p:pic>
      <p:sp>
        <p:nvSpPr>
          <p:cNvPr id="525" name=""/>
          <p:cNvSpPr txBox="1"/>
          <p:nvPr/>
        </p:nvSpPr>
        <p:spPr>
          <a:xfrm>
            <a:off x="1097280" y="2788920"/>
            <a:ext cx="3200400" cy="314280"/>
          </a:xfrm>
          <a:prstGeom prst="rect">
            <a:avLst/>
          </a:prstGeom>
          <a:noFill/>
          <a:ln w="0">
            <a:noFill/>
          </a:ln>
        </p:spPr>
        <p:txBody>
          <a:bodyPr lIns="90000" rIns="90000" tIns="45000" bIns="45000" anchor="t">
            <a:spAutoFit/>
          </a:bodyPr>
          <a:p>
            <a:r>
              <a:rPr b="1" lang="en-US" sz="1300" strike="noStrike" u="none">
                <a:solidFill>
                  <a:srgbClr val="f9a824"/>
                </a:solidFill>
                <a:effectLst/>
                <a:uFillTx/>
                <a:latin typeface="Arial-BoldMT"/>
                <a:ea typeface="Arial-BoldMT"/>
              </a:rPr>
              <a:t>Cold-Protein = Best CI (0.767)</a:t>
            </a:r>
            <a:endParaRPr b="0" lang="en-US" sz="1300" strike="noStrike" u="none">
              <a:solidFill>
                <a:srgbClr val="000000"/>
              </a:solidFill>
              <a:effectLst/>
              <a:uFillTx/>
              <a:latin typeface="Arial"/>
            </a:endParaRPr>
          </a:p>
        </p:txBody>
      </p:sp>
      <p:sp>
        <p:nvSpPr>
          <p:cNvPr id="526" name=""/>
          <p:cNvSpPr txBox="1"/>
          <p:nvPr/>
        </p:nvSpPr>
        <p:spPr>
          <a:xfrm>
            <a:off x="1097280" y="303588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Protein representations generalize strongly thanks to ESM-2 + cross-attention.</a:t>
            </a:r>
            <a:endParaRPr b="0" lang="en-US" sz="1000" strike="noStrike" u="none">
              <a:solidFill>
                <a:srgbClr val="000000"/>
              </a:solidFill>
              <a:effectLst/>
              <a:uFillTx/>
              <a:latin typeface="Arial"/>
            </a:endParaRPr>
          </a:p>
        </p:txBody>
      </p:sp>
      <p:sp>
        <p:nvSpPr>
          <p:cNvPr id="527" name=""/>
          <p:cNvSpPr/>
          <p:nvPr/>
        </p:nvSpPr>
        <p:spPr>
          <a:xfrm>
            <a:off x="457200" y="356616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28" name=""/>
          <p:cNvSpPr/>
          <p:nvPr/>
        </p:nvSpPr>
        <p:spPr>
          <a:xfrm>
            <a:off x="457200" y="356616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529" name="" descr=""/>
          <p:cNvPicPr/>
          <p:nvPr/>
        </p:nvPicPr>
        <p:blipFill>
          <a:blip r:embed="rId4"/>
          <a:stretch/>
        </p:blipFill>
        <p:spPr>
          <a:xfrm>
            <a:off x="640080" y="3703320"/>
            <a:ext cx="320040" cy="320040"/>
          </a:xfrm>
          <a:prstGeom prst="rect">
            <a:avLst/>
          </a:prstGeom>
          <a:noFill/>
          <a:ln w="0">
            <a:noFill/>
          </a:ln>
        </p:spPr>
      </p:pic>
      <p:sp>
        <p:nvSpPr>
          <p:cNvPr id="530" name=""/>
          <p:cNvSpPr txBox="1"/>
          <p:nvPr/>
        </p:nvSpPr>
        <p:spPr>
          <a:xfrm>
            <a:off x="1097280" y="3611880"/>
            <a:ext cx="3200400" cy="314280"/>
          </a:xfrm>
          <a:prstGeom prst="rect">
            <a:avLst/>
          </a:prstGeom>
          <a:noFill/>
          <a:ln w="0">
            <a:noFill/>
          </a:ln>
        </p:spPr>
        <p:txBody>
          <a:bodyPr lIns="90000" rIns="90000" tIns="45000" bIns="45000" anchor="t">
            <a:spAutoFit/>
          </a:bodyPr>
          <a:p>
            <a:r>
              <a:rPr b="1" lang="en-US" sz="1300" strike="noStrike" u="none">
                <a:solidFill>
                  <a:srgbClr val="2d7c31"/>
                </a:solidFill>
                <a:effectLst/>
                <a:uFillTx/>
                <a:latin typeface="Arial-BoldMT"/>
                <a:ea typeface="Arial-BoldMT"/>
              </a:rPr>
              <a:t>X-CLR Pretraining Works</a:t>
            </a:r>
            <a:endParaRPr b="0" lang="en-US" sz="1300" strike="noStrike" u="none">
              <a:solidFill>
                <a:srgbClr val="000000"/>
              </a:solidFill>
              <a:effectLst/>
              <a:uFillTx/>
              <a:latin typeface="Arial"/>
            </a:endParaRPr>
          </a:p>
        </p:txBody>
      </p:sp>
      <p:sp>
        <p:nvSpPr>
          <p:cNvPr id="531" name=""/>
          <p:cNvSpPr txBox="1"/>
          <p:nvPr/>
        </p:nvSpPr>
        <p:spPr>
          <a:xfrm>
            <a:off x="1097280" y="385884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Contrastive pretraining with ChemBERTa/ESM oracles improves representation quality.</a:t>
            </a:r>
            <a:endParaRPr b="0" lang="en-US" sz="1000" strike="noStrike" u="none">
              <a:solidFill>
                <a:srgbClr val="000000"/>
              </a:solidFill>
              <a:effectLst/>
              <a:uFillTx/>
              <a:latin typeface="Arial"/>
            </a:endParaRPr>
          </a:p>
        </p:txBody>
      </p:sp>
      <p:sp>
        <p:nvSpPr>
          <p:cNvPr id="532" name=""/>
          <p:cNvSpPr/>
          <p:nvPr/>
        </p:nvSpPr>
        <p:spPr>
          <a:xfrm>
            <a:off x="457200" y="4389120"/>
            <a:ext cx="8321400" cy="731880"/>
          </a:xfrm>
          <a:custGeom>
            <a:avLst/>
            <a:gdLst/>
            <a:ahLst/>
            <a:rect l="0" t="0" r="r" b="b"/>
            <a:pathLst>
              <a:path w="23115" h="2033">
                <a:moveTo>
                  <a:pt x="0" y="0"/>
                </a:moveTo>
                <a:lnTo>
                  <a:pt x="23115" y="0"/>
                </a:lnTo>
                <a:lnTo>
                  <a:pt x="23115" y="2033"/>
                </a:lnTo>
                <a:lnTo>
                  <a:pt x="0" y="203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33" name=""/>
          <p:cNvSpPr/>
          <p:nvPr/>
        </p:nvSpPr>
        <p:spPr>
          <a:xfrm>
            <a:off x="457200" y="4389120"/>
            <a:ext cx="46080" cy="731880"/>
          </a:xfrm>
          <a:custGeom>
            <a:avLst/>
            <a:gdLst/>
            <a:ahLst/>
            <a:rect l="0" t="0" r="r" b="b"/>
            <a:pathLst>
              <a:path w="128" h="2033">
                <a:moveTo>
                  <a:pt x="0" y="0"/>
                </a:moveTo>
                <a:lnTo>
                  <a:pt x="128" y="0"/>
                </a:lnTo>
                <a:lnTo>
                  <a:pt x="128" y="2033"/>
                </a:lnTo>
                <a:lnTo>
                  <a:pt x="0" y="203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pic>
        <p:nvPicPr>
          <p:cNvPr id="534" name="" descr=""/>
          <p:cNvPicPr/>
          <p:nvPr/>
        </p:nvPicPr>
        <p:blipFill>
          <a:blip r:embed="rId5"/>
          <a:stretch/>
        </p:blipFill>
        <p:spPr>
          <a:xfrm>
            <a:off x="640080" y="4526280"/>
            <a:ext cx="320040" cy="320040"/>
          </a:xfrm>
          <a:prstGeom prst="rect">
            <a:avLst/>
          </a:prstGeom>
          <a:noFill/>
          <a:ln w="0">
            <a:noFill/>
          </a:ln>
        </p:spPr>
      </p:pic>
      <p:sp>
        <p:nvSpPr>
          <p:cNvPr id="535" name=""/>
          <p:cNvSpPr txBox="1"/>
          <p:nvPr/>
        </p:nvSpPr>
        <p:spPr>
          <a:xfrm>
            <a:off x="1097280" y="4434840"/>
            <a:ext cx="3200400" cy="314280"/>
          </a:xfrm>
          <a:prstGeom prst="rect">
            <a:avLst/>
          </a:prstGeom>
          <a:noFill/>
          <a:ln w="0">
            <a:noFill/>
          </a:ln>
        </p:spPr>
        <p:txBody>
          <a:bodyPr lIns="90000" rIns="90000" tIns="45000" bIns="45000" anchor="t">
            <a:spAutoFit/>
          </a:bodyPr>
          <a:p>
            <a:r>
              <a:rPr b="1" lang="en-US" sz="1300" strike="noStrike" u="none">
                <a:solidFill>
                  <a:srgbClr val="e65000"/>
                </a:solidFill>
                <a:effectLst/>
                <a:uFillTx/>
                <a:latin typeface="Arial-BoldMT"/>
                <a:ea typeface="Arial-BoldMT"/>
              </a:rPr>
              <a:t>Cold-Both CI Remains Hard</a:t>
            </a:r>
            <a:endParaRPr b="0" lang="en-US" sz="1300" strike="noStrike" u="none">
              <a:solidFill>
                <a:srgbClr val="000000"/>
              </a:solidFill>
              <a:effectLst/>
              <a:uFillTx/>
              <a:latin typeface="Arial"/>
            </a:endParaRPr>
          </a:p>
        </p:txBody>
      </p:sp>
      <p:sp>
        <p:nvSpPr>
          <p:cNvPr id="536" name=""/>
          <p:cNvSpPr txBox="1"/>
          <p:nvPr/>
        </p:nvSpPr>
        <p:spPr>
          <a:xfrm>
            <a:off x="1097280" y="4681800"/>
            <a:ext cx="7406640" cy="347400"/>
          </a:xfrm>
          <a:prstGeom prst="rect">
            <a:avLst/>
          </a:prstGeom>
          <a:noFill/>
          <a:ln w="0">
            <a:noFill/>
          </a:ln>
        </p:spPr>
        <p:txBody>
          <a:bodyPr lIns="90000" rIns="90000" tIns="45000" bIns="45000" anchor="t">
            <a:spAutoFit/>
          </a:bodyPr>
          <a:p>
            <a:r>
              <a:rPr b="0" lang="en-US" sz="1000" strike="noStrike" u="none">
                <a:solidFill>
                  <a:srgbClr val="536d79"/>
                </a:solidFill>
                <a:effectLst/>
                <a:uFillTx/>
                <a:latin typeface="ArialMT"/>
                <a:ea typeface="ArialMT"/>
              </a:rPr>
              <a:t>Joint ranking generalization needs fundamentally new approaches (e.g., network-level contrastive).</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6fa"/>
        </a:solidFill>
      </p:bgPr>
    </p:bg>
    <p:spTree>
      <p:nvGrpSpPr>
        <p:cNvPr id="1" name=""/>
        <p:cNvGrpSpPr/>
        <p:nvPr/>
      </p:nvGrpSpPr>
      <p:grpSpPr>
        <a:xfrm>
          <a:off x="0" y="0"/>
          <a:ext cx="0" cy="0"/>
          <a:chOff x="0" y="0"/>
          <a:chExt cx="0" cy="0"/>
        </a:xfrm>
      </p:grpSpPr>
      <p:sp>
        <p:nvSpPr>
          <p:cNvPr id="537" name=""/>
          <p:cNvSpPr txBox="1"/>
          <p:nvPr/>
        </p:nvSpPr>
        <p:spPr>
          <a:xfrm>
            <a:off x="548640" y="182880"/>
            <a:ext cx="8046720" cy="594360"/>
          </a:xfrm>
          <a:prstGeom prst="rect">
            <a:avLst/>
          </a:prstGeom>
          <a:noFill/>
          <a:ln w="0">
            <a:noFill/>
          </a:ln>
        </p:spPr>
        <p:txBody>
          <a:bodyPr lIns="90000" rIns="90000" tIns="45000" bIns="45000" anchor="t">
            <a:spAutoFit/>
          </a:bodyPr>
          <a:p>
            <a:r>
              <a:rPr b="1" lang="en-US" sz="2800" strike="noStrike" u="none">
                <a:solidFill>
                  <a:srgbClr val="191e35"/>
                </a:solidFill>
                <a:effectLst/>
                <a:uFillTx/>
                <a:latin typeface="Arial-BoldMT"/>
                <a:ea typeface="Arial-BoldMT"/>
              </a:rPr>
              <a:t>Limitations &amp; Future Work</a:t>
            </a:r>
            <a:endParaRPr b="0" lang="en-US" sz="2800" strike="noStrike" u="none">
              <a:solidFill>
                <a:srgbClr val="000000"/>
              </a:solidFill>
              <a:effectLst/>
              <a:uFillTx/>
              <a:latin typeface="Arial"/>
            </a:endParaRPr>
          </a:p>
        </p:txBody>
      </p:sp>
      <p:sp>
        <p:nvSpPr>
          <p:cNvPr id="538" name=""/>
          <p:cNvSpPr/>
          <p:nvPr/>
        </p:nvSpPr>
        <p:spPr>
          <a:xfrm>
            <a:off x="548640" y="749880"/>
            <a:ext cx="823320" cy="32400"/>
          </a:xfrm>
          <a:custGeom>
            <a:avLst/>
            <a:gdLst/>
            <a:ahLst/>
            <a:rect l="0" t="0" r="r" b="b"/>
            <a:pathLst>
              <a:path w="2287" h="90">
                <a:moveTo>
                  <a:pt x="0" y="0"/>
                </a:moveTo>
                <a:lnTo>
                  <a:pt x="2287" y="0"/>
                </a:lnTo>
                <a:lnTo>
                  <a:pt x="2287" y="90"/>
                </a:lnTo>
                <a:lnTo>
                  <a:pt x="0" y="90"/>
                </a:lnTo>
                <a:lnTo>
                  <a:pt x="0" y="0"/>
                </a:lnTo>
                <a:close/>
              </a:path>
            </a:pathLst>
          </a:custGeom>
          <a:solidFill>
            <a:srgbClr val="0097a7"/>
          </a:solidFill>
          <a:ln w="0">
            <a:noFill/>
          </a:ln>
        </p:spPr>
        <p:txBody>
          <a:bodyPr lIns="90000" rIns="90000" tIns="-12600" bIns="-12600" anchor="t">
            <a:noAutofit/>
          </a:bodyPr>
          <a:p>
            <a:endParaRPr b="0" lang="en-US" sz="1800" strike="noStrike" u="none">
              <a:solidFill>
                <a:srgbClr val="ffffff"/>
              </a:solidFill>
              <a:effectLst/>
              <a:uFillTx/>
              <a:latin typeface="Arial"/>
            </a:endParaRPr>
          </a:p>
        </p:txBody>
      </p:sp>
      <p:sp>
        <p:nvSpPr>
          <p:cNvPr id="539" name=""/>
          <p:cNvSpPr/>
          <p:nvPr/>
        </p:nvSpPr>
        <p:spPr>
          <a:xfrm>
            <a:off x="457200" y="1097280"/>
            <a:ext cx="3932280" cy="3475080"/>
          </a:xfrm>
          <a:custGeom>
            <a:avLst/>
            <a:gdLst/>
            <a:ahLst/>
            <a:rect l="0" t="0" r="r" b="b"/>
            <a:pathLst>
              <a:path w="10923" h="9653">
                <a:moveTo>
                  <a:pt x="0" y="0"/>
                </a:moveTo>
                <a:lnTo>
                  <a:pt x="10923" y="0"/>
                </a:lnTo>
                <a:lnTo>
                  <a:pt x="10923"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40" name=""/>
          <p:cNvSpPr/>
          <p:nvPr/>
        </p:nvSpPr>
        <p:spPr>
          <a:xfrm>
            <a:off x="457200" y="109728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e65000"/>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541" name=""/>
          <p:cNvSpPr txBox="1"/>
          <p:nvPr/>
        </p:nvSpPr>
        <p:spPr>
          <a:xfrm>
            <a:off x="640080" y="1188720"/>
            <a:ext cx="2743200" cy="332640"/>
          </a:xfrm>
          <a:prstGeom prst="rect">
            <a:avLst/>
          </a:prstGeom>
          <a:noFill/>
          <a:ln w="0">
            <a:noFill/>
          </a:ln>
        </p:spPr>
        <p:txBody>
          <a:bodyPr lIns="90000" rIns="90000" tIns="45000" bIns="45000" anchor="t">
            <a:spAutoFit/>
          </a:bodyPr>
          <a:p>
            <a:r>
              <a:rPr b="1" lang="en-US" sz="1400" strike="noStrike" u="none">
                <a:solidFill>
                  <a:srgbClr val="e65000"/>
                </a:solidFill>
                <a:effectLst/>
                <a:uFillTx/>
                <a:latin typeface="Arial-BoldMT"/>
                <a:ea typeface="Arial-BoldMT"/>
              </a:rPr>
              <a:t>Limitations</a:t>
            </a:r>
            <a:endParaRPr b="0" lang="en-US" sz="1400" strike="noStrike" u="none">
              <a:solidFill>
                <a:srgbClr val="000000"/>
              </a:solidFill>
              <a:effectLst/>
              <a:uFillTx/>
              <a:latin typeface="Arial"/>
            </a:endParaRPr>
          </a:p>
        </p:txBody>
      </p:sp>
      <p:sp>
        <p:nvSpPr>
          <p:cNvPr id="542" name=""/>
          <p:cNvSpPr txBox="1"/>
          <p:nvPr/>
        </p:nvSpPr>
        <p:spPr>
          <a:xfrm>
            <a:off x="640080" y="1508760"/>
            <a:ext cx="3566160" cy="228600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 Cold-both CI below random</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Large classifier (3.1M params) → overfitting</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Only Davis dataset evaluated</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No 3D drug coordinates used</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r²_m negative on cold-drug/protein</a:t>
            </a:r>
            <a:endParaRPr b="0" lang="en-US" sz="1100" strike="noStrike" u="none">
              <a:solidFill>
                <a:srgbClr val="000000"/>
              </a:solidFill>
              <a:effectLst/>
              <a:uFillTx/>
              <a:latin typeface="Arial"/>
            </a:endParaRPr>
          </a:p>
        </p:txBody>
      </p:sp>
      <p:sp>
        <p:nvSpPr>
          <p:cNvPr id="543" name=""/>
          <p:cNvSpPr/>
          <p:nvPr/>
        </p:nvSpPr>
        <p:spPr>
          <a:xfrm>
            <a:off x="4754880" y="1097280"/>
            <a:ext cx="4023720" cy="3475080"/>
          </a:xfrm>
          <a:custGeom>
            <a:avLst/>
            <a:gdLst/>
            <a:ahLst/>
            <a:rect l="0" t="0" r="r" b="b"/>
            <a:pathLst>
              <a:path w="11177" h="9653">
                <a:moveTo>
                  <a:pt x="0" y="0"/>
                </a:moveTo>
                <a:lnTo>
                  <a:pt x="11177" y="0"/>
                </a:lnTo>
                <a:lnTo>
                  <a:pt x="11177" y="9653"/>
                </a:lnTo>
                <a:lnTo>
                  <a:pt x="0" y="9653"/>
                </a:lnTo>
                <a:lnTo>
                  <a:pt x="0" y="0"/>
                </a:lnTo>
                <a:close/>
              </a:path>
            </a:pathLst>
          </a:custGeom>
          <a:solidFill>
            <a:srgbClr val="ffffff"/>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
        <p:nvSpPr>
          <p:cNvPr id="544" name=""/>
          <p:cNvSpPr/>
          <p:nvPr/>
        </p:nvSpPr>
        <p:spPr>
          <a:xfrm>
            <a:off x="4754880" y="1097280"/>
            <a:ext cx="46080" cy="3475080"/>
          </a:xfrm>
          <a:custGeom>
            <a:avLst/>
            <a:gdLst/>
            <a:ahLst/>
            <a:rect l="0" t="0" r="r" b="b"/>
            <a:pathLst>
              <a:path w="128" h="9653">
                <a:moveTo>
                  <a:pt x="0" y="0"/>
                </a:moveTo>
                <a:lnTo>
                  <a:pt x="128" y="0"/>
                </a:lnTo>
                <a:lnTo>
                  <a:pt x="128" y="9653"/>
                </a:lnTo>
                <a:lnTo>
                  <a:pt x="0" y="9653"/>
                </a:lnTo>
                <a:lnTo>
                  <a:pt x="0" y="0"/>
                </a:lnTo>
                <a:close/>
              </a:path>
            </a:pathLst>
          </a:custGeom>
          <a:solidFill>
            <a:srgbClr val="2d7c31"/>
          </a:solidFill>
          <a:ln w="0">
            <a:noFill/>
          </a:ln>
        </p:spPr>
        <p:txBody>
          <a:bodyPr lIns="90000" rIns="90000" tIns="45000" bIns="45000" anchor="t">
            <a:noAutofit/>
          </a:bodyPr>
          <a:p>
            <a:endParaRPr b="0" lang="en-US" sz="1800" strike="noStrike" u="none">
              <a:solidFill>
                <a:srgbClr val="ffffff"/>
              </a:solidFill>
              <a:effectLst/>
              <a:uFillTx/>
              <a:latin typeface="Arial"/>
            </a:endParaRPr>
          </a:p>
        </p:txBody>
      </p:sp>
      <p:sp>
        <p:nvSpPr>
          <p:cNvPr id="545" name=""/>
          <p:cNvSpPr txBox="1"/>
          <p:nvPr/>
        </p:nvSpPr>
        <p:spPr>
          <a:xfrm>
            <a:off x="4937760" y="1188720"/>
            <a:ext cx="2743200" cy="332640"/>
          </a:xfrm>
          <a:prstGeom prst="rect">
            <a:avLst/>
          </a:prstGeom>
          <a:noFill/>
          <a:ln w="0">
            <a:noFill/>
          </a:ln>
        </p:spPr>
        <p:txBody>
          <a:bodyPr lIns="90000" rIns="90000" tIns="45000" bIns="45000" anchor="t">
            <a:spAutoFit/>
          </a:bodyPr>
          <a:p>
            <a:r>
              <a:rPr b="1" lang="en-US" sz="1400" strike="noStrike" u="none">
                <a:solidFill>
                  <a:srgbClr val="2d7c31"/>
                </a:solidFill>
                <a:effectLst/>
                <a:uFillTx/>
                <a:latin typeface="Arial-BoldMT"/>
                <a:ea typeface="Arial-BoldMT"/>
              </a:rPr>
              <a:t>Future Directions</a:t>
            </a:r>
            <a:endParaRPr b="0" lang="en-US" sz="1400" strike="noStrike" u="none">
              <a:solidFill>
                <a:srgbClr val="000000"/>
              </a:solidFill>
              <a:effectLst/>
              <a:uFillTx/>
              <a:latin typeface="Arial"/>
            </a:endParaRPr>
          </a:p>
        </p:txBody>
      </p:sp>
      <p:sp>
        <p:nvSpPr>
          <p:cNvPr id="546" name=""/>
          <p:cNvSpPr txBox="1"/>
          <p:nvPr/>
        </p:nvSpPr>
        <p:spPr>
          <a:xfrm>
            <a:off x="4937760" y="1508760"/>
            <a:ext cx="3657600" cy="2286000"/>
          </a:xfrm>
          <a:prstGeom prst="rect">
            <a:avLst/>
          </a:prstGeom>
          <a:noFill/>
          <a:ln w="0">
            <a:noFill/>
          </a:ln>
        </p:spPr>
        <p:txBody>
          <a:bodyPr lIns="90000" rIns="90000" tIns="45000" bIns="45000" anchor="t">
            <a:spAutoFit/>
          </a:bodyPr>
          <a:p>
            <a:r>
              <a:rPr b="0" lang="en-US" sz="1100" strike="noStrike" u="none">
                <a:solidFill>
                  <a:srgbClr val="536d79"/>
                </a:solidFill>
                <a:effectLst/>
                <a:uFillTx/>
                <a:latin typeface="ArialMT"/>
                <a:ea typeface="ArialMT"/>
              </a:rPr>
              <a:t>• Network-level contrastive (MLC-DTA)</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Reduce model size for regularization</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Weight decay (AdamW)</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Multi-dataset (KIBA, PDBBind)</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3D equivariant encoders (EGNN)</a:t>
            </a:r>
            <a:endParaRPr b="0" lang="en-US" sz="1100" strike="noStrike" u="none">
              <a:solidFill>
                <a:srgbClr val="000000"/>
              </a:solidFill>
              <a:effectLst/>
              <a:uFillTx/>
              <a:latin typeface="Arial"/>
            </a:endParaRPr>
          </a:p>
          <a:p>
            <a:r>
              <a:rPr b="0" lang="en-US" sz="1100" strike="noStrike" u="none">
                <a:solidFill>
                  <a:srgbClr val="536d79"/>
                </a:solidFill>
                <a:effectLst/>
                <a:uFillTx/>
                <a:latin typeface="ArialMT"/>
                <a:ea typeface="ArialMT"/>
              </a:rPr>
              <a:t>• Affinity-aware GCN on interaction graph</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91e35"/>
        </a:solidFill>
      </p:bgPr>
    </p:bg>
    <p:spTree>
      <p:nvGrpSpPr>
        <p:cNvPr id="1" name=""/>
        <p:cNvGrpSpPr/>
        <p:nvPr/>
      </p:nvGrpSpPr>
      <p:grpSpPr>
        <a:xfrm>
          <a:off x="0" y="0"/>
          <a:ext cx="0" cy="0"/>
          <a:chOff x="0" y="0"/>
          <a:chExt cx="0" cy="0"/>
        </a:xfrm>
      </p:grpSpPr>
      <p:sp>
        <p:nvSpPr>
          <p:cNvPr id="547" name=""/>
          <p:cNvSpPr txBox="1"/>
          <p:nvPr/>
        </p:nvSpPr>
        <p:spPr>
          <a:xfrm>
            <a:off x="502920" y="1371600"/>
            <a:ext cx="8138160" cy="817200"/>
          </a:xfrm>
          <a:prstGeom prst="rect">
            <a:avLst/>
          </a:prstGeom>
          <a:noFill/>
          <a:ln w="0">
            <a:noFill/>
          </a:ln>
        </p:spPr>
        <p:txBody>
          <a:bodyPr lIns="90000" rIns="90000" tIns="45000" bIns="45000" anchor="t">
            <a:spAutoFit/>
          </a:bodyPr>
          <a:p>
            <a:pPr algn="ctr"/>
            <a:r>
              <a:rPr b="1" lang="en-US" sz="4200" strike="noStrike" u="none">
                <a:solidFill>
                  <a:srgbClr val="ffffff"/>
                </a:solidFill>
                <a:effectLst/>
                <a:uFillTx/>
                <a:latin typeface="Arial-BoldMT"/>
                <a:ea typeface="Arial-BoldMT"/>
              </a:rPr>
              <a:t>Thank You</a:t>
            </a:r>
            <a:endParaRPr b="0" lang="en-US" sz="4200" strike="noStrike" u="none">
              <a:solidFill>
                <a:srgbClr val="ffffff"/>
              </a:solidFill>
              <a:effectLst/>
              <a:uFillTx/>
              <a:latin typeface="Arial"/>
            </a:endParaRPr>
          </a:p>
        </p:txBody>
      </p:sp>
      <p:sp>
        <p:nvSpPr>
          <p:cNvPr id="548" name=""/>
          <p:cNvSpPr/>
          <p:nvPr/>
        </p:nvSpPr>
        <p:spPr>
          <a:xfrm>
            <a:off x="3931920" y="2103120"/>
            <a:ext cx="1280520" cy="32400"/>
          </a:xfrm>
          <a:custGeom>
            <a:avLst/>
            <a:gdLst/>
            <a:ahLst/>
            <a:rect l="0" t="0" r="r" b="b"/>
            <a:pathLst>
              <a:path w="3557" h="90">
                <a:moveTo>
                  <a:pt x="0" y="0"/>
                </a:moveTo>
                <a:lnTo>
                  <a:pt x="3557" y="0"/>
                </a:lnTo>
                <a:lnTo>
                  <a:pt x="3557" y="90"/>
                </a:lnTo>
                <a:lnTo>
                  <a:pt x="0" y="90"/>
                </a:lnTo>
                <a:lnTo>
                  <a:pt x="0" y="0"/>
                </a:lnTo>
                <a:close/>
              </a:path>
            </a:pathLst>
          </a:custGeom>
          <a:solidFill>
            <a:srgbClr val="00bcd4"/>
          </a:solidFill>
          <a:ln w="0">
            <a:noFill/>
          </a:ln>
        </p:spPr>
        <p:txBody>
          <a:bodyPr lIns="90000" rIns="90000" tIns="-12600" bIns="-12600" anchor="t">
            <a:noAutofit/>
          </a:bodyPr>
          <a:p>
            <a:endParaRPr b="0" lang="en-US" sz="1800" strike="noStrike" u="none">
              <a:solidFill>
                <a:srgbClr val="000000"/>
              </a:solidFill>
              <a:effectLst/>
              <a:uFillTx/>
              <a:latin typeface="Arial"/>
            </a:endParaRPr>
          </a:p>
        </p:txBody>
      </p:sp>
      <p:sp>
        <p:nvSpPr>
          <p:cNvPr id="549" name=""/>
          <p:cNvSpPr txBox="1"/>
          <p:nvPr/>
        </p:nvSpPr>
        <p:spPr>
          <a:xfrm>
            <a:off x="502920" y="2377440"/>
            <a:ext cx="8138160" cy="471600"/>
          </a:xfrm>
          <a:prstGeom prst="rect">
            <a:avLst/>
          </a:prstGeom>
          <a:noFill/>
          <a:ln w="0">
            <a:noFill/>
          </a:ln>
        </p:spPr>
        <p:txBody>
          <a:bodyPr lIns="90000" rIns="90000" tIns="45000" bIns="45000" anchor="t">
            <a:spAutoFit/>
          </a:bodyPr>
          <a:p>
            <a:pPr algn="ctr"/>
            <a:r>
              <a:rPr b="0" lang="en-US" sz="2200" strike="noStrike" u="none">
                <a:solidFill>
                  <a:srgbClr val="00bcd4"/>
                </a:solidFill>
                <a:effectLst/>
                <a:uFillTx/>
                <a:latin typeface="ArialMT"/>
                <a:ea typeface="ArialMT"/>
              </a:rPr>
              <a:t>Questions?</a:t>
            </a:r>
            <a:endParaRPr b="0" lang="en-US" sz="2200" strike="noStrike" u="none">
              <a:solidFill>
                <a:srgbClr val="ffffff"/>
              </a:solidFill>
              <a:effectLst/>
              <a:uFillTx/>
              <a:latin typeface="Arial"/>
            </a:endParaRPr>
          </a:p>
        </p:txBody>
      </p:sp>
      <p:sp>
        <p:nvSpPr>
          <p:cNvPr id="550" name=""/>
          <p:cNvSpPr txBox="1"/>
          <p:nvPr/>
        </p:nvSpPr>
        <p:spPr>
          <a:xfrm>
            <a:off x="502920" y="3200400"/>
            <a:ext cx="8138160" cy="320040"/>
          </a:xfrm>
          <a:prstGeom prst="rect">
            <a:avLst/>
          </a:prstGeom>
          <a:noFill/>
          <a:ln w="0">
            <a:noFill/>
          </a:ln>
        </p:spPr>
        <p:txBody>
          <a:bodyPr lIns="90000" rIns="90000" tIns="45000" bIns="45000" anchor="t">
            <a:spAutoFit/>
          </a:bodyPr>
          <a:p>
            <a:pPr algn="ctr"/>
            <a:r>
              <a:rPr b="0" i="1" lang="en-US" sz="1300" strike="noStrike" u="none">
                <a:solidFill>
                  <a:srgbClr val="b0bec5"/>
                </a:solidFill>
                <a:effectLst/>
                <a:uFillTx/>
                <a:latin typeface="Arial-ItalicMT"/>
                <a:ea typeface="Arial-ItalicMT"/>
              </a:rPr>
              <a:t>Team Perceptron  ·  2105022  ·  2105023  ·  2105024</a:t>
            </a:r>
            <a:endParaRPr b="0" lang="en-US" sz="1300" strike="noStrike" u="none">
              <a:solidFill>
                <a:srgbClr val="ffffff"/>
              </a:solidFill>
              <a:effectLst/>
              <a:uFillTx/>
              <a:latin typeface="Arial"/>
            </a:endParaRPr>
          </a:p>
        </p:txBody>
      </p:sp>
      <p:sp>
        <p:nvSpPr>
          <p:cNvPr id="551" name=""/>
          <p:cNvSpPr/>
          <p:nvPr/>
        </p:nvSpPr>
        <p:spPr>
          <a:xfrm>
            <a:off x="0" y="4800600"/>
            <a:ext cx="9144360" cy="347760"/>
          </a:xfrm>
          <a:custGeom>
            <a:avLst/>
            <a:gdLst/>
            <a:ahLst/>
            <a:rect l="0" t="0" r="r" b="b"/>
            <a:pathLst>
              <a:path w="25401" h="966">
                <a:moveTo>
                  <a:pt x="0" y="0"/>
                </a:moveTo>
                <a:lnTo>
                  <a:pt x="25401" y="0"/>
                </a:lnTo>
                <a:lnTo>
                  <a:pt x="25401" y="966"/>
                </a:lnTo>
                <a:lnTo>
                  <a:pt x="0" y="966"/>
                </a:lnTo>
                <a:lnTo>
                  <a:pt x="0" y="0"/>
                </a:lnTo>
                <a:close/>
              </a:path>
            </a:pathLst>
          </a:custGeom>
          <a:solidFill>
            <a:srgbClr val="00bcd4"/>
          </a:solidFill>
          <a:ln w="0">
            <a:noFill/>
          </a:ln>
        </p:spPr>
        <p:txBody>
          <a:bodyPr lIns="90000" rIns="90000" tIns="45000" bIns="45000" anchor="t">
            <a:noAutofit/>
          </a:bodyPr>
          <a:p>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TotalTime>
  <Application>LibreOffice/25.2.7.2$Linux_X86_64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2026-04-04T05:05:02Z</dcterms:modified>
  <cp:revision>2</cp:revision>
  <dc:subject/>
  <dc:title/>
</cp:coreProperties>
</file>